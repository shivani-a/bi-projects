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83" r:id="rId5"/>
    <p:sldId id="284" r:id="rId6"/>
    <p:sldId id="285" r:id="rId7"/>
    <p:sldId id="286" r:id="rId8"/>
    <p:sldId id="287" r:id="rId9"/>
    <p:sldId id="289" r:id="rId10"/>
    <p:sldId id="304" r:id="rId11"/>
    <p:sldId id="308" r:id="rId12"/>
    <p:sldId id="309" r:id="rId13"/>
    <p:sldId id="310" r:id="rId14"/>
    <p:sldId id="290" r:id="rId15"/>
    <p:sldId id="291" r:id="rId16"/>
    <p:sldId id="292" r:id="rId17"/>
    <p:sldId id="293" r:id="rId18"/>
    <p:sldId id="294" r:id="rId19"/>
    <p:sldId id="305" r:id="rId20"/>
    <p:sldId id="311" r:id="rId21"/>
    <p:sldId id="312" r:id="rId22"/>
    <p:sldId id="313" r:id="rId23"/>
    <p:sldId id="295" r:id="rId24"/>
    <p:sldId id="296" r:id="rId25"/>
    <p:sldId id="297" r:id="rId26"/>
    <p:sldId id="298" r:id="rId27"/>
    <p:sldId id="299" r:id="rId28"/>
    <p:sldId id="306" r:id="rId29"/>
    <p:sldId id="314" r:id="rId30"/>
    <p:sldId id="315" r:id="rId31"/>
    <p:sldId id="316" r:id="rId32"/>
    <p:sldId id="300" r:id="rId33"/>
    <p:sldId id="301" r:id="rId34"/>
    <p:sldId id="302" r:id="rId35"/>
    <p:sldId id="303" r:id="rId36"/>
    <p:sldId id="279" r:id="rId37"/>
    <p:sldId id="307" r:id="rId38"/>
    <p:sldId id="317" r:id="rId39"/>
    <p:sldId id="318" r:id="rId40"/>
    <p:sldId id="319" r:id="rId41"/>
    <p:sldId id="321"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80808"/>
    <a:srgbClr val="EEEBE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327" autoAdjust="0"/>
  </p:normalViewPr>
  <p:slideViewPr>
    <p:cSldViewPr snapToGrid="0">
      <p:cViewPr varScale="1">
        <p:scale>
          <a:sx n="74" d="100"/>
          <a:sy n="74" d="100"/>
        </p:scale>
        <p:origin x="1042"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diagrams/_rels/data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036EED9-25FF-47D1-A689-FDA430FAE332}"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B82EB4BE-5493-4B3E-BF4B-86C52D185130}">
      <dgm:prSet custT="1"/>
      <dgm:spPr/>
      <dgm:t>
        <a:bodyPr/>
        <a:lstStyle/>
        <a:p>
          <a:pPr>
            <a:defRPr cap="all"/>
          </a:pPr>
          <a:r>
            <a:rPr lang="en-IN" sz="2000" dirty="0">
              <a:latin typeface="Aptos" panose="020B0004020202020204" pitchFamily="34" charset="0"/>
            </a:rPr>
            <a:t>Objectives</a:t>
          </a:r>
          <a:endParaRPr lang="en-US" sz="2000" dirty="0">
            <a:latin typeface="Aptos" panose="020B0004020202020204" pitchFamily="34" charset="0"/>
          </a:endParaRPr>
        </a:p>
      </dgm:t>
    </dgm:pt>
    <dgm:pt modelId="{102E04B5-EBB7-4252-9FC6-520F7781C8C0}" type="parTrans" cxnId="{0328EAC3-1178-4352-B81F-CA0A1FF14872}">
      <dgm:prSet/>
      <dgm:spPr/>
      <dgm:t>
        <a:bodyPr/>
        <a:lstStyle/>
        <a:p>
          <a:endParaRPr lang="en-US"/>
        </a:p>
      </dgm:t>
    </dgm:pt>
    <dgm:pt modelId="{62BB2255-179C-4F99-B8AC-244C4DC0D14E}" type="sibTrans" cxnId="{0328EAC3-1178-4352-B81F-CA0A1FF14872}">
      <dgm:prSet/>
      <dgm:spPr/>
      <dgm:t>
        <a:bodyPr/>
        <a:lstStyle/>
        <a:p>
          <a:endParaRPr lang="en-US"/>
        </a:p>
      </dgm:t>
    </dgm:pt>
    <dgm:pt modelId="{251863BD-53D3-46EF-8EAF-6408AE513B82}">
      <dgm:prSet custT="1"/>
      <dgm:spPr/>
      <dgm:t>
        <a:bodyPr/>
        <a:lstStyle/>
        <a:p>
          <a:pPr>
            <a:defRPr cap="all"/>
          </a:pPr>
          <a:r>
            <a:rPr lang="en-IN" sz="2000" dirty="0">
              <a:latin typeface="Aptos" panose="020B0004020202020204" pitchFamily="34" charset="0"/>
            </a:rPr>
            <a:t>Dashboards</a:t>
          </a:r>
          <a:endParaRPr lang="en-US" sz="2000" dirty="0">
            <a:latin typeface="Aptos" panose="020B0004020202020204" pitchFamily="34" charset="0"/>
          </a:endParaRPr>
        </a:p>
      </dgm:t>
    </dgm:pt>
    <dgm:pt modelId="{5836D203-E10A-418F-9A6C-9E9F68756DFA}" type="parTrans" cxnId="{DF430748-D4AE-483E-B20B-FD7B0333D7B6}">
      <dgm:prSet/>
      <dgm:spPr/>
      <dgm:t>
        <a:bodyPr/>
        <a:lstStyle/>
        <a:p>
          <a:endParaRPr lang="en-US"/>
        </a:p>
      </dgm:t>
    </dgm:pt>
    <dgm:pt modelId="{0C59F997-1002-4E5C-AC0A-88EE8C6AA88D}" type="sibTrans" cxnId="{DF430748-D4AE-483E-B20B-FD7B0333D7B6}">
      <dgm:prSet/>
      <dgm:spPr/>
      <dgm:t>
        <a:bodyPr/>
        <a:lstStyle/>
        <a:p>
          <a:endParaRPr lang="en-US"/>
        </a:p>
      </dgm:t>
    </dgm:pt>
    <dgm:pt modelId="{A525F0B6-0A70-4625-8724-97F2A8310614}">
      <dgm:prSet custT="1"/>
      <dgm:spPr/>
      <dgm:t>
        <a:bodyPr/>
        <a:lstStyle/>
        <a:p>
          <a:pPr>
            <a:defRPr cap="all"/>
          </a:pPr>
          <a:r>
            <a:rPr lang="en-IN" sz="2000" dirty="0">
              <a:latin typeface="Aptos" panose="020B0004020202020204" pitchFamily="34" charset="0"/>
            </a:rPr>
            <a:t>Key insights</a:t>
          </a:r>
          <a:endParaRPr lang="en-US" sz="2000" dirty="0">
            <a:latin typeface="Aptos" panose="020B0004020202020204" pitchFamily="34" charset="0"/>
          </a:endParaRPr>
        </a:p>
      </dgm:t>
    </dgm:pt>
    <dgm:pt modelId="{BE5869FA-5E0A-429D-91ED-322496E0A579}" type="parTrans" cxnId="{63FBB05C-424E-4431-9208-1FED73E2BA96}">
      <dgm:prSet/>
      <dgm:spPr/>
      <dgm:t>
        <a:bodyPr/>
        <a:lstStyle/>
        <a:p>
          <a:endParaRPr lang="en-US"/>
        </a:p>
      </dgm:t>
    </dgm:pt>
    <dgm:pt modelId="{4454FB67-6359-4706-861E-2580A4CC9D9F}" type="sibTrans" cxnId="{63FBB05C-424E-4431-9208-1FED73E2BA96}">
      <dgm:prSet/>
      <dgm:spPr/>
      <dgm:t>
        <a:bodyPr/>
        <a:lstStyle/>
        <a:p>
          <a:endParaRPr lang="en-US"/>
        </a:p>
      </dgm:t>
    </dgm:pt>
    <dgm:pt modelId="{FA01A7C4-EB3B-42B8-B524-231FC6614F2B}">
      <dgm:prSet custT="1"/>
      <dgm:spPr/>
      <dgm:t>
        <a:bodyPr/>
        <a:lstStyle/>
        <a:p>
          <a:pPr>
            <a:defRPr cap="all"/>
          </a:pPr>
          <a:r>
            <a:rPr lang="en-IN" sz="2000" dirty="0">
              <a:latin typeface="Aptos" panose="020B0004020202020204" pitchFamily="34" charset="0"/>
            </a:rPr>
            <a:t>Conclusions and Suggestions</a:t>
          </a:r>
          <a:endParaRPr lang="en-US" sz="2000" dirty="0">
            <a:latin typeface="Aptos" panose="020B0004020202020204" pitchFamily="34" charset="0"/>
          </a:endParaRPr>
        </a:p>
      </dgm:t>
    </dgm:pt>
    <dgm:pt modelId="{58355A1A-15E0-4E4B-ACBA-2F21FFF67E00}" type="parTrans" cxnId="{B065C83A-5602-42A4-BAE8-6466DA22FE37}">
      <dgm:prSet/>
      <dgm:spPr/>
      <dgm:t>
        <a:bodyPr/>
        <a:lstStyle/>
        <a:p>
          <a:endParaRPr lang="en-US"/>
        </a:p>
      </dgm:t>
    </dgm:pt>
    <dgm:pt modelId="{FDABC258-E321-49F8-935E-A270327D5BA7}" type="sibTrans" cxnId="{B065C83A-5602-42A4-BAE8-6466DA22FE37}">
      <dgm:prSet/>
      <dgm:spPr/>
      <dgm:t>
        <a:bodyPr/>
        <a:lstStyle/>
        <a:p>
          <a:endParaRPr lang="en-US"/>
        </a:p>
      </dgm:t>
    </dgm:pt>
    <dgm:pt modelId="{81C11C8D-5DAE-4461-ABA7-00231AF3BA22}" type="pres">
      <dgm:prSet presAssocID="{5036EED9-25FF-47D1-A689-FDA430FAE332}" presName="root" presStyleCnt="0">
        <dgm:presLayoutVars>
          <dgm:dir/>
          <dgm:resizeHandles val="exact"/>
        </dgm:presLayoutVars>
      </dgm:prSet>
      <dgm:spPr/>
    </dgm:pt>
    <dgm:pt modelId="{4F48A302-5F12-4E47-8028-FD7D7C53620D}" type="pres">
      <dgm:prSet presAssocID="{B82EB4BE-5493-4B3E-BF4B-86C52D185130}" presName="compNode" presStyleCnt="0"/>
      <dgm:spPr/>
    </dgm:pt>
    <dgm:pt modelId="{440ADAE2-654A-4999-8D67-B35169621556}" type="pres">
      <dgm:prSet presAssocID="{B82EB4BE-5493-4B3E-BF4B-86C52D185130}" presName="iconBgRect" presStyleLbl="bgShp" presStyleIdx="0" presStyleCnt="4"/>
      <dgm:spPr/>
    </dgm:pt>
    <dgm:pt modelId="{4B093CC1-637B-4C7F-B5B7-FA0059CE541C}" type="pres">
      <dgm:prSet presAssocID="{B82EB4BE-5493-4B3E-BF4B-86C52D185130}"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esentation with Checklist"/>
        </a:ext>
      </dgm:extLst>
    </dgm:pt>
    <dgm:pt modelId="{93A1BA7E-C6E2-43DC-9CE4-E11012D0123D}" type="pres">
      <dgm:prSet presAssocID="{B82EB4BE-5493-4B3E-BF4B-86C52D185130}" presName="spaceRect" presStyleCnt="0"/>
      <dgm:spPr/>
    </dgm:pt>
    <dgm:pt modelId="{A8B6AEC7-E350-45EE-81A6-97A19DBF5368}" type="pres">
      <dgm:prSet presAssocID="{B82EB4BE-5493-4B3E-BF4B-86C52D185130}" presName="textRect" presStyleLbl="revTx" presStyleIdx="0" presStyleCnt="4">
        <dgm:presLayoutVars>
          <dgm:chMax val="1"/>
          <dgm:chPref val="1"/>
        </dgm:presLayoutVars>
      </dgm:prSet>
      <dgm:spPr/>
    </dgm:pt>
    <dgm:pt modelId="{88F563EB-E0BE-4ED2-AF1B-E618F2E3A616}" type="pres">
      <dgm:prSet presAssocID="{62BB2255-179C-4F99-B8AC-244C4DC0D14E}" presName="sibTrans" presStyleCnt="0"/>
      <dgm:spPr/>
    </dgm:pt>
    <dgm:pt modelId="{52FE0A22-C44E-4ECB-AF7D-66138C25980A}" type="pres">
      <dgm:prSet presAssocID="{251863BD-53D3-46EF-8EAF-6408AE513B82}" presName="compNode" presStyleCnt="0"/>
      <dgm:spPr/>
    </dgm:pt>
    <dgm:pt modelId="{B4C83389-913B-46B7-9C6D-4600E89C8E72}" type="pres">
      <dgm:prSet presAssocID="{251863BD-53D3-46EF-8EAF-6408AE513B82}" presName="iconBgRect" presStyleLbl="bgShp" presStyleIdx="1" presStyleCnt="4"/>
      <dgm:spPr/>
    </dgm:pt>
    <dgm:pt modelId="{B50858C0-A7CB-44B9-8F9C-4A20EF9AAD70}" type="pres">
      <dgm:prSet presAssocID="{251863BD-53D3-46EF-8EAF-6408AE513B82}"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auge"/>
        </a:ext>
      </dgm:extLst>
    </dgm:pt>
    <dgm:pt modelId="{EACDF449-A766-4649-AE6B-74BFE9C80BBC}" type="pres">
      <dgm:prSet presAssocID="{251863BD-53D3-46EF-8EAF-6408AE513B82}" presName="spaceRect" presStyleCnt="0"/>
      <dgm:spPr/>
    </dgm:pt>
    <dgm:pt modelId="{1A96C9C4-6942-4426-8DA5-0AFC97E85C07}" type="pres">
      <dgm:prSet presAssocID="{251863BD-53D3-46EF-8EAF-6408AE513B82}" presName="textRect" presStyleLbl="revTx" presStyleIdx="1" presStyleCnt="4">
        <dgm:presLayoutVars>
          <dgm:chMax val="1"/>
          <dgm:chPref val="1"/>
        </dgm:presLayoutVars>
      </dgm:prSet>
      <dgm:spPr/>
    </dgm:pt>
    <dgm:pt modelId="{43FA7E16-F228-43D9-8101-A8BFFC8A08FE}" type="pres">
      <dgm:prSet presAssocID="{0C59F997-1002-4E5C-AC0A-88EE8C6AA88D}" presName="sibTrans" presStyleCnt="0"/>
      <dgm:spPr/>
    </dgm:pt>
    <dgm:pt modelId="{A51BB255-92BC-4609-AFE8-904B6BB067A3}" type="pres">
      <dgm:prSet presAssocID="{A525F0B6-0A70-4625-8724-97F2A8310614}" presName="compNode" presStyleCnt="0"/>
      <dgm:spPr/>
    </dgm:pt>
    <dgm:pt modelId="{94725DD6-750F-42EA-B899-FA07DD9FE05C}" type="pres">
      <dgm:prSet presAssocID="{A525F0B6-0A70-4625-8724-97F2A8310614}" presName="iconBgRect" presStyleLbl="bgShp" presStyleIdx="2" presStyleCnt="4"/>
      <dgm:spPr/>
    </dgm:pt>
    <dgm:pt modelId="{EEBEF59B-C7D8-440E-82C3-D30C4166AD6C}" type="pres">
      <dgm:prSet presAssocID="{A525F0B6-0A70-4625-8724-97F2A8310614}"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ightbulb"/>
        </a:ext>
      </dgm:extLst>
    </dgm:pt>
    <dgm:pt modelId="{64660218-4C50-4D53-AA17-79AD9C2FF2B9}" type="pres">
      <dgm:prSet presAssocID="{A525F0B6-0A70-4625-8724-97F2A8310614}" presName="spaceRect" presStyleCnt="0"/>
      <dgm:spPr/>
    </dgm:pt>
    <dgm:pt modelId="{30DD84CC-FBBD-4E97-B710-86EF7DA56F23}" type="pres">
      <dgm:prSet presAssocID="{A525F0B6-0A70-4625-8724-97F2A8310614}" presName="textRect" presStyleLbl="revTx" presStyleIdx="2" presStyleCnt="4">
        <dgm:presLayoutVars>
          <dgm:chMax val="1"/>
          <dgm:chPref val="1"/>
        </dgm:presLayoutVars>
      </dgm:prSet>
      <dgm:spPr/>
    </dgm:pt>
    <dgm:pt modelId="{F907EC9A-F6E8-4B95-B143-6949567255ED}" type="pres">
      <dgm:prSet presAssocID="{4454FB67-6359-4706-861E-2580A4CC9D9F}" presName="sibTrans" presStyleCnt="0"/>
      <dgm:spPr/>
    </dgm:pt>
    <dgm:pt modelId="{62ACEAED-12F1-4742-B24F-35A028D8E7D8}" type="pres">
      <dgm:prSet presAssocID="{FA01A7C4-EB3B-42B8-B524-231FC6614F2B}" presName="compNode" presStyleCnt="0"/>
      <dgm:spPr/>
    </dgm:pt>
    <dgm:pt modelId="{1ED68571-A839-4A87-976D-D7F1F5D2C931}" type="pres">
      <dgm:prSet presAssocID="{FA01A7C4-EB3B-42B8-B524-231FC6614F2B}" presName="iconBgRect" presStyleLbl="bgShp" presStyleIdx="3" presStyleCnt="4"/>
      <dgm:spPr/>
    </dgm:pt>
    <dgm:pt modelId="{9BDEAFCA-773E-4146-AC00-C38E5D4466FB}" type="pres">
      <dgm:prSet presAssocID="{FA01A7C4-EB3B-42B8-B524-231FC6614F2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ead with Gears"/>
        </a:ext>
      </dgm:extLst>
    </dgm:pt>
    <dgm:pt modelId="{5B11AA76-5F3C-4558-8B08-B0240075245B}" type="pres">
      <dgm:prSet presAssocID="{FA01A7C4-EB3B-42B8-B524-231FC6614F2B}" presName="spaceRect" presStyleCnt="0"/>
      <dgm:spPr/>
    </dgm:pt>
    <dgm:pt modelId="{9DD6C21E-2735-4CFF-80AF-B3FE75E2E327}" type="pres">
      <dgm:prSet presAssocID="{FA01A7C4-EB3B-42B8-B524-231FC6614F2B}" presName="textRect" presStyleLbl="revTx" presStyleIdx="3" presStyleCnt="4">
        <dgm:presLayoutVars>
          <dgm:chMax val="1"/>
          <dgm:chPref val="1"/>
        </dgm:presLayoutVars>
      </dgm:prSet>
      <dgm:spPr/>
    </dgm:pt>
  </dgm:ptLst>
  <dgm:cxnLst>
    <dgm:cxn modelId="{B065C83A-5602-42A4-BAE8-6466DA22FE37}" srcId="{5036EED9-25FF-47D1-A689-FDA430FAE332}" destId="{FA01A7C4-EB3B-42B8-B524-231FC6614F2B}" srcOrd="3" destOrd="0" parTransId="{58355A1A-15E0-4E4B-ACBA-2F21FFF67E00}" sibTransId="{FDABC258-E321-49F8-935E-A270327D5BA7}"/>
    <dgm:cxn modelId="{63FBB05C-424E-4431-9208-1FED73E2BA96}" srcId="{5036EED9-25FF-47D1-A689-FDA430FAE332}" destId="{A525F0B6-0A70-4625-8724-97F2A8310614}" srcOrd="2" destOrd="0" parTransId="{BE5869FA-5E0A-429D-91ED-322496E0A579}" sibTransId="{4454FB67-6359-4706-861E-2580A4CC9D9F}"/>
    <dgm:cxn modelId="{DF430748-D4AE-483E-B20B-FD7B0333D7B6}" srcId="{5036EED9-25FF-47D1-A689-FDA430FAE332}" destId="{251863BD-53D3-46EF-8EAF-6408AE513B82}" srcOrd="1" destOrd="0" parTransId="{5836D203-E10A-418F-9A6C-9E9F68756DFA}" sibTransId="{0C59F997-1002-4E5C-AC0A-88EE8C6AA88D}"/>
    <dgm:cxn modelId="{939AAC59-47B3-4EF5-BEDF-FF001425B1C8}" type="presOf" srcId="{251863BD-53D3-46EF-8EAF-6408AE513B82}" destId="{1A96C9C4-6942-4426-8DA5-0AFC97E85C07}" srcOrd="0" destOrd="0" presId="urn:microsoft.com/office/officeart/2018/5/layout/IconCircleLabelList"/>
    <dgm:cxn modelId="{1EE6218E-F8BA-4D42-AF56-0E0542010619}" type="presOf" srcId="{A525F0B6-0A70-4625-8724-97F2A8310614}" destId="{30DD84CC-FBBD-4E97-B710-86EF7DA56F23}" srcOrd="0" destOrd="0" presId="urn:microsoft.com/office/officeart/2018/5/layout/IconCircleLabelList"/>
    <dgm:cxn modelId="{1801FEA1-C20C-4C44-A6E5-E1F18F99DC0F}" type="presOf" srcId="{FA01A7C4-EB3B-42B8-B524-231FC6614F2B}" destId="{9DD6C21E-2735-4CFF-80AF-B3FE75E2E327}" srcOrd="0" destOrd="0" presId="urn:microsoft.com/office/officeart/2018/5/layout/IconCircleLabelList"/>
    <dgm:cxn modelId="{0328EAC3-1178-4352-B81F-CA0A1FF14872}" srcId="{5036EED9-25FF-47D1-A689-FDA430FAE332}" destId="{B82EB4BE-5493-4B3E-BF4B-86C52D185130}" srcOrd="0" destOrd="0" parTransId="{102E04B5-EBB7-4252-9FC6-520F7781C8C0}" sibTransId="{62BB2255-179C-4F99-B8AC-244C4DC0D14E}"/>
    <dgm:cxn modelId="{F67AA9E5-A60C-42B8-A659-09DC4DA045C4}" type="presOf" srcId="{5036EED9-25FF-47D1-A689-FDA430FAE332}" destId="{81C11C8D-5DAE-4461-ABA7-00231AF3BA22}" srcOrd="0" destOrd="0" presId="urn:microsoft.com/office/officeart/2018/5/layout/IconCircleLabelList"/>
    <dgm:cxn modelId="{24E15AF1-22C6-4772-AB6A-912337F15E63}" type="presOf" srcId="{B82EB4BE-5493-4B3E-BF4B-86C52D185130}" destId="{A8B6AEC7-E350-45EE-81A6-97A19DBF5368}" srcOrd="0" destOrd="0" presId="urn:microsoft.com/office/officeart/2018/5/layout/IconCircleLabelList"/>
    <dgm:cxn modelId="{34ECA6FA-CDD4-4953-9D8A-0C2B6A6A4635}" type="presParOf" srcId="{81C11C8D-5DAE-4461-ABA7-00231AF3BA22}" destId="{4F48A302-5F12-4E47-8028-FD7D7C53620D}" srcOrd="0" destOrd="0" presId="urn:microsoft.com/office/officeart/2018/5/layout/IconCircleLabelList"/>
    <dgm:cxn modelId="{74274267-20D6-49DF-B758-F6315BD176A6}" type="presParOf" srcId="{4F48A302-5F12-4E47-8028-FD7D7C53620D}" destId="{440ADAE2-654A-4999-8D67-B35169621556}" srcOrd="0" destOrd="0" presId="urn:microsoft.com/office/officeart/2018/5/layout/IconCircleLabelList"/>
    <dgm:cxn modelId="{2B4175DC-A4E4-4676-8107-77126CCAD898}" type="presParOf" srcId="{4F48A302-5F12-4E47-8028-FD7D7C53620D}" destId="{4B093CC1-637B-4C7F-B5B7-FA0059CE541C}" srcOrd="1" destOrd="0" presId="urn:microsoft.com/office/officeart/2018/5/layout/IconCircleLabelList"/>
    <dgm:cxn modelId="{B13B18BA-C214-40AB-BF4A-E390483D40BD}" type="presParOf" srcId="{4F48A302-5F12-4E47-8028-FD7D7C53620D}" destId="{93A1BA7E-C6E2-43DC-9CE4-E11012D0123D}" srcOrd="2" destOrd="0" presId="urn:microsoft.com/office/officeart/2018/5/layout/IconCircleLabelList"/>
    <dgm:cxn modelId="{7146EF8A-A4EC-4876-9D6E-0106DC9CA440}" type="presParOf" srcId="{4F48A302-5F12-4E47-8028-FD7D7C53620D}" destId="{A8B6AEC7-E350-45EE-81A6-97A19DBF5368}" srcOrd="3" destOrd="0" presId="urn:microsoft.com/office/officeart/2018/5/layout/IconCircleLabelList"/>
    <dgm:cxn modelId="{21646E5D-BF85-4C6F-A26F-6E67E9296854}" type="presParOf" srcId="{81C11C8D-5DAE-4461-ABA7-00231AF3BA22}" destId="{88F563EB-E0BE-4ED2-AF1B-E618F2E3A616}" srcOrd="1" destOrd="0" presId="urn:microsoft.com/office/officeart/2018/5/layout/IconCircleLabelList"/>
    <dgm:cxn modelId="{08BFED4A-2459-4838-971A-46F321F432B6}" type="presParOf" srcId="{81C11C8D-5DAE-4461-ABA7-00231AF3BA22}" destId="{52FE0A22-C44E-4ECB-AF7D-66138C25980A}" srcOrd="2" destOrd="0" presId="urn:microsoft.com/office/officeart/2018/5/layout/IconCircleLabelList"/>
    <dgm:cxn modelId="{E53C08E7-6F2C-4EF6-9433-C5B8598D6CCB}" type="presParOf" srcId="{52FE0A22-C44E-4ECB-AF7D-66138C25980A}" destId="{B4C83389-913B-46B7-9C6D-4600E89C8E72}" srcOrd="0" destOrd="0" presId="urn:microsoft.com/office/officeart/2018/5/layout/IconCircleLabelList"/>
    <dgm:cxn modelId="{1160AD48-0FFD-43CE-9313-6935F324473E}" type="presParOf" srcId="{52FE0A22-C44E-4ECB-AF7D-66138C25980A}" destId="{B50858C0-A7CB-44B9-8F9C-4A20EF9AAD70}" srcOrd="1" destOrd="0" presId="urn:microsoft.com/office/officeart/2018/5/layout/IconCircleLabelList"/>
    <dgm:cxn modelId="{3D338768-ED08-4F5F-B5C1-92F18E70297B}" type="presParOf" srcId="{52FE0A22-C44E-4ECB-AF7D-66138C25980A}" destId="{EACDF449-A766-4649-AE6B-74BFE9C80BBC}" srcOrd="2" destOrd="0" presId="urn:microsoft.com/office/officeart/2018/5/layout/IconCircleLabelList"/>
    <dgm:cxn modelId="{3C741C94-761B-4036-8278-70C26A6B3CF8}" type="presParOf" srcId="{52FE0A22-C44E-4ECB-AF7D-66138C25980A}" destId="{1A96C9C4-6942-4426-8DA5-0AFC97E85C07}" srcOrd="3" destOrd="0" presId="urn:microsoft.com/office/officeart/2018/5/layout/IconCircleLabelList"/>
    <dgm:cxn modelId="{23BA7EC6-65AF-44B0-9220-1BBE0CA9A1E2}" type="presParOf" srcId="{81C11C8D-5DAE-4461-ABA7-00231AF3BA22}" destId="{43FA7E16-F228-43D9-8101-A8BFFC8A08FE}" srcOrd="3" destOrd="0" presId="urn:microsoft.com/office/officeart/2018/5/layout/IconCircleLabelList"/>
    <dgm:cxn modelId="{28812EC4-A3FD-45E3-8E3A-B30B489FA822}" type="presParOf" srcId="{81C11C8D-5DAE-4461-ABA7-00231AF3BA22}" destId="{A51BB255-92BC-4609-AFE8-904B6BB067A3}" srcOrd="4" destOrd="0" presId="urn:microsoft.com/office/officeart/2018/5/layout/IconCircleLabelList"/>
    <dgm:cxn modelId="{57D1B258-D39F-4D6E-9AAB-BC1E15A8856E}" type="presParOf" srcId="{A51BB255-92BC-4609-AFE8-904B6BB067A3}" destId="{94725DD6-750F-42EA-B899-FA07DD9FE05C}" srcOrd="0" destOrd="0" presId="urn:microsoft.com/office/officeart/2018/5/layout/IconCircleLabelList"/>
    <dgm:cxn modelId="{8F153D2C-721F-480B-B171-B78666E5B970}" type="presParOf" srcId="{A51BB255-92BC-4609-AFE8-904B6BB067A3}" destId="{EEBEF59B-C7D8-440E-82C3-D30C4166AD6C}" srcOrd="1" destOrd="0" presId="urn:microsoft.com/office/officeart/2018/5/layout/IconCircleLabelList"/>
    <dgm:cxn modelId="{06730914-5209-4041-9CF9-02DD7CB97C79}" type="presParOf" srcId="{A51BB255-92BC-4609-AFE8-904B6BB067A3}" destId="{64660218-4C50-4D53-AA17-79AD9C2FF2B9}" srcOrd="2" destOrd="0" presId="urn:microsoft.com/office/officeart/2018/5/layout/IconCircleLabelList"/>
    <dgm:cxn modelId="{BD3CDFA1-D141-48BF-BB3A-FFE90920EDCB}" type="presParOf" srcId="{A51BB255-92BC-4609-AFE8-904B6BB067A3}" destId="{30DD84CC-FBBD-4E97-B710-86EF7DA56F23}" srcOrd="3" destOrd="0" presId="urn:microsoft.com/office/officeart/2018/5/layout/IconCircleLabelList"/>
    <dgm:cxn modelId="{C26B8B53-D398-4D6C-9723-175F9769A8C0}" type="presParOf" srcId="{81C11C8D-5DAE-4461-ABA7-00231AF3BA22}" destId="{F907EC9A-F6E8-4B95-B143-6949567255ED}" srcOrd="5" destOrd="0" presId="urn:microsoft.com/office/officeart/2018/5/layout/IconCircleLabelList"/>
    <dgm:cxn modelId="{C0B5EEBF-B8CA-4213-BB0F-12C3C00CD8DB}" type="presParOf" srcId="{81C11C8D-5DAE-4461-ABA7-00231AF3BA22}" destId="{62ACEAED-12F1-4742-B24F-35A028D8E7D8}" srcOrd="6" destOrd="0" presId="urn:microsoft.com/office/officeart/2018/5/layout/IconCircleLabelList"/>
    <dgm:cxn modelId="{CCFC6E60-0709-4A9B-AE07-4925FBDDBB26}" type="presParOf" srcId="{62ACEAED-12F1-4742-B24F-35A028D8E7D8}" destId="{1ED68571-A839-4A87-976D-D7F1F5D2C931}" srcOrd="0" destOrd="0" presId="urn:microsoft.com/office/officeart/2018/5/layout/IconCircleLabelList"/>
    <dgm:cxn modelId="{2D646FC9-38E0-46CC-ADD0-9F0B2644CEA5}" type="presParOf" srcId="{62ACEAED-12F1-4742-B24F-35A028D8E7D8}" destId="{9BDEAFCA-773E-4146-AC00-C38E5D4466FB}" srcOrd="1" destOrd="0" presId="urn:microsoft.com/office/officeart/2018/5/layout/IconCircleLabelList"/>
    <dgm:cxn modelId="{C5EB58DB-46AA-450E-A6CF-45A4854D2EA5}" type="presParOf" srcId="{62ACEAED-12F1-4742-B24F-35A028D8E7D8}" destId="{5B11AA76-5F3C-4558-8B08-B0240075245B}" srcOrd="2" destOrd="0" presId="urn:microsoft.com/office/officeart/2018/5/layout/IconCircleLabelList"/>
    <dgm:cxn modelId="{20057B8E-BB5F-4802-8EF7-99C75E826F92}" type="presParOf" srcId="{62ACEAED-12F1-4742-B24F-35A028D8E7D8}" destId="{9DD6C21E-2735-4CFF-80AF-B3FE75E2E327}"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0ADAE2-654A-4999-8D67-B35169621556}">
      <dsp:nvSpPr>
        <dsp:cNvPr id="0" name=""/>
        <dsp:cNvSpPr/>
      </dsp:nvSpPr>
      <dsp:spPr>
        <a:xfrm>
          <a:off x="562927" y="536506"/>
          <a:ext cx="1445998" cy="1445998"/>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B093CC1-637B-4C7F-B5B7-FA0059CE541C}">
      <dsp:nvSpPr>
        <dsp:cNvPr id="0" name=""/>
        <dsp:cNvSpPr/>
      </dsp:nvSpPr>
      <dsp:spPr>
        <a:xfrm>
          <a:off x="871091" y="844670"/>
          <a:ext cx="829671" cy="82967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8B6AEC7-E350-45EE-81A6-97A19DBF5368}">
      <dsp:nvSpPr>
        <dsp:cNvPr id="0" name=""/>
        <dsp:cNvSpPr/>
      </dsp:nvSpPr>
      <dsp:spPr>
        <a:xfrm>
          <a:off x="100682" y="24328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cap="all"/>
          </a:pPr>
          <a:r>
            <a:rPr lang="en-IN" sz="2000" kern="1200" dirty="0">
              <a:latin typeface="Aptos" panose="020B0004020202020204" pitchFamily="34" charset="0"/>
            </a:rPr>
            <a:t>Objectives</a:t>
          </a:r>
          <a:endParaRPr lang="en-US" sz="2000" kern="1200" dirty="0">
            <a:latin typeface="Aptos" panose="020B0004020202020204" pitchFamily="34" charset="0"/>
          </a:endParaRPr>
        </a:p>
      </dsp:txBody>
      <dsp:txXfrm>
        <a:off x="100682" y="2432898"/>
        <a:ext cx="2370489" cy="720000"/>
      </dsp:txXfrm>
    </dsp:sp>
    <dsp:sp modelId="{B4C83389-913B-46B7-9C6D-4600E89C8E72}">
      <dsp:nvSpPr>
        <dsp:cNvPr id="0" name=""/>
        <dsp:cNvSpPr/>
      </dsp:nvSpPr>
      <dsp:spPr>
        <a:xfrm>
          <a:off x="3348252" y="536506"/>
          <a:ext cx="1445998" cy="1445998"/>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0858C0-A7CB-44B9-8F9C-4A20EF9AAD70}">
      <dsp:nvSpPr>
        <dsp:cNvPr id="0" name=""/>
        <dsp:cNvSpPr/>
      </dsp:nvSpPr>
      <dsp:spPr>
        <a:xfrm>
          <a:off x="3656416" y="844670"/>
          <a:ext cx="829671" cy="82967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A96C9C4-6942-4426-8DA5-0AFC97E85C07}">
      <dsp:nvSpPr>
        <dsp:cNvPr id="0" name=""/>
        <dsp:cNvSpPr/>
      </dsp:nvSpPr>
      <dsp:spPr>
        <a:xfrm>
          <a:off x="2886007" y="24328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cap="all"/>
          </a:pPr>
          <a:r>
            <a:rPr lang="en-IN" sz="2000" kern="1200" dirty="0">
              <a:latin typeface="Aptos" panose="020B0004020202020204" pitchFamily="34" charset="0"/>
            </a:rPr>
            <a:t>Dashboards</a:t>
          </a:r>
          <a:endParaRPr lang="en-US" sz="2000" kern="1200" dirty="0">
            <a:latin typeface="Aptos" panose="020B0004020202020204" pitchFamily="34" charset="0"/>
          </a:endParaRPr>
        </a:p>
      </dsp:txBody>
      <dsp:txXfrm>
        <a:off x="2886007" y="2432898"/>
        <a:ext cx="2370489" cy="720000"/>
      </dsp:txXfrm>
    </dsp:sp>
    <dsp:sp modelId="{94725DD6-750F-42EA-B899-FA07DD9FE05C}">
      <dsp:nvSpPr>
        <dsp:cNvPr id="0" name=""/>
        <dsp:cNvSpPr/>
      </dsp:nvSpPr>
      <dsp:spPr>
        <a:xfrm>
          <a:off x="6133577" y="536506"/>
          <a:ext cx="1445998" cy="1445998"/>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BEF59B-C7D8-440E-82C3-D30C4166AD6C}">
      <dsp:nvSpPr>
        <dsp:cNvPr id="0" name=""/>
        <dsp:cNvSpPr/>
      </dsp:nvSpPr>
      <dsp:spPr>
        <a:xfrm>
          <a:off x="6441741" y="844670"/>
          <a:ext cx="829671" cy="82967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0DD84CC-FBBD-4E97-B710-86EF7DA56F23}">
      <dsp:nvSpPr>
        <dsp:cNvPr id="0" name=""/>
        <dsp:cNvSpPr/>
      </dsp:nvSpPr>
      <dsp:spPr>
        <a:xfrm>
          <a:off x="5671332" y="24328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cap="all"/>
          </a:pPr>
          <a:r>
            <a:rPr lang="en-IN" sz="2000" kern="1200" dirty="0">
              <a:latin typeface="Aptos" panose="020B0004020202020204" pitchFamily="34" charset="0"/>
            </a:rPr>
            <a:t>Key insights</a:t>
          </a:r>
          <a:endParaRPr lang="en-US" sz="2000" kern="1200" dirty="0">
            <a:latin typeface="Aptos" panose="020B0004020202020204" pitchFamily="34" charset="0"/>
          </a:endParaRPr>
        </a:p>
      </dsp:txBody>
      <dsp:txXfrm>
        <a:off x="5671332" y="2432898"/>
        <a:ext cx="2370489" cy="720000"/>
      </dsp:txXfrm>
    </dsp:sp>
    <dsp:sp modelId="{1ED68571-A839-4A87-976D-D7F1F5D2C931}">
      <dsp:nvSpPr>
        <dsp:cNvPr id="0" name=""/>
        <dsp:cNvSpPr/>
      </dsp:nvSpPr>
      <dsp:spPr>
        <a:xfrm>
          <a:off x="8918902" y="536506"/>
          <a:ext cx="1445998" cy="1445998"/>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DEAFCA-773E-4146-AC00-C38E5D4466FB}">
      <dsp:nvSpPr>
        <dsp:cNvPr id="0" name=""/>
        <dsp:cNvSpPr/>
      </dsp:nvSpPr>
      <dsp:spPr>
        <a:xfrm>
          <a:off x="9227066" y="844670"/>
          <a:ext cx="829671" cy="82967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DD6C21E-2735-4CFF-80AF-B3FE75E2E327}">
      <dsp:nvSpPr>
        <dsp:cNvPr id="0" name=""/>
        <dsp:cNvSpPr/>
      </dsp:nvSpPr>
      <dsp:spPr>
        <a:xfrm>
          <a:off x="8456657" y="24328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cap="all"/>
          </a:pPr>
          <a:r>
            <a:rPr lang="en-IN" sz="2000" kern="1200" dirty="0">
              <a:latin typeface="Aptos" panose="020B0004020202020204" pitchFamily="34" charset="0"/>
            </a:rPr>
            <a:t>Conclusions and Suggestions</a:t>
          </a:r>
          <a:endParaRPr lang="en-US" sz="2000" kern="1200" dirty="0">
            <a:latin typeface="Aptos" panose="020B0004020202020204" pitchFamily="34" charset="0"/>
          </a:endParaRPr>
        </a:p>
      </dsp:txBody>
      <dsp:txXfrm>
        <a:off x="8456657" y="2432898"/>
        <a:ext cx="2370489"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7BFF3-7900-E21A-DFEB-98700DEAFCC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A2DCF89-1A10-F8AA-744F-E3962464144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FBD48ED-DE35-F7CC-4298-28C238721208}"/>
              </a:ext>
            </a:extLst>
          </p:cNvPr>
          <p:cNvSpPr>
            <a:spLocks noGrp="1"/>
          </p:cNvSpPr>
          <p:nvPr>
            <p:ph type="dt" sz="half" idx="10"/>
          </p:nvPr>
        </p:nvSpPr>
        <p:spPr/>
        <p:txBody>
          <a:bodyPr/>
          <a:lstStyle/>
          <a:p>
            <a:fld id="{891F0F94-3446-47DC-B108-7D5D9AEA6790}" type="datetimeFigureOut">
              <a:rPr lang="en-IN" smtClean="0"/>
              <a:t>19-10-2025</a:t>
            </a:fld>
            <a:endParaRPr lang="en-IN"/>
          </a:p>
        </p:txBody>
      </p:sp>
      <p:sp>
        <p:nvSpPr>
          <p:cNvPr id="5" name="Footer Placeholder 4">
            <a:extLst>
              <a:ext uri="{FF2B5EF4-FFF2-40B4-BE49-F238E27FC236}">
                <a16:creationId xmlns:a16="http://schemas.microsoft.com/office/drawing/2014/main" id="{79B02CB0-D1B7-8F2C-554F-255506D02D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DD4843E-490E-47C2-93E0-384E962E2238}"/>
              </a:ext>
            </a:extLst>
          </p:cNvPr>
          <p:cNvSpPr>
            <a:spLocks noGrp="1"/>
          </p:cNvSpPr>
          <p:nvPr>
            <p:ph type="sldNum" sz="quarter" idx="12"/>
          </p:nvPr>
        </p:nvSpPr>
        <p:spPr/>
        <p:txBody>
          <a:bodyPr/>
          <a:lstStyle/>
          <a:p>
            <a:fld id="{A05BACED-719E-4D81-8651-E6962CBB6B48}" type="slidenum">
              <a:rPr lang="en-IN" smtClean="0"/>
              <a:t>‹#›</a:t>
            </a:fld>
            <a:endParaRPr lang="en-IN"/>
          </a:p>
        </p:txBody>
      </p:sp>
    </p:spTree>
    <p:extLst>
      <p:ext uri="{BB962C8B-B14F-4D97-AF65-F5344CB8AC3E}">
        <p14:creationId xmlns:p14="http://schemas.microsoft.com/office/powerpoint/2010/main" val="319421989"/>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FEFFB-787C-C1A6-DAA9-17D310079BC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8A704E9-6C88-6E4B-149F-AB00B35EAD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13F0BC-BFC5-2151-03A1-C9D49FEDBB66}"/>
              </a:ext>
            </a:extLst>
          </p:cNvPr>
          <p:cNvSpPr>
            <a:spLocks noGrp="1"/>
          </p:cNvSpPr>
          <p:nvPr>
            <p:ph type="dt" sz="half" idx="10"/>
          </p:nvPr>
        </p:nvSpPr>
        <p:spPr/>
        <p:txBody>
          <a:bodyPr/>
          <a:lstStyle/>
          <a:p>
            <a:fld id="{891F0F94-3446-47DC-B108-7D5D9AEA6790}" type="datetimeFigureOut">
              <a:rPr lang="en-IN" smtClean="0"/>
              <a:t>19-10-2025</a:t>
            </a:fld>
            <a:endParaRPr lang="en-IN"/>
          </a:p>
        </p:txBody>
      </p:sp>
      <p:sp>
        <p:nvSpPr>
          <p:cNvPr id="5" name="Footer Placeholder 4">
            <a:extLst>
              <a:ext uri="{FF2B5EF4-FFF2-40B4-BE49-F238E27FC236}">
                <a16:creationId xmlns:a16="http://schemas.microsoft.com/office/drawing/2014/main" id="{D1F7E5FA-F15B-BF76-C2BB-225DCC62BE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25B786-3469-B97B-63CC-F60DAD8D4E92}"/>
              </a:ext>
            </a:extLst>
          </p:cNvPr>
          <p:cNvSpPr>
            <a:spLocks noGrp="1"/>
          </p:cNvSpPr>
          <p:nvPr>
            <p:ph type="sldNum" sz="quarter" idx="12"/>
          </p:nvPr>
        </p:nvSpPr>
        <p:spPr/>
        <p:txBody>
          <a:bodyPr/>
          <a:lstStyle/>
          <a:p>
            <a:fld id="{A05BACED-719E-4D81-8651-E6962CBB6B48}" type="slidenum">
              <a:rPr lang="en-IN" smtClean="0"/>
              <a:t>‹#›</a:t>
            </a:fld>
            <a:endParaRPr lang="en-IN"/>
          </a:p>
        </p:txBody>
      </p:sp>
    </p:spTree>
    <p:extLst>
      <p:ext uri="{BB962C8B-B14F-4D97-AF65-F5344CB8AC3E}">
        <p14:creationId xmlns:p14="http://schemas.microsoft.com/office/powerpoint/2010/main" val="1065932334"/>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07861-D3B4-4B3C-CD3E-3F771877A5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38C7D64-E896-4AA3-50BB-F5304CEDCF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34A8509-210B-471B-C777-BAF25A28097D}"/>
              </a:ext>
            </a:extLst>
          </p:cNvPr>
          <p:cNvSpPr>
            <a:spLocks noGrp="1"/>
          </p:cNvSpPr>
          <p:nvPr>
            <p:ph type="dt" sz="half" idx="10"/>
          </p:nvPr>
        </p:nvSpPr>
        <p:spPr/>
        <p:txBody>
          <a:bodyPr/>
          <a:lstStyle/>
          <a:p>
            <a:fld id="{891F0F94-3446-47DC-B108-7D5D9AEA6790}" type="datetimeFigureOut">
              <a:rPr lang="en-IN" smtClean="0"/>
              <a:t>19-10-2025</a:t>
            </a:fld>
            <a:endParaRPr lang="en-IN"/>
          </a:p>
        </p:txBody>
      </p:sp>
      <p:sp>
        <p:nvSpPr>
          <p:cNvPr id="5" name="Footer Placeholder 4">
            <a:extLst>
              <a:ext uri="{FF2B5EF4-FFF2-40B4-BE49-F238E27FC236}">
                <a16:creationId xmlns:a16="http://schemas.microsoft.com/office/drawing/2014/main" id="{A04F706E-C6BE-7737-7C8F-CC252901A7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CD52F4-68BD-0E65-78E7-B226DE9A88BC}"/>
              </a:ext>
            </a:extLst>
          </p:cNvPr>
          <p:cNvSpPr>
            <a:spLocks noGrp="1"/>
          </p:cNvSpPr>
          <p:nvPr>
            <p:ph type="sldNum" sz="quarter" idx="12"/>
          </p:nvPr>
        </p:nvSpPr>
        <p:spPr/>
        <p:txBody>
          <a:bodyPr/>
          <a:lstStyle/>
          <a:p>
            <a:fld id="{A05BACED-719E-4D81-8651-E6962CBB6B48}" type="slidenum">
              <a:rPr lang="en-IN" smtClean="0"/>
              <a:t>‹#›</a:t>
            </a:fld>
            <a:endParaRPr lang="en-IN"/>
          </a:p>
        </p:txBody>
      </p:sp>
    </p:spTree>
    <p:extLst>
      <p:ext uri="{BB962C8B-B14F-4D97-AF65-F5344CB8AC3E}">
        <p14:creationId xmlns:p14="http://schemas.microsoft.com/office/powerpoint/2010/main" val="3800376503"/>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62AA8-A1D6-815D-EF39-E18950F3663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F91515A-45B5-A1C2-138F-5948FBBF78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9FCCF4B-1159-4C5A-4E98-B88ED42DA4E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DB9970B-7118-86CA-E8D7-9872ABA67F0E}"/>
              </a:ext>
            </a:extLst>
          </p:cNvPr>
          <p:cNvSpPr>
            <a:spLocks noGrp="1"/>
          </p:cNvSpPr>
          <p:nvPr>
            <p:ph type="dt" sz="half" idx="10"/>
          </p:nvPr>
        </p:nvSpPr>
        <p:spPr/>
        <p:txBody>
          <a:bodyPr/>
          <a:lstStyle/>
          <a:p>
            <a:fld id="{891F0F94-3446-47DC-B108-7D5D9AEA6790}" type="datetimeFigureOut">
              <a:rPr lang="en-IN" smtClean="0"/>
              <a:t>19-10-2025</a:t>
            </a:fld>
            <a:endParaRPr lang="en-IN"/>
          </a:p>
        </p:txBody>
      </p:sp>
      <p:sp>
        <p:nvSpPr>
          <p:cNvPr id="6" name="Footer Placeholder 5">
            <a:extLst>
              <a:ext uri="{FF2B5EF4-FFF2-40B4-BE49-F238E27FC236}">
                <a16:creationId xmlns:a16="http://schemas.microsoft.com/office/drawing/2014/main" id="{6CEEFF95-DCBA-0FE7-B86C-1328A031BAA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E4A8D3D-E123-8DC2-A70D-42548115ED5E}"/>
              </a:ext>
            </a:extLst>
          </p:cNvPr>
          <p:cNvSpPr>
            <a:spLocks noGrp="1"/>
          </p:cNvSpPr>
          <p:nvPr>
            <p:ph type="sldNum" sz="quarter" idx="12"/>
          </p:nvPr>
        </p:nvSpPr>
        <p:spPr/>
        <p:txBody>
          <a:bodyPr/>
          <a:lstStyle/>
          <a:p>
            <a:fld id="{A05BACED-719E-4D81-8651-E6962CBB6B48}" type="slidenum">
              <a:rPr lang="en-IN" smtClean="0"/>
              <a:t>‹#›</a:t>
            </a:fld>
            <a:endParaRPr lang="en-IN"/>
          </a:p>
        </p:txBody>
      </p:sp>
    </p:spTree>
    <p:extLst>
      <p:ext uri="{BB962C8B-B14F-4D97-AF65-F5344CB8AC3E}">
        <p14:creationId xmlns:p14="http://schemas.microsoft.com/office/powerpoint/2010/main" val="2638023646"/>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8705F-BDE8-5099-D0B0-42D06CE5DDD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CD3929C-D699-ACBC-2D7B-778708566E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2FB0DB-F9A4-8CA9-23F0-0058CBE8D20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3CC9D09-A126-8022-C16F-2D176382D15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F2FEB5-509C-5380-B27F-F61AD8C6830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CF3F040-BDBE-1B41-1534-E5C600336BD2}"/>
              </a:ext>
            </a:extLst>
          </p:cNvPr>
          <p:cNvSpPr>
            <a:spLocks noGrp="1"/>
          </p:cNvSpPr>
          <p:nvPr>
            <p:ph type="dt" sz="half" idx="10"/>
          </p:nvPr>
        </p:nvSpPr>
        <p:spPr/>
        <p:txBody>
          <a:bodyPr/>
          <a:lstStyle/>
          <a:p>
            <a:fld id="{891F0F94-3446-47DC-B108-7D5D9AEA6790}" type="datetimeFigureOut">
              <a:rPr lang="en-IN" smtClean="0"/>
              <a:t>19-10-2025</a:t>
            </a:fld>
            <a:endParaRPr lang="en-IN"/>
          </a:p>
        </p:txBody>
      </p:sp>
      <p:sp>
        <p:nvSpPr>
          <p:cNvPr id="8" name="Footer Placeholder 7">
            <a:extLst>
              <a:ext uri="{FF2B5EF4-FFF2-40B4-BE49-F238E27FC236}">
                <a16:creationId xmlns:a16="http://schemas.microsoft.com/office/drawing/2014/main" id="{86DD98F8-06B7-01C0-9879-E51D31E4787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CFAC37C-EFD3-045B-C5C7-A9669FACE1C1}"/>
              </a:ext>
            </a:extLst>
          </p:cNvPr>
          <p:cNvSpPr>
            <a:spLocks noGrp="1"/>
          </p:cNvSpPr>
          <p:nvPr>
            <p:ph type="sldNum" sz="quarter" idx="12"/>
          </p:nvPr>
        </p:nvSpPr>
        <p:spPr/>
        <p:txBody>
          <a:bodyPr/>
          <a:lstStyle/>
          <a:p>
            <a:fld id="{A05BACED-719E-4D81-8651-E6962CBB6B48}" type="slidenum">
              <a:rPr lang="en-IN" smtClean="0"/>
              <a:t>‹#›</a:t>
            </a:fld>
            <a:endParaRPr lang="en-IN"/>
          </a:p>
        </p:txBody>
      </p:sp>
    </p:spTree>
    <p:extLst>
      <p:ext uri="{BB962C8B-B14F-4D97-AF65-F5344CB8AC3E}">
        <p14:creationId xmlns:p14="http://schemas.microsoft.com/office/powerpoint/2010/main" val="2327096884"/>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EA4C9-9039-C4FB-4520-90B13CAC625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B7D34D0-C2CE-D14A-5CB3-CB7AA999A8CD}"/>
              </a:ext>
            </a:extLst>
          </p:cNvPr>
          <p:cNvSpPr>
            <a:spLocks noGrp="1"/>
          </p:cNvSpPr>
          <p:nvPr>
            <p:ph type="dt" sz="half" idx="10"/>
          </p:nvPr>
        </p:nvSpPr>
        <p:spPr/>
        <p:txBody>
          <a:bodyPr/>
          <a:lstStyle/>
          <a:p>
            <a:fld id="{891F0F94-3446-47DC-B108-7D5D9AEA6790}" type="datetimeFigureOut">
              <a:rPr lang="en-IN" smtClean="0"/>
              <a:t>19-10-2025</a:t>
            </a:fld>
            <a:endParaRPr lang="en-IN"/>
          </a:p>
        </p:txBody>
      </p:sp>
      <p:sp>
        <p:nvSpPr>
          <p:cNvPr id="4" name="Footer Placeholder 3">
            <a:extLst>
              <a:ext uri="{FF2B5EF4-FFF2-40B4-BE49-F238E27FC236}">
                <a16:creationId xmlns:a16="http://schemas.microsoft.com/office/drawing/2014/main" id="{B6D6C264-21E1-FA0C-542C-E4CD06407D2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050C4BC-F475-4CD5-6B06-716918C6E3BD}"/>
              </a:ext>
            </a:extLst>
          </p:cNvPr>
          <p:cNvSpPr>
            <a:spLocks noGrp="1"/>
          </p:cNvSpPr>
          <p:nvPr>
            <p:ph type="sldNum" sz="quarter" idx="12"/>
          </p:nvPr>
        </p:nvSpPr>
        <p:spPr/>
        <p:txBody>
          <a:bodyPr/>
          <a:lstStyle/>
          <a:p>
            <a:fld id="{A05BACED-719E-4D81-8651-E6962CBB6B48}" type="slidenum">
              <a:rPr lang="en-IN" smtClean="0"/>
              <a:t>‹#›</a:t>
            </a:fld>
            <a:endParaRPr lang="en-IN"/>
          </a:p>
        </p:txBody>
      </p:sp>
    </p:spTree>
    <p:extLst>
      <p:ext uri="{BB962C8B-B14F-4D97-AF65-F5344CB8AC3E}">
        <p14:creationId xmlns:p14="http://schemas.microsoft.com/office/powerpoint/2010/main" val="561339492"/>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2D351E-BE68-28CF-492A-3926D5409F9D}"/>
              </a:ext>
            </a:extLst>
          </p:cNvPr>
          <p:cNvSpPr>
            <a:spLocks noGrp="1"/>
          </p:cNvSpPr>
          <p:nvPr>
            <p:ph type="dt" sz="half" idx="10"/>
          </p:nvPr>
        </p:nvSpPr>
        <p:spPr/>
        <p:txBody>
          <a:bodyPr/>
          <a:lstStyle/>
          <a:p>
            <a:fld id="{891F0F94-3446-47DC-B108-7D5D9AEA6790}" type="datetimeFigureOut">
              <a:rPr lang="en-IN" smtClean="0"/>
              <a:t>19-10-2025</a:t>
            </a:fld>
            <a:endParaRPr lang="en-IN"/>
          </a:p>
        </p:txBody>
      </p:sp>
      <p:sp>
        <p:nvSpPr>
          <p:cNvPr id="3" name="Footer Placeholder 2">
            <a:extLst>
              <a:ext uri="{FF2B5EF4-FFF2-40B4-BE49-F238E27FC236}">
                <a16:creationId xmlns:a16="http://schemas.microsoft.com/office/drawing/2014/main" id="{305F5C21-768A-F9DB-DF7E-03C5E3213FE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6EF7B7E-1E59-46FD-0FA0-60F7D8E7C617}"/>
              </a:ext>
            </a:extLst>
          </p:cNvPr>
          <p:cNvSpPr>
            <a:spLocks noGrp="1"/>
          </p:cNvSpPr>
          <p:nvPr>
            <p:ph type="sldNum" sz="quarter" idx="12"/>
          </p:nvPr>
        </p:nvSpPr>
        <p:spPr/>
        <p:txBody>
          <a:bodyPr/>
          <a:lstStyle/>
          <a:p>
            <a:fld id="{A05BACED-719E-4D81-8651-E6962CBB6B48}" type="slidenum">
              <a:rPr lang="en-IN" smtClean="0"/>
              <a:t>‹#›</a:t>
            </a:fld>
            <a:endParaRPr lang="en-IN"/>
          </a:p>
        </p:txBody>
      </p:sp>
    </p:spTree>
    <p:extLst>
      <p:ext uri="{BB962C8B-B14F-4D97-AF65-F5344CB8AC3E}">
        <p14:creationId xmlns:p14="http://schemas.microsoft.com/office/powerpoint/2010/main" val="3238943340"/>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931AA-88B3-17BB-B596-F75491968F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A36F54D-5FF3-041A-D5CB-45F1EC6E8E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4EF80A0-B089-BC45-C69B-8F1790E09D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136411-AA1E-42CD-A503-0A62DF419CD5}"/>
              </a:ext>
            </a:extLst>
          </p:cNvPr>
          <p:cNvSpPr>
            <a:spLocks noGrp="1"/>
          </p:cNvSpPr>
          <p:nvPr>
            <p:ph type="dt" sz="half" idx="10"/>
          </p:nvPr>
        </p:nvSpPr>
        <p:spPr/>
        <p:txBody>
          <a:bodyPr/>
          <a:lstStyle/>
          <a:p>
            <a:fld id="{891F0F94-3446-47DC-B108-7D5D9AEA6790}" type="datetimeFigureOut">
              <a:rPr lang="en-IN" smtClean="0"/>
              <a:t>19-10-2025</a:t>
            </a:fld>
            <a:endParaRPr lang="en-IN"/>
          </a:p>
        </p:txBody>
      </p:sp>
      <p:sp>
        <p:nvSpPr>
          <p:cNvPr id="6" name="Footer Placeholder 5">
            <a:extLst>
              <a:ext uri="{FF2B5EF4-FFF2-40B4-BE49-F238E27FC236}">
                <a16:creationId xmlns:a16="http://schemas.microsoft.com/office/drawing/2014/main" id="{2C992B5D-0009-9BC5-8863-F14A395F5CE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F6E3BC-6B13-AFA2-4205-F4C5490CFE60}"/>
              </a:ext>
            </a:extLst>
          </p:cNvPr>
          <p:cNvSpPr>
            <a:spLocks noGrp="1"/>
          </p:cNvSpPr>
          <p:nvPr>
            <p:ph type="sldNum" sz="quarter" idx="12"/>
          </p:nvPr>
        </p:nvSpPr>
        <p:spPr/>
        <p:txBody>
          <a:bodyPr/>
          <a:lstStyle/>
          <a:p>
            <a:fld id="{A05BACED-719E-4D81-8651-E6962CBB6B48}" type="slidenum">
              <a:rPr lang="en-IN" smtClean="0"/>
              <a:t>‹#›</a:t>
            </a:fld>
            <a:endParaRPr lang="en-IN"/>
          </a:p>
        </p:txBody>
      </p:sp>
    </p:spTree>
    <p:extLst>
      <p:ext uri="{BB962C8B-B14F-4D97-AF65-F5344CB8AC3E}">
        <p14:creationId xmlns:p14="http://schemas.microsoft.com/office/powerpoint/2010/main" val="3425605536"/>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2D377-493C-4E3F-E9F7-63507DF27C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01A6795-EE36-B3CA-4C97-8E8F38A872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14BC678-7416-689F-57EF-2D05EE60B7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D2C186-442A-1634-77C9-0A2BF3E7E642}"/>
              </a:ext>
            </a:extLst>
          </p:cNvPr>
          <p:cNvSpPr>
            <a:spLocks noGrp="1"/>
          </p:cNvSpPr>
          <p:nvPr>
            <p:ph type="dt" sz="half" idx="10"/>
          </p:nvPr>
        </p:nvSpPr>
        <p:spPr/>
        <p:txBody>
          <a:bodyPr/>
          <a:lstStyle/>
          <a:p>
            <a:fld id="{891F0F94-3446-47DC-B108-7D5D9AEA6790}" type="datetimeFigureOut">
              <a:rPr lang="en-IN" smtClean="0"/>
              <a:t>19-10-2025</a:t>
            </a:fld>
            <a:endParaRPr lang="en-IN"/>
          </a:p>
        </p:txBody>
      </p:sp>
      <p:sp>
        <p:nvSpPr>
          <p:cNvPr id="6" name="Footer Placeholder 5">
            <a:extLst>
              <a:ext uri="{FF2B5EF4-FFF2-40B4-BE49-F238E27FC236}">
                <a16:creationId xmlns:a16="http://schemas.microsoft.com/office/drawing/2014/main" id="{C6443B82-2ECA-A4CD-F632-5EAF2C67950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8A64D42-AAAF-A678-9E24-7138E7E12C8B}"/>
              </a:ext>
            </a:extLst>
          </p:cNvPr>
          <p:cNvSpPr>
            <a:spLocks noGrp="1"/>
          </p:cNvSpPr>
          <p:nvPr>
            <p:ph type="sldNum" sz="quarter" idx="12"/>
          </p:nvPr>
        </p:nvSpPr>
        <p:spPr/>
        <p:txBody>
          <a:bodyPr/>
          <a:lstStyle/>
          <a:p>
            <a:fld id="{A05BACED-719E-4D81-8651-E6962CBB6B48}" type="slidenum">
              <a:rPr lang="en-IN" smtClean="0"/>
              <a:t>‹#›</a:t>
            </a:fld>
            <a:endParaRPr lang="en-IN"/>
          </a:p>
        </p:txBody>
      </p:sp>
    </p:spTree>
    <p:extLst>
      <p:ext uri="{BB962C8B-B14F-4D97-AF65-F5344CB8AC3E}">
        <p14:creationId xmlns:p14="http://schemas.microsoft.com/office/powerpoint/2010/main" val="1132821076"/>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1AAF0-B65B-CD0C-6967-8009A6357AC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C1C03A0-1010-AB16-5554-ECCE4D4B5A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C3473E-9CC8-1F3E-A8B7-D99DE7B79A25}"/>
              </a:ext>
            </a:extLst>
          </p:cNvPr>
          <p:cNvSpPr>
            <a:spLocks noGrp="1"/>
          </p:cNvSpPr>
          <p:nvPr>
            <p:ph type="dt" sz="half" idx="10"/>
          </p:nvPr>
        </p:nvSpPr>
        <p:spPr/>
        <p:txBody>
          <a:bodyPr/>
          <a:lstStyle/>
          <a:p>
            <a:fld id="{891F0F94-3446-47DC-B108-7D5D9AEA6790}" type="datetimeFigureOut">
              <a:rPr lang="en-IN" smtClean="0"/>
              <a:t>19-10-2025</a:t>
            </a:fld>
            <a:endParaRPr lang="en-IN"/>
          </a:p>
        </p:txBody>
      </p:sp>
      <p:sp>
        <p:nvSpPr>
          <p:cNvPr id="5" name="Footer Placeholder 4">
            <a:extLst>
              <a:ext uri="{FF2B5EF4-FFF2-40B4-BE49-F238E27FC236}">
                <a16:creationId xmlns:a16="http://schemas.microsoft.com/office/drawing/2014/main" id="{BC6286C1-F2A8-7E5D-227E-30B0105FE9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28AB2B-09E9-FB4A-7233-8F3F3D035589}"/>
              </a:ext>
            </a:extLst>
          </p:cNvPr>
          <p:cNvSpPr>
            <a:spLocks noGrp="1"/>
          </p:cNvSpPr>
          <p:nvPr>
            <p:ph type="sldNum" sz="quarter" idx="12"/>
          </p:nvPr>
        </p:nvSpPr>
        <p:spPr/>
        <p:txBody>
          <a:bodyPr/>
          <a:lstStyle/>
          <a:p>
            <a:fld id="{A05BACED-719E-4D81-8651-E6962CBB6B48}" type="slidenum">
              <a:rPr lang="en-IN" smtClean="0"/>
              <a:t>‹#›</a:t>
            </a:fld>
            <a:endParaRPr lang="en-IN"/>
          </a:p>
        </p:txBody>
      </p:sp>
    </p:spTree>
    <p:extLst>
      <p:ext uri="{BB962C8B-B14F-4D97-AF65-F5344CB8AC3E}">
        <p14:creationId xmlns:p14="http://schemas.microsoft.com/office/powerpoint/2010/main" val="3644781928"/>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736E6F3-6970-66D0-8BEF-42B26F2DCD9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6BB72EE-51E0-482A-0F8B-AD02A8E9113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08AB4FA-AB57-95A0-AF43-9843A1F32D8A}"/>
              </a:ext>
            </a:extLst>
          </p:cNvPr>
          <p:cNvSpPr>
            <a:spLocks noGrp="1"/>
          </p:cNvSpPr>
          <p:nvPr>
            <p:ph type="dt" sz="half" idx="10"/>
          </p:nvPr>
        </p:nvSpPr>
        <p:spPr/>
        <p:txBody>
          <a:bodyPr/>
          <a:lstStyle/>
          <a:p>
            <a:fld id="{891F0F94-3446-47DC-B108-7D5D9AEA6790}" type="datetimeFigureOut">
              <a:rPr lang="en-IN" smtClean="0"/>
              <a:t>19-10-2025</a:t>
            </a:fld>
            <a:endParaRPr lang="en-IN"/>
          </a:p>
        </p:txBody>
      </p:sp>
      <p:sp>
        <p:nvSpPr>
          <p:cNvPr id="5" name="Footer Placeholder 4">
            <a:extLst>
              <a:ext uri="{FF2B5EF4-FFF2-40B4-BE49-F238E27FC236}">
                <a16:creationId xmlns:a16="http://schemas.microsoft.com/office/drawing/2014/main" id="{2213AEAA-162B-6335-E4DB-1FEFD76373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D4F45F-EED3-7AAF-336A-CE2ECB64E9E5}"/>
              </a:ext>
            </a:extLst>
          </p:cNvPr>
          <p:cNvSpPr>
            <a:spLocks noGrp="1"/>
          </p:cNvSpPr>
          <p:nvPr>
            <p:ph type="sldNum" sz="quarter" idx="12"/>
          </p:nvPr>
        </p:nvSpPr>
        <p:spPr/>
        <p:txBody>
          <a:bodyPr/>
          <a:lstStyle/>
          <a:p>
            <a:fld id="{A05BACED-719E-4D81-8651-E6962CBB6B48}" type="slidenum">
              <a:rPr lang="en-IN" smtClean="0"/>
              <a:t>‹#›</a:t>
            </a:fld>
            <a:endParaRPr lang="en-IN"/>
          </a:p>
        </p:txBody>
      </p:sp>
    </p:spTree>
    <p:extLst>
      <p:ext uri="{BB962C8B-B14F-4D97-AF65-F5344CB8AC3E}">
        <p14:creationId xmlns:p14="http://schemas.microsoft.com/office/powerpoint/2010/main" val="3065815697"/>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29D5C4-CDD0-5CD8-F904-ECE81ED5F6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06DA712-8B87-FDCD-478F-5877542766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6C73531-150B-A90D-1B16-23AD6E5698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1F0F94-3446-47DC-B108-7D5D9AEA6790}" type="datetimeFigureOut">
              <a:rPr lang="en-IN" smtClean="0"/>
              <a:t>19-10-2025</a:t>
            </a:fld>
            <a:endParaRPr lang="en-IN"/>
          </a:p>
        </p:txBody>
      </p:sp>
      <p:sp>
        <p:nvSpPr>
          <p:cNvPr id="5" name="Footer Placeholder 4">
            <a:extLst>
              <a:ext uri="{FF2B5EF4-FFF2-40B4-BE49-F238E27FC236}">
                <a16:creationId xmlns:a16="http://schemas.microsoft.com/office/drawing/2014/main" id="{47E08B80-CE48-808F-303C-20A35ACCE2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340F30C-89A2-04C3-6444-C0FFDFFF4A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5BACED-719E-4D81-8651-E6962CBB6B48}" type="slidenum">
              <a:rPr lang="en-IN" smtClean="0"/>
              <a:t>‹#›</a:t>
            </a:fld>
            <a:endParaRPr lang="en-IN"/>
          </a:p>
        </p:txBody>
      </p:sp>
    </p:spTree>
    <p:extLst>
      <p:ext uri="{BB962C8B-B14F-4D97-AF65-F5344CB8AC3E}">
        <p14:creationId xmlns:p14="http://schemas.microsoft.com/office/powerpoint/2010/main" val="11557038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EEBE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6234BCC6-39B9-47D9-8BF8-C665401AE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a:extLst>
              <a:ext uri="{FF2B5EF4-FFF2-40B4-BE49-F238E27FC236}">
                <a16:creationId xmlns:a16="http://schemas.microsoft.com/office/drawing/2014/main" id="{53DF15CF-AAF7-CA26-C8F4-AA5F76EBA547}"/>
              </a:ext>
            </a:extLst>
          </p:cNvPr>
          <p:cNvPicPr>
            <a:picLocks noChangeAspect="1"/>
          </p:cNvPicPr>
          <p:nvPr/>
        </p:nvPicPr>
        <p:blipFill>
          <a:blip r:embed="rId2">
            <a:extLst>
              <a:ext uri="{28A0092B-C50C-407E-A947-70E740481C1C}">
                <a14:useLocalDpi xmlns:a14="http://schemas.microsoft.com/office/drawing/2010/main" val="0"/>
              </a:ext>
            </a:extLst>
          </a:blip>
          <a:srcRect t="2850" r="-2" b="1730"/>
          <a:stretch>
            <a:fillRect/>
          </a:stretch>
        </p:blipFill>
        <p:spPr>
          <a:xfrm>
            <a:off x="4883025" y="10"/>
            <a:ext cx="7308975" cy="3364982"/>
          </a:xfrm>
          <a:custGeom>
            <a:avLst/>
            <a:gdLst/>
            <a:ahLst/>
            <a:cxnLst/>
            <a:rect l="l" t="t" r="r" b="b"/>
            <a:pathLst>
              <a:path w="7308975" h="3364992">
                <a:moveTo>
                  <a:pt x="0" y="0"/>
                </a:moveTo>
                <a:lnTo>
                  <a:pt x="7308975" y="0"/>
                </a:lnTo>
                <a:lnTo>
                  <a:pt x="7308975" y="3364992"/>
                </a:lnTo>
                <a:lnTo>
                  <a:pt x="1210305" y="3364992"/>
                </a:lnTo>
                <a:lnTo>
                  <a:pt x="1192705" y="2943200"/>
                </a:lnTo>
                <a:cubicBezTo>
                  <a:pt x="1098874" y="1825108"/>
                  <a:pt x="684692" y="821621"/>
                  <a:pt x="62981" y="69271"/>
                </a:cubicBezTo>
                <a:close/>
              </a:path>
            </a:pathLst>
          </a:custGeom>
        </p:spPr>
      </p:pic>
      <p:pic>
        <p:nvPicPr>
          <p:cNvPr id="5" name="Picture 4">
            <a:extLst>
              <a:ext uri="{FF2B5EF4-FFF2-40B4-BE49-F238E27FC236}">
                <a16:creationId xmlns:a16="http://schemas.microsoft.com/office/drawing/2014/main" id="{4AC239B8-E7A2-B479-D711-B6044C1D7F78}"/>
              </a:ext>
            </a:extLst>
          </p:cNvPr>
          <p:cNvPicPr>
            <a:picLocks noChangeAspect="1"/>
          </p:cNvPicPr>
          <p:nvPr/>
        </p:nvPicPr>
        <p:blipFill>
          <a:blip r:embed="rId3">
            <a:extLst>
              <a:ext uri="{28A0092B-C50C-407E-A947-70E740481C1C}">
                <a14:useLocalDpi xmlns:a14="http://schemas.microsoft.com/office/drawing/2010/main" val="0"/>
              </a:ext>
            </a:extLst>
          </a:blip>
          <a:srcRect l="5484" r="3834" b="2"/>
          <a:stretch>
            <a:fillRect/>
          </a:stretch>
        </p:blipFill>
        <p:spPr>
          <a:xfrm>
            <a:off x="4883025" y="3493008"/>
            <a:ext cx="7308975" cy="3364992"/>
          </a:xfrm>
          <a:custGeom>
            <a:avLst/>
            <a:gdLst/>
            <a:ahLst/>
            <a:cxnLst/>
            <a:rect l="l" t="t" r="r" b="b"/>
            <a:pathLst>
              <a:path w="7308975" h="3364992">
                <a:moveTo>
                  <a:pt x="1210305" y="0"/>
                </a:moveTo>
                <a:lnTo>
                  <a:pt x="7308975" y="0"/>
                </a:lnTo>
                <a:lnTo>
                  <a:pt x="7308975" y="3364992"/>
                </a:lnTo>
                <a:lnTo>
                  <a:pt x="0" y="3364992"/>
                </a:lnTo>
                <a:lnTo>
                  <a:pt x="62981" y="3295722"/>
                </a:lnTo>
                <a:cubicBezTo>
                  <a:pt x="684692" y="2543371"/>
                  <a:pt x="1098874" y="1539884"/>
                  <a:pt x="1192705" y="421793"/>
                </a:cubicBezTo>
                <a:close/>
              </a:path>
            </a:pathLst>
          </a:custGeom>
        </p:spPr>
      </p:pic>
      <p:sp useBgFill="1">
        <p:nvSpPr>
          <p:cNvPr id="53" name="Freeform: Shape 52">
            <a:extLst>
              <a:ext uri="{FF2B5EF4-FFF2-40B4-BE49-F238E27FC236}">
                <a16:creationId xmlns:a16="http://schemas.microsoft.com/office/drawing/2014/main" id="{72A9CE9D-DAC3-40AF-B504-78A64A909F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1" cy="6858000"/>
          </a:xfrm>
          <a:custGeom>
            <a:avLst/>
            <a:gdLst>
              <a:gd name="connsiteX0" fmla="*/ 0 w 6096001"/>
              <a:gd name="connsiteY0" fmla="*/ 0 h 6858000"/>
              <a:gd name="connsiteX1" fmla="*/ 4883024 w 6096001"/>
              <a:gd name="connsiteY1" fmla="*/ 0 h 6858000"/>
              <a:gd name="connsiteX2" fmla="*/ 4946006 w 6096001"/>
              <a:gd name="connsiteY2" fmla="*/ 69271 h 6858000"/>
              <a:gd name="connsiteX3" fmla="*/ 6096001 w 6096001"/>
              <a:gd name="connsiteY3" fmla="*/ 3429000 h 6858000"/>
              <a:gd name="connsiteX4" fmla="*/ 4946006 w 6096001"/>
              <a:gd name="connsiteY4" fmla="*/ 6788730 h 6858000"/>
              <a:gd name="connsiteX5" fmla="*/ 4883024 w 6096001"/>
              <a:gd name="connsiteY5" fmla="*/ 6858000 h 6858000"/>
              <a:gd name="connsiteX6" fmla="*/ 0 w 609600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1" h="6858000">
                <a:moveTo>
                  <a:pt x="0" y="0"/>
                </a:moveTo>
                <a:lnTo>
                  <a:pt x="4883024" y="0"/>
                </a:lnTo>
                <a:lnTo>
                  <a:pt x="4946006" y="69271"/>
                </a:lnTo>
                <a:cubicBezTo>
                  <a:pt x="5656532" y="929100"/>
                  <a:pt x="6096001" y="2116944"/>
                  <a:pt x="6096001" y="3429000"/>
                </a:cubicBezTo>
                <a:cubicBezTo>
                  <a:pt x="6096001" y="4741056"/>
                  <a:pt x="5656532" y="5928900"/>
                  <a:pt x="4946006" y="6788730"/>
                </a:cubicBezTo>
                <a:lnTo>
                  <a:pt x="4883024"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useBgFill="1">
        <p:nvSpPr>
          <p:cNvPr id="54" name="Freeform: Shape 53">
            <a:extLst>
              <a:ext uri="{FF2B5EF4-FFF2-40B4-BE49-F238E27FC236}">
                <a16:creationId xmlns:a16="http://schemas.microsoft.com/office/drawing/2014/main" id="{506D7452-6CDE-4381-86CE-07B2459383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7332" cy="6858000"/>
          </a:xfrm>
          <a:custGeom>
            <a:avLst/>
            <a:gdLst>
              <a:gd name="connsiteX0" fmla="*/ 0 w 6087332"/>
              <a:gd name="connsiteY0" fmla="*/ 0 h 6858000"/>
              <a:gd name="connsiteX1" fmla="*/ 4874355 w 6087332"/>
              <a:gd name="connsiteY1" fmla="*/ 0 h 6858000"/>
              <a:gd name="connsiteX2" fmla="*/ 4937337 w 6087332"/>
              <a:gd name="connsiteY2" fmla="*/ 69271 h 6858000"/>
              <a:gd name="connsiteX3" fmla="*/ 6087332 w 6087332"/>
              <a:gd name="connsiteY3" fmla="*/ 3429000 h 6858000"/>
              <a:gd name="connsiteX4" fmla="*/ 4937337 w 6087332"/>
              <a:gd name="connsiteY4" fmla="*/ 6788730 h 6858000"/>
              <a:gd name="connsiteX5" fmla="*/ 4874355 w 6087332"/>
              <a:gd name="connsiteY5" fmla="*/ 6858000 h 6858000"/>
              <a:gd name="connsiteX6" fmla="*/ 0 w 608733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7332" h="6858000">
                <a:moveTo>
                  <a:pt x="0" y="0"/>
                </a:moveTo>
                <a:lnTo>
                  <a:pt x="4874355" y="0"/>
                </a:lnTo>
                <a:lnTo>
                  <a:pt x="4937337" y="69271"/>
                </a:lnTo>
                <a:cubicBezTo>
                  <a:pt x="5647863" y="929100"/>
                  <a:pt x="6087332" y="2116944"/>
                  <a:pt x="6087332" y="3429000"/>
                </a:cubicBezTo>
                <a:cubicBezTo>
                  <a:pt x="6087332" y="4741056"/>
                  <a:pt x="5647863" y="5928900"/>
                  <a:pt x="4937337" y="6788730"/>
                </a:cubicBezTo>
                <a:lnTo>
                  <a:pt x="487435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EFE3283-6912-B9F1-2388-29B79FABBE02}"/>
              </a:ext>
            </a:extLst>
          </p:cNvPr>
          <p:cNvSpPr>
            <a:spLocks noGrp="1"/>
          </p:cNvSpPr>
          <p:nvPr>
            <p:ph type="ctrTitle"/>
          </p:nvPr>
        </p:nvSpPr>
        <p:spPr>
          <a:xfrm>
            <a:off x="438912" y="1524659"/>
            <a:ext cx="5019074" cy="2774088"/>
          </a:xfrm>
        </p:spPr>
        <p:txBody>
          <a:bodyPr>
            <a:normAutofit/>
          </a:bodyPr>
          <a:lstStyle/>
          <a:p>
            <a:pPr algn="l"/>
            <a:r>
              <a:rPr lang="en-IN" sz="4400" dirty="0">
                <a:latin typeface="Aptos" panose="020B0004020202020204" pitchFamily="34" charset="0"/>
              </a:rPr>
              <a:t>ITC Hotels Revenue Optimization</a:t>
            </a:r>
          </a:p>
        </p:txBody>
      </p:sp>
      <p:sp>
        <p:nvSpPr>
          <p:cNvPr id="3" name="Subtitle 2">
            <a:extLst>
              <a:ext uri="{FF2B5EF4-FFF2-40B4-BE49-F238E27FC236}">
                <a16:creationId xmlns:a16="http://schemas.microsoft.com/office/drawing/2014/main" id="{D95A831B-818A-EE8F-D768-D302D52D0257}"/>
              </a:ext>
            </a:extLst>
          </p:cNvPr>
          <p:cNvSpPr>
            <a:spLocks noGrp="1"/>
          </p:cNvSpPr>
          <p:nvPr>
            <p:ph type="subTitle" idx="1"/>
          </p:nvPr>
        </p:nvSpPr>
        <p:spPr>
          <a:xfrm>
            <a:off x="438912" y="4687367"/>
            <a:ext cx="4917948" cy="1335024"/>
          </a:xfrm>
        </p:spPr>
        <p:txBody>
          <a:bodyPr>
            <a:normAutofit/>
          </a:bodyPr>
          <a:lstStyle/>
          <a:p>
            <a:pPr algn="l"/>
            <a:r>
              <a:rPr lang="en-IN" sz="2000" dirty="0">
                <a:latin typeface="Aptos" panose="020B0004020202020204" pitchFamily="34" charset="0"/>
              </a:rPr>
              <a:t>Presented by: Shivani Awasthi</a:t>
            </a:r>
          </a:p>
        </p:txBody>
      </p:sp>
      <p:sp>
        <p:nvSpPr>
          <p:cNvPr id="50" name="Rectangle 49">
            <a:extLst>
              <a:ext uri="{FF2B5EF4-FFF2-40B4-BE49-F238E27FC236}">
                <a16:creationId xmlns:a16="http://schemas.microsoft.com/office/drawing/2014/main" id="{762DA937-8B55-4317-BD32-98D7AF30E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67989"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Avenir Next LT Pro"/>
            </a:endParaRPr>
          </a:p>
        </p:txBody>
      </p:sp>
      <p:sp>
        <p:nvSpPr>
          <p:cNvPr id="52" name="Rectangle 51">
            <a:extLst>
              <a:ext uri="{FF2B5EF4-FFF2-40B4-BE49-F238E27FC236}">
                <a16:creationId xmlns:a16="http://schemas.microsoft.com/office/drawing/2014/main" id="{C52EE5A8-045B-4D39-8ED1-51333408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098" y="4461119"/>
            <a:ext cx="501907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46910137"/>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EEBE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2397B5F-B8A4-275E-6A61-9A795AE07F07}"/>
              </a:ext>
            </a:extLst>
          </p:cNvPr>
          <p:cNvSpPr>
            <a:spLocks noGrp="1"/>
          </p:cNvSpPr>
          <p:nvPr>
            <p:ph type="title"/>
          </p:nvPr>
        </p:nvSpPr>
        <p:spPr>
          <a:xfrm>
            <a:off x="761803" y="350196"/>
            <a:ext cx="4646904" cy="1624520"/>
          </a:xfrm>
        </p:spPr>
        <p:txBody>
          <a:bodyPr anchor="ctr">
            <a:normAutofit/>
          </a:bodyPr>
          <a:lstStyle/>
          <a:p>
            <a:r>
              <a:rPr lang="en-IN" sz="4000" dirty="0">
                <a:latin typeface="Aptos" panose="020B0004020202020204" pitchFamily="34" charset="0"/>
              </a:rPr>
              <a:t>Quick Overview:</a:t>
            </a:r>
          </a:p>
        </p:txBody>
      </p:sp>
      <p:sp>
        <p:nvSpPr>
          <p:cNvPr id="3" name="Content Placeholder 2">
            <a:extLst>
              <a:ext uri="{FF2B5EF4-FFF2-40B4-BE49-F238E27FC236}">
                <a16:creationId xmlns:a16="http://schemas.microsoft.com/office/drawing/2014/main" id="{21DDC247-3F6F-0E36-2D3B-6E43D1EB37DE}"/>
              </a:ext>
            </a:extLst>
          </p:cNvPr>
          <p:cNvSpPr>
            <a:spLocks noGrp="1"/>
          </p:cNvSpPr>
          <p:nvPr>
            <p:ph idx="1"/>
          </p:nvPr>
        </p:nvSpPr>
        <p:spPr>
          <a:xfrm>
            <a:off x="761802" y="2743200"/>
            <a:ext cx="4646905" cy="3613149"/>
          </a:xfrm>
        </p:spPr>
        <p:txBody>
          <a:bodyPr anchor="ctr">
            <a:normAutofit lnSpcReduction="10000"/>
          </a:bodyPr>
          <a:lstStyle/>
          <a:p>
            <a:pPr marL="0" indent="0">
              <a:buNone/>
            </a:pPr>
            <a:r>
              <a:rPr lang="en-IN" sz="2000" dirty="0">
                <a:latin typeface="Aptos" panose="020B0004020202020204" pitchFamily="34" charset="0"/>
              </a:rPr>
              <a:t>ITC Hotels is a luxury hotel chain that operates multiple properties with diverse room categories and varying occupancy rates. The company wants to gain deeper insights into its overall financial performance, customer booking behaviour, occupancy trends, and room category performance to optimize revenue generation, minimize cancellations, and enhance customer satisfaction. We have created a dashboard which gives a real time insights for decision-making.</a:t>
            </a:r>
          </a:p>
        </p:txBody>
      </p:sp>
      <p:pic>
        <p:nvPicPr>
          <p:cNvPr id="5" name="Picture 4" descr="Low angle view of building corner against the clear blue sky">
            <a:extLst>
              <a:ext uri="{FF2B5EF4-FFF2-40B4-BE49-F238E27FC236}">
                <a16:creationId xmlns:a16="http://schemas.microsoft.com/office/drawing/2014/main" id="{9A645957-2C51-B385-A2F1-2E01D415C528}"/>
              </a:ext>
            </a:extLst>
          </p:cNvPr>
          <p:cNvPicPr>
            <a:picLocks noChangeAspect="1"/>
          </p:cNvPicPr>
          <p:nvPr/>
        </p:nvPicPr>
        <p:blipFill>
          <a:blip r:embed="rId2"/>
          <a:srcRect l="2603" r="30656"/>
          <a:stretch>
            <a:fillRect/>
          </a:stretch>
        </p:blipFill>
        <p:spPr>
          <a:xfrm>
            <a:off x="6096000" y="1"/>
            <a:ext cx="6102825" cy="6858000"/>
          </a:xfrm>
          <a:prstGeom prst="rect">
            <a:avLst/>
          </a:prstGeom>
        </p:spPr>
      </p:pic>
    </p:spTree>
    <p:extLst>
      <p:ext uri="{BB962C8B-B14F-4D97-AF65-F5344CB8AC3E}">
        <p14:creationId xmlns:p14="http://schemas.microsoft.com/office/powerpoint/2010/main" val="824856776"/>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EEBE1"/>
        </a:solidFill>
        <a:effectLst/>
      </p:bgPr>
    </p:bg>
    <p:spTree>
      <p:nvGrpSpPr>
        <p:cNvPr id="1" name="">
          <a:extLst>
            <a:ext uri="{FF2B5EF4-FFF2-40B4-BE49-F238E27FC236}">
              <a16:creationId xmlns:a16="http://schemas.microsoft.com/office/drawing/2014/main" id="{55647289-D351-1A19-D568-EBCF3234AC47}"/>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B072A37-DE59-4348-6696-4CF28A1DADFE}"/>
              </a:ext>
            </a:extLst>
          </p:cNvPr>
          <p:cNvSpPr>
            <a:spLocks noGrp="1"/>
          </p:cNvSpPr>
          <p:nvPr>
            <p:ph type="title"/>
          </p:nvPr>
        </p:nvSpPr>
        <p:spPr>
          <a:xfrm>
            <a:off x="1383564" y="348865"/>
            <a:ext cx="9718111" cy="1576446"/>
          </a:xfrm>
        </p:spPr>
        <p:txBody>
          <a:bodyPr anchor="ctr">
            <a:normAutofit/>
          </a:bodyPr>
          <a:lstStyle/>
          <a:p>
            <a:r>
              <a:rPr lang="en-IN" sz="4000" dirty="0">
                <a:solidFill>
                  <a:srgbClr val="FFFFFF"/>
                </a:solidFill>
                <a:latin typeface="Aptos" panose="020B0004020202020204" pitchFamily="34" charset="0"/>
              </a:rPr>
              <a:t>Table of Contents</a:t>
            </a:r>
          </a:p>
        </p:txBody>
      </p:sp>
      <p:graphicFrame>
        <p:nvGraphicFramePr>
          <p:cNvPr id="5" name="Content Placeholder 2">
            <a:extLst>
              <a:ext uri="{FF2B5EF4-FFF2-40B4-BE49-F238E27FC236}">
                <a16:creationId xmlns:a16="http://schemas.microsoft.com/office/drawing/2014/main" id="{05B83552-ABBE-5893-D689-A73A97C6DB69}"/>
              </a:ext>
            </a:extLst>
          </p:cNvPr>
          <p:cNvGraphicFramePr>
            <a:graphicFrameLocks noGrp="1"/>
          </p:cNvGraphicFramePr>
          <p:nvPr>
            <p:ph idx="1"/>
            <p:extLst>
              <p:ext uri="{D42A27DB-BD31-4B8C-83A1-F6EECF244321}">
                <p14:modId xmlns:p14="http://schemas.microsoft.com/office/powerpoint/2010/main" val="3459257611"/>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56512662"/>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EEBE1"/>
        </a:solidFill>
        <a:effectLst/>
      </p:bgPr>
    </p:bg>
    <p:spTree>
      <p:nvGrpSpPr>
        <p:cNvPr id="1" name="">
          <a:extLst>
            <a:ext uri="{FF2B5EF4-FFF2-40B4-BE49-F238E27FC236}">
              <a16:creationId xmlns:a16="http://schemas.microsoft.com/office/drawing/2014/main" id="{B6EB5865-487F-87D1-A43C-F885A1FF717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A6BCCAE-788A-815E-C08B-C5FCDDD4D9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2" name="Freeform: Shape 11">
            <a:extLst>
              <a:ext uri="{FF2B5EF4-FFF2-40B4-BE49-F238E27FC236}">
                <a16:creationId xmlns:a16="http://schemas.microsoft.com/office/drawing/2014/main" id="{F2D3031D-CC88-CE12-F1F5-2B2D878B17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46BA7B6E-8A4A-B431-1ACE-C603EF2A1D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62B6E06-5AC6-776A-FD90-D966B0414020}"/>
              </a:ext>
            </a:extLst>
          </p:cNvPr>
          <p:cNvSpPr>
            <a:spLocks noGrp="1"/>
          </p:cNvSpPr>
          <p:nvPr>
            <p:ph type="title"/>
          </p:nvPr>
        </p:nvSpPr>
        <p:spPr>
          <a:xfrm>
            <a:off x="371856" y="973989"/>
            <a:ext cx="3438144" cy="1451202"/>
          </a:xfrm>
        </p:spPr>
        <p:txBody>
          <a:bodyPr anchor="ctr">
            <a:normAutofit fontScale="90000"/>
          </a:bodyPr>
          <a:lstStyle/>
          <a:p>
            <a:r>
              <a:rPr lang="en-IN" sz="2400" dirty="0">
                <a:latin typeface="Aptos" panose="020B0004020202020204" pitchFamily="34" charset="0"/>
              </a:rPr>
              <a:t>Objective: </a:t>
            </a:r>
            <a:r>
              <a:rPr lang="en-IN" sz="2200" dirty="0">
                <a:solidFill>
                  <a:srgbClr val="080808"/>
                </a:solidFill>
                <a:latin typeface="Aptos" panose="020B0004020202020204" pitchFamily="34" charset="0"/>
              </a:rPr>
              <a:t>What is the total revenue generated by ITC Hotels, and how does it vary across different hotels and room categories?</a:t>
            </a:r>
            <a:br>
              <a:rPr lang="en-IN" sz="2400" dirty="0">
                <a:solidFill>
                  <a:srgbClr val="080808"/>
                </a:solidFill>
              </a:rPr>
            </a:br>
            <a:endParaRPr lang="en-IN" sz="2400" dirty="0">
              <a:solidFill>
                <a:srgbClr val="080808"/>
              </a:solidFill>
              <a:latin typeface="Aptos" panose="020B00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A74CA740-2FD2-8CE7-0A74-1D604BA39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8" name="Rectangle 17">
            <a:extLst>
              <a:ext uri="{FF2B5EF4-FFF2-40B4-BE49-F238E27FC236}">
                <a16:creationId xmlns:a16="http://schemas.microsoft.com/office/drawing/2014/main" id="{CE6B0D41-F0CE-EA72-1DC5-1E7D83044B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8D9734EF-199B-5870-858F-F1739C839019}"/>
              </a:ext>
            </a:extLst>
          </p:cNvPr>
          <p:cNvSpPr>
            <a:spLocks noGrp="1"/>
          </p:cNvSpPr>
          <p:nvPr>
            <p:ph idx="1"/>
          </p:nvPr>
        </p:nvSpPr>
        <p:spPr>
          <a:xfrm>
            <a:off x="371094" y="2718054"/>
            <a:ext cx="3438906" cy="3207258"/>
          </a:xfrm>
        </p:spPr>
        <p:txBody>
          <a:bodyPr anchor="t">
            <a:normAutofit/>
          </a:bodyPr>
          <a:lstStyle/>
          <a:p>
            <a:pPr marL="0" lvl="0" indent="0">
              <a:buNone/>
            </a:pPr>
            <a:r>
              <a:rPr lang="en-IN" sz="1800" dirty="0">
                <a:latin typeface="Aptos" panose="020B0004020202020204" pitchFamily="34" charset="0"/>
              </a:rPr>
              <a:t>Solution: </a:t>
            </a:r>
            <a:endParaRPr lang="en-IN" sz="1800" dirty="0">
              <a:solidFill>
                <a:srgbClr val="080808">
                  <a:alpha val="60000"/>
                </a:srgbClr>
              </a:solidFill>
              <a:latin typeface="Aptos" panose="020B0004020202020204" pitchFamily="34" charset="0"/>
            </a:endParaRPr>
          </a:p>
          <a:p>
            <a:pPr marL="0" lvl="0" indent="0">
              <a:buNone/>
            </a:pPr>
            <a:r>
              <a:rPr lang="en-IN" sz="1800" dirty="0">
                <a:solidFill>
                  <a:srgbClr val="080808"/>
                </a:solidFill>
                <a:latin typeface="Aptos" panose="020B0004020202020204" pitchFamily="34" charset="0"/>
              </a:rPr>
              <a:t>To achieve the above I have created a measure which calculate the total revenue by using Sum and then used matrix to show total revenue generated by each hotels and room categories.</a:t>
            </a:r>
          </a:p>
        </p:txBody>
      </p:sp>
      <p:sp>
        <p:nvSpPr>
          <p:cNvPr id="4" name="TextBox 3">
            <a:extLst>
              <a:ext uri="{FF2B5EF4-FFF2-40B4-BE49-F238E27FC236}">
                <a16:creationId xmlns:a16="http://schemas.microsoft.com/office/drawing/2014/main" id="{40C2A550-F922-4EFF-DFC8-94025A6576D7}"/>
              </a:ext>
            </a:extLst>
          </p:cNvPr>
          <p:cNvSpPr txBox="1"/>
          <p:nvPr/>
        </p:nvSpPr>
        <p:spPr>
          <a:xfrm>
            <a:off x="1897626" y="68826"/>
            <a:ext cx="8318090" cy="523220"/>
          </a:xfrm>
          <a:prstGeom prst="rect">
            <a:avLst/>
          </a:prstGeom>
          <a:noFill/>
        </p:spPr>
        <p:txBody>
          <a:bodyPr wrap="square" rtlCol="0">
            <a:spAutoFit/>
          </a:bodyPr>
          <a:lstStyle/>
          <a:p>
            <a:pPr algn="ctr"/>
            <a:r>
              <a:rPr lang="en-IN" sz="2800" b="1" dirty="0">
                <a:latin typeface="Aptos" panose="020B0004020202020204" pitchFamily="34" charset="0"/>
                <a:cs typeface="Arial" panose="020B0604020202020204" pitchFamily="34" charset="0"/>
              </a:rPr>
              <a:t>Financial Overview &amp; Revenue Performance</a:t>
            </a:r>
            <a:endParaRPr lang="en-IN" sz="2800" b="1" dirty="0"/>
          </a:p>
        </p:txBody>
      </p:sp>
      <p:pic>
        <p:nvPicPr>
          <p:cNvPr id="6" name="Picture 5">
            <a:extLst>
              <a:ext uri="{FF2B5EF4-FFF2-40B4-BE49-F238E27FC236}">
                <a16:creationId xmlns:a16="http://schemas.microsoft.com/office/drawing/2014/main" id="{6CE2187B-0C41-F371-BABC-779E134B8DF7}"/>
              </a:ext>
            </a:extLst>
          </p:cNvPr>
          <p:cNvPicPr>
            <a:picLocks noChangeAspect="1"/>
          </p:cNvPicPr>
          <p:nvPr/>
        </p:nvPicPr>
        <p:blipFill>
          <a:blip r:embed="rId2"/>
          <a:stretch>
            <a:fillRect/>
          </a:stretch>
        </p:blipFill>
        <p:spPr>
          <a:xfrm>
            <a:off x="4931660" y="1268807"/>
            <a:ext cx="6888484" cy="649375"/>
          </a:xfrm>
          <a:prstGeom prst="rect">
            <a:avLst/>
          </a:prstGeom>
          <a:effectLst>
            <a:glow rad="228600">
              <a:schemeClr val="tx2">
                <a:lumMod val="75000"/>
                <a:alpha val="40000"/>
              </a:schemeClr>
            </a:glow>
            <a:outerShdw blurRad="508000" dist="101600" dir="5400000" algn="tl" rotWithShape="0">
              <a:prstClr val="black">
                <a:alpha val="10000"/>
              </a:prstClr>
            </a:outerShdw>
          </a:effectLst>
        </p:spPr>
      </p:pic>
      <p:pic>
        <p:nvPicPr>
          <p:cNvPr id="7" name="Picture 6">
            <a:extLst>
              <a:ext uri="{FF2B5EF4-FFF2-40B4-BE49-F238E27FC236}">
                <a16:creationId xmlns:a16="http://schemas.microsoft.com/office/drawing/2014/main" id="{8B37636D-570B-8D8C-0D27-338A5FCC24FE}"/>
              </a:ext>
            </a:extLst>
          </p:cNvPr>
          <p:cNvPicPr>
            <a:picLocks noChangeAspect="1"/>
          </p:cNvPicPr>
          <p:nvPr/>
        </p:nvPicPr>
        <p:blipFill>
          <a:blip r:embed="rId3"/>
          <a:stretch>
            <a:fillRect/>
          </a:stretch>
        </p:blipFill>
        <p:spPr>
          <a:xfrm>
            <a:off x="6441741" y="2650227"/>
            <a:ext cx="3764190" cy="3105458"/>
          </a:xfrm>
          <a:prstGeom prst="rect">
            <a:avLst/>
          </a:prstGeom>
          <a:effectLst>
            <a:glow rad="228600">
              <a:schemeClr val="tx2">
                <a:lumMod val="75000"/>
                <a:alpha val="40000"/>
              </a:schemeClr>
            </a:glow>
            <a:outerShdw blurRad="508000" dist="101600" dir="5400000" algn="tl" rotWithShape="0">
              <a:prstClr val="black">
                <a:alpha val="10000"/>
              </a:prstClr>
            </a:outerShdw>
          </a:effectLst>
        </p:spPr>
      </p:pic>
      <p:pic>
        <p:nvPicPr>
          <p:cNvPr id="9" name="Picture 8">
            <a:extLst>
              <a:ext uri="{FF2B5EF4-FFF2-40B4-BE49-F238E27FC236}">
                <a16:creationId xmlns:a16="http://schemas.microsoft.com/office/drawing/2014/main" id="{48E59675-7E6B-23F9-C555-FC275146595E}"/>
              </a:ext>
            </a:extLst>
          </p:cNvPr>
          <p:cNvPicPr>
            <a:picLocks noChangeAspect="1"/>
          </p:cNvPicPr>
          <p:nvPr/>
        </p:nvPicPr>
        <p:blipFill>
          <a:blip r:embed="rId4"/>
          <a:stretch>
            <a:fillRect/>
          </a:stretch>
        </p:blipFill>
        <p:spPr>
          <a:xfrm>
            <a:off x="5477467" y="6051923"/>
            <a:ext cx="1430571" cy="1144457"/>
          </a:xfrm>
          <a:prstGeom prst="rect">
            <a:avLst/>
          </a:prstGeom>
        </p:spPr>
      </p:pic>
    </p:spTree>
    <p:extLst>
      <p:ext uri="{BB962C8B-B14F-4D97-AF65-F5344CB8AC3E}">
        <p14:creationId xmlns:p14="http://schemas.microsoft.com/office/powerpoint/2010/main" val="10657299"/>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EEBE1"/>
        </a:solidFill>
        <a:effectLst/>
      </p:bgPr>
    </p:bg>
    <p:spTree>
      <p:nvGrpSpPr>
        <p:cNvPr id="1" name="">
          <a:extLst>
            <a:ext uri="{FF2B5EF4-FFF2-40B4-BE49-F238E27FC236}">
              <a16:creationId xmlns:a16="http://schemas.microsoft.com/office/drawing/2014/main" id="{741E8B0E-D6DA-1C3F-9AE0-E47ADBA2749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956F8F-726B-07DA-BBB9-3CF07FAAB2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2" name="Freeform: Shape 11">
            <a:extLst>
              <a:ext uri="{FF2B5EF4-FFF2-40B4-BE49-F238E27FC236}">
                <a16:creationId xmlns:a16="http://schemas.microsoft.com/office/drawing/2014/main" id="{E025A8BB-F967-A57D-A7DF-91A869B8E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6942B64D-78C7-5F32-2DCB-C2C832A532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7860711-C314-F329-B9A5-6F1F24164E23}"/>
              </a:ext>
            </a:extLst>
          </p:cNvPr>
          <p:cNvSpPr>
            <a:spLocks noGrp="1"/>
          </p:cNvSpPr>
          <p:nvPr>
            <p:ph type="title"/>
          </p:nvPr>
        </p:nvSpPr>
        <p:spPr>
          <a:xfrm>
            <a:off x="450838" y="1302852"/>
            <a:ext cx="3438144" cy="1212510"/>
          </a:xfrm>
        </p:spPr>
        <p:txBody>
          <a:bodyPr anchor="ctr">
            <a:normAutofit fontScale="90000"/>
          </a:bodyPr>
          <a:lstStyle/>
          <a:p>
            <a:r>
              <a:rPr lang="en-IN" sz="2700" dirty="0">
                <a:latin typeface="Aptos" panose="020B0004020202020204" pitchFamily="34" charset="0"/>
              </a:rPr>
              <a:t>Objective: </a:t>
            </a:r>
            <a:r>
              <a:rPr lang="en-IN" sz="2700" dirty="0">
                <a:solidFill>
                  <a:srgbClr val="080808"/>
                </a:solidFill>
                <a:latin typeface="Aptos" panose="020B0004020202020204" pitchFamily="34" charset="0"/>
              </a:rPr>
              <a:t>What is the cumulative revenue growth over time?</a:t>
            </a:r>
            <a:br>
              <a:rPr lang="en-IN" sz="2000" dirty="0">
                <a:solidFill>
                  <a:srgbClr val="080808"/>
                </a:solidFill>
                <a:latin typeface="Aptos" panose="020B0004020202020204" pitchFamily="34" charset="0"/>
              </a:rPr>
            </a:br>
            <a:endParaRPr lang="en-IN" sz="2000" dirty="0">
              <a:solidFill>
                <a:srgbClr val="080808"/>
              </a:solidFill>
              <a:latin typeface="Aptos" panose="020B00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C2B4307B-063F-994E-E99A-B0B811B63B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8" name="Rectangle 17">
            <a:extLst>
              <a:ext uri="{FF2B5EF4-FFF2-40B4-BE49-F238E27FC236}">
                <a16:creationId xmlns:a16="http://schemas.microsoft.com/office/drawing/2014/main" id="{E1645DC1-FEF8-BEE8-E1D9-CA3B8316A8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21427301-1AD4-8A8E-1633-ED1717805EED}"/>
              </a:ext>
            </a:extLst>
          </p:cNvPr>
          <p:cNvSpPr>
            <a:spLocks noGrp="1"/>
          </p:cNvSpPr>
          <p:nvPr>
            <p:ph idx="1"/>
          </p:nvPr>
        </p:nvSpPr>
        <p:spPr>
          <a:xfrm>
            <a:off x="371094" y="2718054"/>
            <a:ext cx="3438906" cy="3207258"/>
          </a:xfrm>
        </p:spPr>
        <p:txBody>
          <a:bodyPr anchor="t">
            <a:normAutofit fontScale="92500" lnSpcReduction="10000"/>
          </a:bodyPr>
          <a:lstStyle/>
          <a:p>
            <a:pPr marL="0" lvl="0" indent="0">
              <a:buNone/>
            </a:pPr>
            <a:r>
              <a:rPr lang="en-IN" sz="1800" dirty="0">
                <a:latin typeface="Aptos" panose="020B0004020202020204" pitchFamily="34" charset="0"/>
              </a:rPr>
              <a:t>Solution: </a:t>
            </a:r>
            <a:endParaRPr lang="en-IN" sz="1800" dirty="0">
              <a:solidFill>
                <a:srgbClr val="000000">
                  <a:alpha val="60000"/>
                </a:srgbClr>
              </a:solidFill>
              <a:latin typeface="Aptos" panose="020B0004020202020204" pitchFamily="34" charset="0"/>
            </a:endParaRPr>
          </a:p>
          <a:p>
            <a:pPr marL="0" lvl="0" indent="0">
              <a:buNone/>
            </a:pPr>
            <a:r>
              <a:rPr lang="en-US" sz="1800" dirty="0">
                <a:solidFill>
                  <a:srgbClr val="000000"/>
                </a:solidFill>
                <a:latin typeface="Aptos" panose="020B0004020202020204" pitchFamily="34" charset="0"/>
              </a:rPr>
              <a:t>CALCULATED [</a:t>
            </a:r>
            <a:r>
              <a:rPr lang="en-US" sz="1800" dirty="0" err="1">
                <a:solidFill>
                  <a:srgbClr val="000000"/>
                </a:solidFill>
                <a:latin typeface="Aptos" panose="020B0004020202020204" pitchFamily="34" charset="0"/>
              </a:rPr>
              <a:t>revenue_generated</a:t>
            </a:r>
            <a:r>
              <a:rPr lang="en-US" sz="1800" dirty="0">
                <a:solidFill>
                  <a:srgbClr val="000000"/>
                </a:solidFill>
                <a:latin typeface="Aptos" panose="020B0004020202020204" pitchFamily="34" charset="0"/>
              </a:rPr>
              <a:t>] with </a:t>
            </a:r>
          </a:p>
          <a:p>
            <a:pPr marL="0" lvl="0" indent="0">
              <a:buNone/>
            </a:pPr>
            <a:r>
              <a:rPr lang="en-US" sz="1800" dirty="0">
                <a:solidFill>
                  <a:srgbClr val="000000"/>
                </a:solidFill>
                <a:latin typeface="Aptos" panose="020B0004020202020204" pitchFamily="34" charset="0"/>
              </a:rPr>
              <a:t>FILTER(ALL('calendar’), ---) removes existing filters on the calendar table, allowing the calculation to consider all dates, not just the filtered subset.</a:t>
            </a:r>
          </a:p>
          <a:p>
            <a:pPr marL="0" lvl="0" indent="0">
              <a:buNone/>
            </a:pPr>
            <a:r>
              <a:rPr lang="en-US" sz="1800" dirty="0">
                <a:solidFill>
                  <a:srgbClr val="000000"/>
                </a:solidFill>
                <a:latin typeface="Aptos" panose="020B0004020202020204" pitchFamily="34" charset="0"/>
              </a:rPr>
              <a:t>'calendar'[Date] &lt;= MAX('calendar'[Date]) creates a running total logic, where revenue is summed up to the current date in the context.</a:t>
            </a:r>
            <a:endParaRPr lang="en-IN" sz="1800" dirty="0">
              <a:solidFill>
                <a:srgbClr val="000000"/>
              </a:solidFill>
              <a:latin typeface="Aptos" panose="020B0004020202020204" pitchFamily="34" charset="0"/>
            </a:endParaRPr>
          </a:p>
        </p:txBody>
      </p:sp>
      <p:sp>
        <p:nvSpPr>
          <p:cNvPr id="4" name="TextBox 3">
            <a:extLst>
              <a:ext uri="{FF2B5EF4-FFF2-40B4-BE49-F238E27FC236}">
                <a16:creationId xmlns:a16="http://schemas.microsoft.com/office/drawing/2014/main" id="{815AD2D9-7531-1F2D-16E8-3BAC7351EB5E}"/>
              </a:ext>
            </a:extLst>
          </p:cNvPr>
          <p:cNvSpPr txBox="1"/>
          <p:nvPr/>
        </p:nvSpPr>
        <p:spPr>
          <a:xfrm>
            <a:off x="1897626" y="68826"/>
            <a:ext cx="8318090" cy="523220"/>
          </a:xfrm>
          <a:prstGeom prst="rect">
            <a:avLst/>
          </a:prstGeom>
          <a:noFill/>
        </p:spPr>
        <p:txBody>
          <a:bodyPr wrap="square" rtlCol="0">
            <a:spAutoFit/>
          </a:bodyPr>
          <a:lstStyle/>
          <a:p>
            <a:pPr algn="ctr"/>
            <a:r>
              <a:rPr lang="en-IN" sz="2800" b="1" dirty="0">
                <a:latin typeface="Aptos" panose="020B0004020202020204" pitchFamily="34" charset="0"/>
                <a:cs typeface="Arial" panose="020B0604020202020204" pitchFamily="34" charset="0"/>
              </a:rPr>
              <a:t>Financial Overview &amp; Revenue Performance</a:t>
            </a:r>
            <a:endParaRPr lang="en-IN" sz="2800" b="1" dirty="0"/>
          </a:p>
        </p:txBody>
      </p:sp>
      <p:pic>
        <p:nvPicPr>
          <p:cNvPr id="8" name="Picture 7">
            <a:extLst>
              <a:ext uri="{FF2B5EF4-FFF2-40B4-BE49-F238E27FC236}">
                <a16:creationId xmlns:a16="http://schemas.microsoft.com/office/drawing/2014/main" id="{1D2189D4-CB44-6A81-DE1E-6895E74F39FD}"/>
              </a:ext>
            </a:extLst>
          </p:cNvPr>
          <p:cNvPicPr>
            <a:picLocks noChangeAspect="1"/>
          </p:cNvPicPr>
          <p:nvPr/>
        </p:nvPicPr>
        <p:blipFill>
          <a:blip r:embed="rId2"/>
          <a:stretch>
            <a:fillRect/>
          </a:stretch>
        </p:blipFill>
        <p:spPr>
          <a:xfrm>
            <a:off x="6778721" y="3614587"/>
            <a:ext cx="1915217" cy="1143191"/>
          </a:xfrm>
          <a:prstGeom prst="rect">
            <a:avLst/>
          </a:prstGeom>
          <a:effectLst>
            <a:glow rad="139700">
              <a:schemeClr val="tx2">
                <a:lumMod val="75000"/>
                <a:alpha val="40000"/>
              </a:schemeClr>
            </a:glow>
          </a:effectLst>
        </p:spPr>
      </p:pic>
      <p:pic>
        <p:nvPicPr>
          <p:cNvPr id="11" name="Picture 10">
            <a:extLst>
              <a:ext uri="{FF2B5EF4-FFF2-40B4-BE49-F238E27FC236}">
                <a16:creationId xmlns:a16="http://schemas.microsoft.com/office/drawing/2014/main" id="{EFE235A5-20CF-9006-AE3E-663A9F2FD4D1}"/>
              </a:ext>
            </a:extLst>
          </p:cNvPr>
          <p:cNvPicPr>
            <a:picLocks noChangeAspect="1"/>
          </p:cNvPicPr>
          <p:nvPr/>
        </p:nvPicPr>
        <p:blipFill>
          <a:blip r:embed="rId3"/>
          <a:stretch>
            <a:fillRect/>
          </a:stretch>
        </p:blipFill>
        <p:spPr>
          <a:xfrm>
            <a:off x="5550698" y="1883564"/>
            <a:ext cx="5867039" cy="738112"/>
          </a:xfrm>
          <a:prstGeom prst="rect">
            <a:avLst/>
          </a:prstGeom>
          <a:effectLst>
            <a:glow rad="139700">
              <a:srgbClr val="000000">
                <a:alpha val="40000"/>
              </a:srgbClr>
            </a:glow>
          </a:effectLst>
        </p:spPr>
      </p:pic>
      <p:pic>
        <p:nvPicPr>
          <p:cNvPr id="5" name="Picture 4">
            <a:extLst>
              <a:ext uri="{FF2B5EF4-FFF2-40B4-BE49-F238E27FC236}">
                <a16:creationId xmlns:a16="http://schemas.microsoft.com/office/drawing/2014/main" id="{7875F292-5A21-BF13-DBF7-E0B6453651D6}"/>
              </a:ext>
            </a:extLst>
          </p:cNvPr>
          <p:cNvPicPr>
            <a:picLocks noChangeAspect="1"/>
          </p:cNvPicPr>
          <p:nvPr/>
        </p:nvPicPr>
        <p:blipFill>
          <a:blip r:embed="rId4"/>
          <a:stretch>
            <a:fillRect/>
          </a:stretch>
        </p:blipFill>
        <p:spPr>
          <a:xfrm>
            <a:off x="5477467" y="6051923"/>
            <a:ext cx="1430571" cy="1144457"/>
          </a:xfrm>
          <a:prstGeom prst="rect">
            <a:avLst/>
          </a:prstGeom>
        </p:spPr>
      </p:pic>
    </p:spTree>
    <p:extLst>
      <p:ext uri="{BB962C8B-B14F-4D97-AF65-F5344CB8AC3E}">
        <p14:creationId xmlns:p14="http://schemas.microsoft.com/office/powerpoint/2010/main" val="458619746"/>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EEBE1"/>
        </a:solidFill>
        <a:effectLst/>
      </p:bgPr>
    </p:bg>
    <p:spTree>
      <p:nvGrpSpPr>
        <p:cNvPr id="1" name="">
          <a:extLst>
            <a:ext uri="{FF2B5EF4-FFF2-40B4-BE49-F238E27FC236}">
              <a16:creationId xmlns:a16="http://schemas.microsoft.com/office/drawing/2014/main" id="{FED73077-E8E0-B5FB-5E49-3C754F19CBD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7EB0031-1B0B-B448-DEDD-16014DE2F6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1E4E74FC-B72C-D528-A389-532E2FDEB0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13F8DA58-DCF7-C45F-1894-D3DB3A1E93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FA2A90C-C726-EF5A-9C43-D8E07FE0513C}"/>
              </a:ext>
            </a:extLst>
          </p:cNvPr>
          <p:cNvSpPr>
            <a:spLocks noGrp="1"/>
          </p:cNvSpPr>
          <p:nvPr>
            <p:ph type="title"/>
          </p:nvPr>
        </p:nvSpPr>
        <p:spPr>
          <a:xfrm>
            <a:off x="459981" y="1109346"/>
            <a:ext cx="3438144" cy="1512329"/>
          </a:xfrm>
        </p:spPr>
        <p:txBody>
          <a:bodyPr anchor="ctr">
            <a:noAutofit/>
          </a:bodyPr>
          <a:lstStyle/>
          <a:p>
            <a:r>
              <a:rPr lang="en-IN" sz="2400" dirty="0">
                <a:latin typeface="Aptos" panose="020B0004020202020204" pitchFamily="34" charset="0"/>
              </a:rPr>
              <a:t>Objective: </a:t>
            </a:r>
            <a:r>
              <a:rPr lang="en-IN" sz="2400" dirty="0">
                <a:solidFill>
                  <a:srgbClr val="080808"/>
                </a:solidFill>
                <a:latin typeface="Aptos" panose="020B0004020202020204" pitchFamily="34" charset="0"/>
              </a:rPr>
              <a:t>How has the revenue grown month-over-month (MoM) and week-over-week (WoW)?</a:t>
            </a:r>
            <a:br>
              <a:rPr lang="en-IN" sz="2400" dirty="0">
                <a:solidFill>
                  <a:srgbClr val="080808"/>
                </a:solidFill>
                <a:latin typeface="Aptos" panose="020B0004020202020204" pitchFamily="34" charset="0"/>
              </a:rPr>
            </a:br>
            <a:endParaRPr lang="en-IN" sz="2400" dirty="0">
              <a:solidFill>
                <a:srgbClr val="080808"/>
              </a:solidFill>
              <a:latin typeface="Aptos" panose="020B00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8D3FBEE1-23DB-3141-AB8E-3CD3E053E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5F253AF8-95B6-DF48-8EEE-0E20A975F9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698F3C1B-23FE-DD19-1A10-5C0EDABA9E87}"/>
              </a:ext>
            </a:extLst>
          </p:cNvPr>
          <p:cNvSpPr>
            <a:spLocks noGrp="1"/>
          </p:cNvSpPr>
          <p:nvPr>
            <p:ph idx="1"/>
          </p:nvPr>
        </p:nvSpPr>
        <p:spPr>
          <a:xfrm>
            <a:off x="371094" y="2718054"/>
            <a:ext cx="3438906" cy="3207258"/>
          </a:xfrm>
        </p:spPr>
        <p:txBody>
          <a:bodyPr anchor="t">
            <a:normAutofit fontScale="92500" lnSpcReduction="10000"/>
          </a:bodyPr>
          <a:lstStyle/>
          <a:p>
            <a:pPr marL="0" lvl="0" indent="0">
              <a:buNone/>
            </a:pPr>
            <a:r>
              <a:rPr lang="en-IN" sz="1800" dirty="0">
                <a:latin typeface="Aptos" panose="020B0004020202020204" pitchFamily="34" charset="0"/>
              </a:rPr>
              <a:t>Solution: </a:t>
            </a:r>
            <a:endParaRPr lang="en-IN" sz="1800" dirty="0">
              <a:solidFill>
                <a:srgbClr val="000000">
                  <a:alpha val="60000"/>
                </a:srgbClr>
              </a:solidFill>
              <a:latin typeface="Aptos" panose="020B0004020202020204" pitchFamily="34" charset="0"/>
            </a:endParaRPr>
          </a:p>
          <a:p>
            <a:pPr marL="0" lvl="0" indent="0">
              <a:buNone/>
            </a:pPr>
            <a:r>
              <a:rPr lang="en-IN" sz="1800" b="1" dirty="0">
                <a:solidFill>
                  <a:srgbClr val="080808"/>
                </a:solidFill>
                <a:latin typeface="Aptos" panose="020B0004020202020204" pitchFamily="34" charset="0"/>
              </a:rPr>
              <a:t>MoM:</a:t>
            </a:r>
            <a:r>
              <a:rPr lang="en-IN" sz="1800" dirty="0">
                <a:solidFill>
                  <a:srgbClr val="080808"/>
                </a:solidFill>
                <a:latin typeface="Aptos" panose="020B0004020202020204" pitchFamily="34" charset="0"/>
              </a:rPr>
              <a:t> </a:t>
            </a:r>
          </a:p>
          <a:p>
            <a:pPr marL="0" lvl="0" indent="0">
              <a:buNone/>
            </a:pPr>
            <a:r>
              <a:rPr lang="en-US" sz="1800" b="1" dirty="0">
                <a:solidFill>
                  <a:srgbClr val="080808"/>
                </a:solidFill>
                <a:latin typeface="Aptos" panose="020B0004020202020204" pitchFamily="34" charset="0"/>
              </a:rPr>
              <a:t>VAR </a:t>
            </a:r>
            <a:r>
              <a:rPr lang="en-US" sz="1800" b="1" dirty="0" err="1">
                <a:solidFill>
                  <a:srgbClr val="080808"/>
                </a:solidFill>
                <a:latin typeface="Aptos" panose="020B0004020202020204" pitchFamily="34" charset="0"/>
              </a:rPr>
              <a:t>prev_month</a:t>
            </a:r>
            <a:r>
              <a:rPr lang="en-US" sz="1800" dirty="0">
                <a:solidFill>
                  <a:srgbClr val="080808"/>
                </a:solidFill>
                <a:latin typeface="Aptos" panose="020B0004020202020204" pitchFamily="34" charset="0"/>
              </a:rPr>
              <a:t>: Retrieves revenue from the same date context, but shifted back by 1 month using DATEADD.</a:t>
            </a:r>
          </a:p>
          <a:p>
            <a:pPr marL="0" lvl="0" indent="0">
              <a:buNone/>
            </a:pPr>
            <a:r>
              <a:rPr lang="en-US" sz="1800" b="1" dirty="0">
                <a:solidFill>
                  <a:srgbClr val="080808"/>
                </a:solidFill>
                <a:latin typeface="Aptos" panose="020B0004020202020204" pitchFamily="34" charset="0"/>
              </a:rPr>
              <a:t>RETURN DIVIDE(): </a:t>
            </a:r>
            <a:r>
              <a:rPr lang="en-US" sz="1800" dirty="0">
                <a:solidFill>
                  <a:srgbClr val="080808"/>
                </a:solidFill>
                <a:latin typeface="Aptos" panose="020B0004020202020204" pitchFamily="34" charset="0"/>
              </a:rPr>
              <a:t>Calculates the difference between current and previous month's revenue. Divides the difference by the previous month's revenue. Used DIVIDE(_, _, 0) to avoid errors from division by zero — returns 0 instead.</a:t>
            </a:r>
            <a:endParaRPr lang="en-IN" sz="1800" dirty="0">
              <a:solidFill>
                <a:srgbClr val="080808"/>
              </a:solidFill>
              <a:latin typeface="Aptos" panose="020B0004020202020204" pitchFamily="34" charset="0"/>
            </a:endParaRPr>
          </a:p>
        </p:txBody>
      </p:sp>
      <p:sp>
        <p:nvSpPr>
          <p:cNvPr id="4" name="TextBox 3">
            <a:extLst>
              <a:ext uri="{FF2B5EF4-FFF2-40B4-BE49-F238E27FC236}">
                <a16:creationId xmlns:a16="http://schemas.microsoft.com/office/drawing/2014/main" id="{5E565AAF-2B24-2DA7-ED36-FF71515CA75C}"/>
              </a:ext>
            </a:extLst>
          </p:cNvPr>
          <p:cNvSpPr txBox="1"/>
          <p:nvPr/>
        </p:nvSpPr>
        <p:spPr>
          <a:xfrm>
            <a:off x="1897626" y="68826"/>
            <a:ext cx="8318090" cy="523220"/>
          </a:xfrm>
          <a:prstGeom prst="rect">
            <a:avLst/>
          </a:prstGeom>
          <a:noFill/>
        </p:spPr>
        <p:txBody>
          <a:bodyPr wrap="square" rtlCol="0">
            <a:spAutoFit/>
          </a:bodyPr>
          <a:lstStyle/>
          <a:p>
            <a:pPr algn="ctr"/>
            <a:r>
              <a:rPr lang="en-IN" sz="2800" b="1" dirty="0">
                <a:latin typeface="Aptos" panose="020B0004020202020204" pitchFamily="34" charset="0"/>
                <a:cs typeface="Arial" panose="020B0604020202020204" pitchFamily="34" charset="0"/>
              </a:rPr>
              <a:t>Financial Overview &amp; Revenue Performance</a:t>
            </a:r>
            <a:endParaRPr lang="en-IN" sz="2800" b="1" dirty="0"/>
          </a:p>
        </p:txBody>
      </p:sp>
      <p:pic>
        <p:nvPicPr>
          <p:cNvPr id="5" name="Picture 4">
            <a:extLst>
              <a:ext uri="{FF2B5EF4-FFF2-40B4-BE49-F238E27FC236}">
                <a16:creationId xmlns:a16="http://schemas.microsoft.com/office/drawing/2014/main" id="{E6519C69-4693-1B91-CE4A-FF6D59D0901B}"/>
              </a:ext>
            </a:extLst>
          </p:cNvPr>
          <p:cNvPicPr>
            <a:picLocks noChangeAspect="1"/>
          </p:cNvPicPr>
          <p:nvPr/>
        </p:nvPicPr>
        <p:blipFill>
          <a:blip r:embed="rId2"/>
          <a:stretch>
            <a:fillRect/>
          </a:stretch>
        </p:blipFill>
        <p:spPr>
          <a:xfrm>
            <a:off x="4842422" y="2307666"/>
            <a:ext cx="6914485" cy="691444"/>
          </a:xfrm>
          <a:prstGeom prst="rect">
            <a:avLst/>
          </a:prstGeom>
          <a:effectLst>
            <a:glow rad="139700">
              <a:schemeClr val="tx2">
                <a:lumMod val="75000"/>
                <a:alpha val="40000"/>
              </a:schemeClr>
            </a:glow>
          </a:effectLst>
        </p:spPr>
      </p:pic>
      <p:pic>
        <p:nvPicPr>
          <p:cNvPr id="7" name="Picture 6">
            <a:extLst>
              <a:ext uri="{FF2B5EF4-FFF2-40B4-BE49-F238E27FC236}">
                <a16:creationId xmlns:a16="http://schemas.microsoft.com/office/drawing/2014/main" id="{6E349B15-771D-2CF1-9A50-5827EDBBEE8D}"/>
              </a:ext>
            </a:extLst>
          </p:cNvPr>
          <p:cNvPicPr>
            <a:picLocks noChangeAspect="1"/>
          </p:cNvPicPr>
          <p:nvPr/>
        </p:nvPicPr>
        <p:blipFill>
          <a:blip r:embed="rId3"/>
          <a:stretch>
            <a:fillRect/>
          </a:stretch>
        </p:blipFill>
        <p:spPr>
          <a:xfrm>
            <a:off x="7552624" y="3657429"/>
            <a:ext cx="1974833" cy="1084987"/>
          </a:xfrm>
          <a:prstGeom prst="rect">
            <a:avLst/>
          </a:prstGeom>
          <a:effectLst>
            <a:glow rad="139700">
              <a:schemeClr val="tx2">
                <a:lumMod val="75000"/>
                <a:alpha val="40000"/>
              </a:schemeClr>
            </a:glow>
          </a:effectLst>
        </p:spPr>
      </p:pic>
      <p:pic>
        <p:nvPicPr>
          <p:cNvPr id="6" name="Picture 5">
            <a:extLst>
              <a:ext uri="{FF2B5EF4-FFF2-40B4-BE49-F238E27FC236}">
                <a16:creationId xmlns:a16="http://schemas.microsoft.com/office/drawing/2014/main" id="{3C859AE7-4BB4-8274-06B3-528D95128038}"/>
              </a:ext>
            </a:extLst>
          </p:cNvPr>
          <p:cNvPicPr>
            <a:picLocks noChangeAspect="1"/>
          </p:cNvPicPr>
          <p:nvPr/>
        </p:nvPicPr>
        <p:blipFill>
          <a:blip r:embed="rId4"/>
          <a:stretch>
            <a:fillRect/>
          </a:stretch>
        </p:blipFill>
        <p:spPr>
          <a:xfrm>
            <a:off x="5477467" y="6051923"/>
            <a:ext cx="1430571" cy="1144457"/>
          </a:xfrm>
          <a:prstGeom prst="rect">
            <a:avLst/>
          </a:prstGeom>
        </p:spPr>
      </p:pic>
    </p:spTree>
    <p:extLst>
      <p:ext uri="{BB962C8B-B14F-4D97-AF65-F5344CB8AC3E}">
        <p14:creationId xmlns:p14="http://schemas.microsoft.com/office/powerpoint/2010/main" val="1019619406"/>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EEBE1"/>
        </a:solidFill>
        <a:effectLst/>
      </p:bgPr>
    </p:bg>
    <p:spTree>
      <p:nvGrpSpPr>
        <p:cNvPr id="1" name="">
          <a:extLst>
            <a:ext uri="{FF2B5EF4-FFF2-40B4-BE49-F238E27FC236}">
              <a16:creationId xmlns:a16="http://schemas.microsoft.com/office/drawing/2014/main" id="{782AE347-11AA-55F4-84EF-322D4C99C3A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4DD1B7F-BA75-DE0D-5891-0EF75EAE05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93F07185-E070-7009-14B6-A0E81C9010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D32DF2CE-4ACE-B7BD-F39D-1536AAE990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A546050-55D9-296D-1EF9-D380F480AFE3}"/>
              </a:ext>
            </a:extLst>
          </p:cNvPr>
          <p:cNvSpPr>
            <a:spLocks noGrp="1"/>
          </p:cNvSpPr>
          <p:nvPr>
            <p:ph type="title"/>
          </p:nvPr>
        </p:nvSpPr>
        <p:spPr>
          <a:xfrm>
            <a:off x="459981" y="1109346"/>
            <a:ext cx="3438144" cy="1512329"/>
          </a:xfrm>
        </p:spPr>
        <p:txBody>
          <a:bodyPr anchor="ctr">
            <a:noAutofit/>
          </a:bodyPr>
          <a:lstStyle/>
          <a:p>
            <a:r>
              <a:rPr lang="en-IN" sz="2400" dirty="0">
                <a:latin typeface="Aptos" panose="020B0004020202020204" pitchFamily="34" charset="0"/>
              </a:rPr>
              <a:t>Objective: </a:t>
            </a:r>
            <a:r>
              <a:rPr lang="en-IN" sz="2400" dirty="0">
                <a:solidFill>
                  <a:srgbClr val="080808"/>
                </a:solidFill>
                <a:latin typeface="Aptos" panose="020B0004020202020204" pitchFamily="34" charset="0"/>
              </a:rPr>
              <a:t>How has the revenue grown month-over-month (MoM) and week-over-week (WoW)?</a:t>
            </a:r>
            <a:br>
              <a:rPr lang="en-IN" sz="2400" dirty="0">
                <a:solidFill>
                  <a:srgbClr val="080808"/>
                </a:solidFill>
                <a:latin typeface="Aptos" panose="020B0004020202020204" pitchFamily="34" charset="0"/>
              </a:rPr>
            </a:br>
            <a:endParaRPr lang="en-IN" sz="2400" dirty="0">
              <a:solidFill>
                <a:srgbClr val="080808"/>
              </a:solidFill>
              <a:latin typeface="Aptos" panose="020B00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D74A9C0B-B6D3-825B-13ED-1E495FE620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0D7B4AD4-36AE-58AD-74EA-AF1DA7CD3D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1CC54690-F06A-FAF0-ED74-DDC48F06E9FD}"/>
              </a:ext>
            </a:extLst>
          </p:cNvPr>
          <p:cNvSpPr>
            <a:spLocks noGrp="1"/>
          </p:cNvSpPr>
          <p:nvPr>
            <p:ph idx="1"/>
          </p:nvPr>
        </p:nvSpPr>
        <p:spPr>
          <a:xfrm>
            <a:off x="371094" y="2718054"/>
            <a:ext cx="3438906" cy="3207258"/>
          </a:xfrm>
        </p:spPr>
        <p:txBody>
          <a:bodyPr anchor="t">
            <a:normAutofit fontScale="92500" lnSpcReduction="20000"/>
          </a:bodyPr>
          <a:lstStyle/>
          <a:p>
            <a:pPr marL="0" lvl="0" indent="0">
              <a:buNone/>
            </a:pPr>
            <a:r>
              <a:rPr lang="en-IN" sz="1800" dirty="0">
                <a:latin typeface="Aptos" panose="020B0004020202020204" pitchFamily="34" charset="0"/>
              </a:rPr>
              <a:t>Solution: </a:t>
            </a:r>
            <a:endParaRPr lang="en-IN" sz="1800" dirty="0">
              <a:solidFill>
                <a:srgbClr val="000000">
                  <a:alpha val="60000"/>
                </a:srgbClr>
              </a:solidFill>
              <a:latin typeface="Aptos" panose="020B0004020202020204" pitchFamily="34" charset="0"/>
            </a:endParaRPr>
          </a:p>
          <a:p>
            <a:pPr marL="0" lvl="0" indent="0">
              <a:buNone/>
            </a:pPr>
            <a:r>
              <a:rPr lang="en-US" sz="1800" b="1" dirty="0">
                <a:solidFill>
                  <a:srgbClr val="080808"/>
                </a:solidFill>
                <a:latin typeface="Aptos" panose="020B0004020202020204" pitchFamily="34" charset="0"/>
              </a:rPr>
              <a:t>WoW:</a:t>
            </a:r>
          </a:p>
          <a:p>
            <a:pPr marL="0" lvl="0" indent="0">
              <a:buNone/>
            </a:pPr>
            <a:r>
              <a:rPr lang="en-US" sz="1800" b="1" dirty="0">
                <a:solidFill>
                  <a:srgbClr val="080808"/>
                </a:solidFill>
                <a:latin typeface="Aptos" panose="020B0004020202020204" pitchFamily="34" charset="0"/>
              </a:rPr>
              <a:t>VAR </a:t>
            </a:r>
            <a:r>
              <a:rPr lang="en-US" sz="1800" b="1" dirty="0" err="1">
                <a:solidFill>
                  <a:srgbClr val="080808"/>
                </a:solidFill>
                <a:latin typeface="Aptos" panose="020B0004020202020204" pitchFamily="34" charset="0"/>
              </a:rPr>
              <a:t>prev_week</a:t>
            </a:r>
            <a:r>
              <a:rPr lang="en-US" sz="1800" b="1" dirty="0">
                <a:solidFill>
                  <a:srgbClr val="080808"/>
                </a:solidFill>
                <a:latin typeface="Aptos" panose="020B0004020202020204" pitchFamily="34" charset="0"/>
              </a:rPr>
              <a:t>: </a:t>
            </a:r>
            <a:r>
              <a:rPr lang="en-US" sz="1800" dirty="0">
                <a:solidFill>
                  <a:srgbClr val="080808"/>
                </a:solidFill>
                <a:latin typeface="Aptos" panose="020B0004020202020204" pitchFamily="34" charset="0"/>
              </a:rPr>
              <a:t>Retrieves the revenue total from the previous week. Used FILTER(ALL()) to ignore current filters and find the exact previous week using </a:t>
            </a:r>
            <a:r>
              <a:rPr lang="en-US" sz="1800" dirty="0" err="1">
                <a:solidFill>
                  <a:srgbClr val="080808"/>
                </a:solidFill>
                <a:latin typeface="Aptos" panose="020B0004020202020204" pitchFamily="34" charset="0"/>
              </a:rPr>
              <a:t>weeknum</a:t>
            </a:r>
            <a:r>
              <a:rPr lang="en-US" sz="1800" dirty="0">
                <a:solidFill>
                  <a:srgbClr val="080808"/>
                </a:solidFill>
                <a:latin typeface="Aptos" panose="020B0004020202020204" pitchFamily="34" charset="0"/>
              </a:rPr>
              <a:t>.</a:t>
            </a:r>
          </a:p>
          <a:p>
            <a:pPr marL="0" lvl="0" indent="0">
              <a:buNone/>
            </a:pPr>
            <a:r>
              <a:rPr lang="en-US" sz="1800" b="1" dirty="0">
                <a:solidFill>
                  <a:srgbClr val="080808"/>
                </a:solidFill>
                <a:latin typeface="Aptos" panose="020B0004020202020204" pitchFamily="34" charset="0"/>
              </a:rPr>
              <a:t>RETURN DIVIDE():</a:t>
            </a:r>
            <a:r>
              <a:rPr lang="en-US" sz="1800" dirty="0">
                <a:solidFill>
                  <a:srgbClr val="080808"/>
                </a:solidFill>
                <a:latin typeface="Aptos" panose="020B0004020202020204" pitchFamily="34" charset="0"/>
              </a:rPr>
              <a:t>Computes the difference between current and previous week's revenue. Divided by the previous week’s revenue to get a percentage. Returns 0 if the previous week’s revenue is zero (to avoid divide-by-zero errors).</a:t>
            </a:r>
            <a:endParaRPr lang="en-IN" sz="1800" dirty="0">
              <a:solidFill>
                <a:srgbClr val="080808"/>
              </a:solidFill>
              <a:latin typeface="Aptos" panose="020B0004020202020204" pitchFamily="34" charset="0"/>
            </a:endParaRPr>
          </a:p>
        </p:txBody>
      </p:sp>
      <p:sp>
        <p:nvSpPr>
          <p:cNvPr id="4" name="TextBox 3">
            <a:extLst>
              <a:ext uri="{FF2B5EF4-FFF2-40B4-BE49-F238E27FC236}">
                <a16:creationId xmlns:a16="http://schemas.microsoft.com/office/drawing/2014/main" id="{9665B029-8882-DCE2-9DAC-6488CF9BBFE6}"/>
              </a:ext>
            </a:extLst>
          </p:cNvPr>
          <p:cNvSpPr txBox="1"/>
          <p:nvPr/>
        </p:nvSpPr>
        <p:spPr>
          <a:xfrm>
            <a:off x="1897626" y="68826"/>
            <a:ext cx="8318090" cy="523220"/>
          </a:xfrm>
          <a:prstGeom prst="rect">
            <a:avLst/>
          </a:prstGeom>
          <a:noFill/>
        </p:spPr>
        <p:txBody>
          <a:bodyPr wrap="square" rtlCol="0">
            <a:spAutoFit/>
          </a:bodyPr>
          <a:lstStyle/>
          <a:p>
            <a:pPr algn="ctr"/>
            <a:r>
              <a:rPr lang="en-IN" sz="2800" b="1" dirty="0">
                <a:latin typeface="Aptos" panose="020B0004020202020204" pitchFamily="34" charset="0"/>
                <a:cs typeface="Arial" panose="020B0604020202020204" pitchFamily="34" charset="0"/>
              </a:rPr>
              <a:t>Financial Overview &amp; Revenue Performance</a:t>
            </a:r>
            <a:endParaRPr lang="en-IN" sz="2800" b="1" dirty="0"/>
          </a:p>
        </p:txBody>
      </p:sp>
      <p:pic>
        <p:nvPicPr>
          <p:cNvPr id="8" name="Picture 7">
            <a:extLst>
              <a:ext uri="{FF2B5EF4-FFF2-40B4-BE49-F238E27FC236}">
                <a16:creationId xmlns:a16="http://schemas.microsoft.com/office/drawing/2014/main" id="{6809FFF7-705E-DC05-0020-A5A3CFCC3724}"/>
              </a:ext>
            </a:extLst>
          </p:cNvPr>
          <p:cNvPicPr>
            <a:picLocks noChangeAspect="1"/>
          </p:cNvPicPr>
          <p:nvPr/>
        </p:nvPicPr>
        <p:blipFill>
          <a:blip r:embed="rId2"/>
          <a:stretch>
            <a:fillRect/>
          </a:stretch>
        </p:blipFill>
        <p:spPr>
          <a:xfrm>
            <a:off x="7140709" y="3749199"/>
            <a:ext cx="1887954" cy="1025739"/>
          </a:xfrm>
          <a:prstGeom prst="rect">
            <a:avLst/>
          </a:prstGeom>
          <a:effectLst>
            <a:glow rad="139700">
              <a:schemeClr val="tx2">
                <a:lumMod val="75000"/>
                <a:alpha val="40000"/>
              </a:schemeClr>
            </a:glow>
          </a:effectLst>
        </p:spPr>
      </p:pic>
      <p:pic>
        <p:nvPicPr>
          <p:cNvPr id="11" name="Picture 10">
            <a:extLst>
              <a:ext uri="{FF2B5EF4-FFF2-40B4-BE49-F238E27FC236}">
                <a16:creationId xmlns:a16="http://schemas.microsoft.com/office/drawing/2014/main" id="{B6678E94-F00D-DC62-4723-A47E5A1DB7B0}"/>
              </a:ext>
            </a:extLst>
          </p:cNvPr>
          <p:cNvPicPr>
            <a:picLocks noChangeAspect="1"/>
          </p:cNvPicPr>
          <p:nvPr/>
        </p:nvPicPr>
        <p:blipFill>
          <a:blip r:embed="rId3"/>
          <a:stretch>
            <a:fillRect/>
          </a:stretch>
        </p:blipFill>
        <p:spPr>
          <a:xfrm>
            <a:off x="4915653" y="1573675"/>
            <a:ext cx="5730737" cy="1013548"/>
          </a:xfrm>
          <a:prstGeom prst="rect">
            <a:avLst/>
          </a:prstGeom>
          <a:effectLst>
            <a:glow rad="228600">
              <a:srgbClr val="080808">
                <a:alpha val="40000"/>
              </a:srgbClr>
            </a:glow>
          </a:effectLst>
        </p:spPr>
      </p:pic>
      <p:pic>
        <p:nvPicPr>
          <p:cNvPr id="5" name="Picture 4">
            <a:extLst>
              <a:ext uri="{FF2B5EF4-FFF2-40B4-BE49-F238E27FC236}">
                <a16:creationId xmlns:a16="http://schemas.microsoft.com/office/drawing/2014/main" id="{BADFD6A4-6EFC-8C54-CDBB-FC51FB97E416}"/>
              </a:ext>
            </a:extLst>
          </p:cNvPr>
          <p:cNvPicPr>
            <a:picLocks noChangeAspect="1"/>
          </p:cNvPicPr>
          <p:nvPr/>
        </p:nvPicPr>
        <p:blipFill>
          <a:blip r:embed="rId4"/>
          <a:stretch>
            <a:fillRect/>
          </a:stretch>
        </p:blipFill>
        <p:spPr>
          <a:xfrm>
            <a:off x="5477467" y="6051923"/>
            <a:ext cx="1430571" cy="1144457"/>
          </a:xfrm>
          <a:prstGeom prst="rect">
            <a:avLst/>
          </a:prstGeom>
        </p:spPr>
      </p:pic>
    </p:spTree>
    <p:extLst>
      <p:ext uri="{BB962C8B-B14F-4D97-AF65-F5344CB8AC3E}">
        <p14:creationId xmlns:p14="http://schemas.microsoft.com/office/powerpoint/2010/main" val="3326166238"/>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EEBE1"/>
        </a:solidFill>
        <a:effectLst/>
      </p:bgPr>
    </p:bg>
    <p:spTree>
      <p:nvGrpSpPr>
        <p:cNvPr id="1" name="">
          <a:extLst>
            <a:ext uri="{FF2B5EF4-FFF2-40B4-BE49-F238E27FC236}">
              <a16:creationId xmlns:a16="http://schemas.microsoft.com/office/drawing/2014/main" id="{908E5B92-E539-BFB3-41CA-2A0C8A46D1D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32F923B-4E17-2241-FD86-A3ED1DEC6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D03F802D-8D44-5234-96A7-5DC999CA0A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1CB04FEC-B6A6-44F2-7109-8FDC12F22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249135E-A6ED-9630-9264-DBE54749DB04}"/>
              </a:ext>
            </a:extLst>
          </p:cNvPr>
          <p:cNvSpPr>
            <a:spLocks noGrp="1"/>
          </p:cNvSpPr>
          <p:nvPr>
            <p:ph type="title"/>
          </p:nvPr>
        </p:nvSpPr>
        <p:spPr>
          <a:xfrm>
            <a:off x="459980" y="1109346"/>
            <a:ext cx="3715085" cy="1512329"/>
          </a:xfrm>
        </p:spPr>
        <p:txBody>
          <a:bodyPr anchor="ctr">
            <a:noAutofit/>
          </a:bodyPr>
          <a:lstStyle/>
          <a:p>
            <a:r>
              <a:rPr lang="en-IN" sz="2400" dirty="0">
                <a:latin typeface="Aptos" panose="020B0004020202020204" pitchFamily="34" charset="0"/>
              </a:rPr>
              <a:t>Objective: What are the average daily rate (ADR) and revenue per available room (RevPAR)?</a:t>
            </a:r>
            <a:br>
              <a:rPr lang="en-IN" sz="2400" dirty="0">
                <a:solidFill>
                  <a:srgbClr val="080808"/>
                </a:solidFill>
                <a:latin typeface="Aptos" panose="020B0004020202020204" pitchFamily="34" charset="0"/>
              </a:rPr>
            </a:br>
            <a:endParaRPr lang="en-IN" sz="2400" dirty="0">
              <a:solidFill>
                <a:srgbClr val="080808"/>
              </a:solidFill>
              <a:latin typeface="Aptos" panose="020B00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1AED74F7-891D-7467-7D1C-60176D657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2FA342B5-B0B9-6AE5-E9D9-805189589A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D6B1204B-7342-9B9F-7B82-264A49CFCA4D}"/>
              </a:ext>
            </a:extLst>
          </p:cNvPr>
          <p:cNvSpPr>
            <a:spLocks noGrp="1"/>
          </p:cNvSpPr>
          <p:nvPr>
            <p:ph idx="1"/>
          </p:nvPr>
        </p:nvSpPr>
        <p:spPr>
          <a:xfrm>
            <a:off x="371094" y="2718054"/>
            <a:ext cx="3438906" cy="3207258"/>
          </a:xfrm>
        </p:spPr>
        <p:txBody>
          <a:bodyPr anchor="t">
            <a:normAutofit fontScale="92500" lnSpcReduction="20000"/>
          </a:bodyPr>
          <a:lstStyle/>
          <a:p>
            <a:pPr marL="0" lvl="0" indent="0">
              <a:buNone/>
            </a:pPr>
            <a:r>
              <a:rPr lang="en-IN" sz="1800" dirty="0">
                <a:latin typeface="Aptos" panose="020B0004020202020204" pitchFamily="34" charset="0"/>
              </a:rPr>
              <a:t>Solution: </a:t>
            </a:r>
          </a:p>
          <a:p>
            <a:pPr marL="0" lvl="0" indent="0">
              <a:buNone/>
            </a:pPr>
            <a:r>
              <a:rPr lang="en-IN" sz="1800" dirty="0">
                <a:solidFill>
                  <a:srgbClr val="000000"/>
                </a:solidFill>
                <a:latin typeface="Aptos" panose="020B0004020202020204" pitchFamily="34" charset="0"/>
              </a:rPr>
              <a:t>ADR:</a:t>
            </a:r>
          </a:p>
          <a:p>
            <a:pPr marL="0" indent="0">
              <a:buNone/>
            </a:pPr>
            <a:r>
              <a:rPr lang="en-US" sz="1800" dirty="0">
                <a:latin typeface="Aptos" panose="020B0004020202020204" pitchFamily="34" charset="0"/>
              </a:rPr>
              <a:t>Created a measure and then used Line chart to display </a:t>
            </a:r>
            <a:r>
              <a:rPr lang="en-US" sz="1800" dirty="0" err="1">
                <a:latin typeface="Aptos" panose="020B0004020202020204" pitchFamily="34" charset="0"/>
              </a:rPr>
              <a:t>ditails</a:t>
            </a:r>
            <a:r>
              <a:rPr lang="en-US" sz="1800" dirty="0">
                <a:latin typeface="Aptos" panose="020B0004020202020204" pitchFamily="34" charset="0"/>
              </a:rPr>
              <a:t>.</a:t>
            </a:r>
          </a:p>
          <a:p>
            <a:pPr marL="0" indent="0">
              <a:buNone/>
            </a:pPr>
            <a:r>
              <a:rPr lang="en-US" sz="1800" b="1" dirty="0" err="1">
                <a:latin typeface="Aptos" panose="020B0004020202020204" pitchFamily="34" charset="0"/>
              </a:rPr>
              <a:t>rev_co_ns</a:t>
            </a:r>
            <a:r>
              <a:rPr lang="en-US" sz="1800" b="1" dirty="0">
                <a:latin typeface="Aptos" panose="020B0004020202020204" pitchFamily="34" charset="0"/>
              </a:rPr>
              <a:t>: </a:t>
            </a:r>
            <a:r>
              <a:rPr lang="en-US" sz="1800" dirty="0">
                <a:latin typeface="Aptos" panose="020B0004020202020204" pitchFamily="34" charset="0"/>
              </a:rPr>
              <a:t>Total revenue where </a:t>
            </a:r>
            <a:r>
              <a:rPr lang="en-US" sz="1800" dirty="0" err="1">
                <a:latin typeface="Aptos" panose="020B0004020202020204" pitchFamily="34" charset="0"/>
              </a:rPr>
              <a:t>booking_status</a:t>
            </a:r>
            <a:r>
              <a:rPr lang="en-US" sz="1800" dirty="0">
                <a:latin typeface="Aptos" panose="020B0004020202020204" pitchFamily="34" charset="0"/>
              </a:rPr>
              <a:t> is either "Checked Out" or "No Show"</a:t>
            </a:r>
          </a:p>
          <a:p>
            <a:pPr marL="0" indent="0">
              <a:buNone/>
            </a:pPr>
            <a:r>
              <a:rPr lang="en-US" sz="1800" b="1" dirty="0" err="1">
                <a:latin typeface="Aptos" panose="020B0004020202020204" pitchFamily="34" charset="0"/>
              </a:rPr>
              <a:t>booking_co_ns</a:t>
            </a:r>
            <a:r>
              <a:rPr lang="en-US" sz="1800" b="1" dirty="0">
                <a:latin typeface="Aptos" panose="020B0004020202020204" pitchFamily="34" charset="0"/>
              </a:rPr>
              <a:t>: </a:t>
            </a:r>
            <a:r>
              <a:rPr lang="en-US" sz="1800" dirty="0">
                <a:latin typeface="Aptos" panose="020B0004020202020204" pitchFamily="34" charset="0"/>
              </a:rPr>
              <a:t>Total number of bookings with those statuses</a:t>
            </a:r>
          </a:p>
          <a:p>
            <a:pPr marL="0" indent="0">
              <a:buNone/>
            </a:pPr>
            <a:r>
              <a:rPr lang="en-US" sz="1800" b="1" dirty="0">
                <a:latin typeface="Aptos" panose="020B0004020202020204" pitchFamily="34" charset="0"/>
              </a:rPr>
              <a:t>DIVIDE(): </a:t>
            </a:r>
            <a:r>
              <a:rPr lang="en-US" sz="1800" dirty="0">
                <a:latin typeface="Aptos" panose="020B0004020202020204" pitchFamily="34" charset="0"/>
              </a:rPr>
              <a:t>Returned the average revenue per qualifying booking. Used 0 as the fallback to avoid division by zero</a:t>
            </a:r>
            <a:endParaRPr lang="en-IN" sz="1800" dirty="0">
              <a:solidFill>
                <a:srgbClr val="080808"/>
              </a:solidFill>
              <a:latin typeface="Aptos" panose="020B0004020202020204" pitchFamily="34" charset="0"/>
            </a:endParaRPr>
          </a:p>
        </p:txBody>
      </p:sp>
      <p:sp>
        <p:nvSpPr>
          <p:cNvPr id="4" name="TextBox 3">
            <a:extLst>
              <a:ext uri="{FF2B5EF4-FFF2-40B4-BE49-F238E27FC236}">
                <a16:creationId xmlns:a16="http://schemas.microsoft.com/office/drawing/2014/main" id="{4E638D00-9E8E-E521-A735-C4A1AA123B97}"/>
              </a:ext>
            </a:extLst>
          </p:cNvPr>
          <p:cNvSpPr txBox="1"/>
          <p:nvPr/>
        </p:nvSpPr>
        <p:spPr>
          <a:xfrm>
            <a:off x="1897626" y="68826"/>
            <a:ext cx="8318090" cy="523220"/>
          </a:xfrm>
          <a:prstGeom prst="rect">
            <a:avLst/>
          </a:prstGeom>
          <a:noFill/>
        </p:spPr>
        <p:txBody>
          <a:bodyPr wrap="square" rtlCol="0">
            <a:spAutoFit/>
          </a:bodyPr>
          <a:lstStyle/>
          <a:p>
            <a:pPr algn="ctr"/>
            <a:r>
              <a:rPr lang="en-IN" sz="2800" b="1" dirty="0">
                <a:latin typeface="Aptos" panose="020B0004020202020204" pitchFamily="34" charset="0"/>
                <a:cs typeface="Arial" panose="020B0604020202020204" pitchFamily="34" charset="0"/>
              </a:rPr>
              <a:t>Financial Overview &amp; Revenue Performance</a:t>
            </a:r>
            <a:endParaRPr lang="en-IN" sz="2800" b="1" dirty="0"/>
          </a:p>
        </p:txBody>
      </p:sp>
      <p:pic>
        <p:nvPicPr>
          <p:cNvPr id="5" name="Picture 4">
            <a:extLst>
              <a:ext uri="{FF2B5EF4-FFF2-40B4-BE49-F238E27FC236}">
                <a16:creationId xmlns:a16="http://schemas.microsoft.com/office/drawing/2014/main" id="{4A9B9017-5E38-13C2-13F0-B8C775EDA980}"/>
              </a:ext>
            </a:extLst>
          </p:cNvPr>
          <p:cNvPicPr>
            <a:picLocks noChangeAspect="1"/>
          </p:cNvPicPr>
          <p:nvPr/>
        </p:nvPicPr>
        <p:blipFill>
          <a:blip r:embed="rId2"/>
          <a:stretch>
            <a:fillRect/>
          </a:stretch>
        </p:blipFill>
        <p:spPr>
          <a:xfrm>
            <a:off x="4737529" y="1538116"/>
            <a:ext cx="7172614" cy="914508"/>
          </a:xfrm>
          <a:prstGeom prst="rect">
            <a:avLst/>
          </a:prstGeom>
          <a:effectLst>
            <a:glow rad="139700">
              <a:schemeClr val="tx1">
                <a:lumMod val="95000"/>
                <a:lumOff val="5000"/>
                <a:alpha val="40000"/>
              </a:schemeClr>
            </a:glow>
          </a:effectLst>
        </p:spPr>
      </p:pic>
      <p:pic>
        <p:nvPicPr>
          <p:cNvPr id="7" name="Picture 6">
            <a:extLst>
              <a:ext uri="{FF2B5EF4-FFF2-40B4-BE49-F238E27FC236}">
                <a16:creationId xmlns:a16="http://schemas.microsoft.com/office/drawing/2014/main" id="{037A882E-1BE1-3197-8CE1-E4810430C7A7}"/>
              </a:ext>
            </a:extLst>
          </p:cNvPr>
          <p:cNvPicPr>
            <a:picLocks noChangeAspect="1"/>
          </p:cNvPicPr>
          <p:nvPr/>
        </p:nvPicPr>
        <p:blipFill>
          <a:blip r:embed="rId3"/>
          <a:stretch>
            <a:fillRect/>
          </a:stretch>
        </p:blipFill>
        <p:spPr>
          <a:xfrm>
            <a:off x="6056671" y="3169798"/>
            <a:ext cx="5135719" cy="1784662"/>
          </a:xfrm>
          <a:prstGeom prst="rect">
            <a:avLst/>
          </a:prstGeom>
          <a:effectLst>
            <a:glow rad="139700">
              <a:schemeClr val="bg2">
                <a:lumMod val="10000"/>
                <a:alpha val="40000"/>
              </a:schemeClr>
            </a:glow>
          </a:effectLst>
        </p:spPr>
      </p:pic>
      <p:pic>
        <p:nvPicPr>
          <p:cNvPr id="6" name="Picture 5">
            <a:extLst>
              <a:ext uri="{FF2B5EF4-FFF2-40B4-BE49-F238E27FC236}">
                <a16:creationId xmlns:a16="http://schemas.microsoft.com/office/drawing/2014/main" id="{9B3F0F11-1414-BCA2-ADD3-8F5C787E1D99}"/>
              </a:ext>
            </a:extLst>
          </p:cNvPr>
          <p:cNvPicPr>
            <a:picLocks noChangeAspect="1"/>
          </p:cNvPicPr>
          <p:nvPr/>
        </p:nvPicPr>
        <p:blipFill>
          <a:blip r:embed="rId4"/>
          <a:stretch>
            <a:fillRect/>
          </a:stretch>
        </p:blipFill>
        <p:spPr>
          <a:xfrm>
            <a:off x="5477467" y="6051923"/>
            <a:ext cx="1430571" cy="1144457"/>
          </a:xfrm>
          <a:prstGeom prst="rect">
            <a:avLst/>
          </a:prstGeom>
        </p:spPr>
      </p:pic>
    </p:spTree>
    <p:extLst>
      <p:ext uri="{BB962C8B-B14F-4D97-AF65-F5344CB8AC3E}">
        <p14:creationId xmlns:p14="http://schemas.microsoft.com/office/powerpoint/2010/main" val="3245622150"/>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EEBE1"/>
        </a:solidFill>
        <a:effectLst/>
      </p:bgPr>
    </p:bg>
    <p:spTree>
      <p:nvGrpSpPr>
        <p:cNvPr id="1" name="">
          <a:extLst>
            <a:ext uri="{FF2B5EF4-FFF2-40B4-BE49-F238E27FC236}">
              <a16:creationId xmlns:a16="http://schemas.microsoft.com/office/drawing/2014/main" id="{3B08F9C1-9AE9-B2F7-56BB-F69071C7D72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8EF5AE4-EBD4-D131-D1C1-B0B56F4C6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0B685C6F-8ABB-BB1B-E5FB-0950AEE1A2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56DE3961-ED8D-DD86-2125-6EBDA5F0AA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637BE8D-AC92-5E00-B664-B3530C37637D}"/>
              </a:ext>
            </a:extLst>
          </p:cNvPr>
          <p:cNvSpPr>
            <a:spLocks noGrp="1"/>
          </p:cNvSpPr>
          <p:nvPr>
            <p:ph type="title"/>
          </p:nvPr>
        </p:nvSpPr>
        <p:spPr>
          <a:xfrm>
            <a:off x="459980" y="1109346"/>
            <a:ext cx="3715085" cy="1512329"/>
          </a:xfrm>
        </p:spPr>
        <p:txBody>
          <a:bodyPr anchor="ctr">
            <a:noAutofit/>
          </a:bodyPr>
          <a:lstStyle/>
          <a:p>
            <a:r>
              <a:rPr lang="en-IN" sz="2400" dirty="0">
                <a:latin typeface="Aptos" panose="020B0004020202020204" pitchFamily="34" charset="0"/>
              </a:rPr>
              <a:t>Objective: What are the average daily rate (ADR) and revenue per available room (RevPAR)?</a:t>
            </a:r>
            <a:br>
              <a:rPr lang="en-IN" sz="2400" dirty="0">
                <a:solidFill>
                  <a:srgbClr val="080808"/>
                </a:solidFill>
                <a:latin typeface="Aptos" panose="020B0004020202020204" pitchFamily="34" charset="0"/>
              </a:rPr>
            </a:br>
            <a:endParaRPr lang="en-IN" sz="2400" dirty="0">
              <a:solidFill>
                <a:srgbClr val="080808"/>
              </a:solidFill>
              <a:latin typeface="Aptos" panose="020B00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2778D991-6AA6-A0C7-1F88-0426DC3835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94B102CC-1940-50B4-1B0E-FAAB2DAAD2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0B28A1C0-830B-9006-A797-A2644AA9F4F8}"/>
              </a:ext>
            </a:extLst>
          </p:cNvPr>
          <p:cNvSpPr>
            <a:spLocks noGrp="1"/>
          </p:cNvSpPr>
          <p:nvPr>
            <p:ph idx="1"/>
          </p:nvPr>
        </p:nvSpPr>
        <p:spPr>
          <a:xfrm>
            <a:off x="371094" y="2718054"/>
            <a:ext cx="3438906" cy="3207258"/>
          </a:xfrm>
        </p:spPr>
        <p:txBody>
          <a:bodyPr anchor="t">
            <a:normAutofit fontScale="92500" lnSpcReduction="20000"/>
          </a:bodyPr>
          <a:lstStyle/>
          <a:p>
            <a:pPr marL="0" lvl="0" indent="0">
              <a:buNone/>
            </a:pPr>
            <a:r>
              <a:rPr lang="en-IN" sz="1800" dirty="0">
                <a:latin typeface="Aptos" panose="020B0004020202020204" pitchFamily="34" charset="0"/>
              </a:rPr>
              <a:t>Solution: </a:t>
            </a:r>
            <a:endParaRPr lang="en-IN" sz="1800" dirty="0">
              <a:solidFill>
                <a:srgbClr val="000000">
                  <a:alpha val="60000"/>
                </a:srgbClr>
              </a:solidFill>
              <a:latin typeface="Aptos" panose="020B0004020202020204" pitchFamily="34" charset="0"/>
            </a:endParaRPr>
          </a:p>
          <a:p>
            <a:pPr marL="0" indent="0">
              <a:buNone/>
            </a:pPr>
            <a:r>
              <a:rPr lang="en-US" sz="1800" dirty="0">
                <a:latin typeface="Aptos" panose="020B0004020202020204" pitchFamily="34" charset="0"/>
              </a:rPr>
              <a:t>RevPAR: Created a measure and then used Line chart to display </a:t>
            </a:r>
            <a:r>
              <a:rPr lang="en-US" sz="1800" dirty="0" err="1">
                <a:latin typeface="Aptos" panose="020B0004020202020204" pitchFamily="34" charset="0"/>
              </a:rPr>
              <a:t>ditails</a:t>
            </a:r>
            <a:r>
              <a:rPr lang="en-US" sz="1800" dirty="0">
                <a:latin typeface="Aptos" panose="020B0004020202020204" pitchFamily="34" charset="0"/>
              </a:rPr>
              <a:t>.</a:t>
            </a:r>
          </a:p>
          <a:p>
            <a:pPr marL="0" indent="0">
              <a:buNone/>
            </a:pPr>
            <a:r>
              <a:rPr lang="en-US" sz="1800" b="1" dirty="0">
                <a:latin typeface="Aptos" panose="020B0004020202020204" pitchFamily="34" charset="0"/>
              </a:rPr>
              <a:t>Numerator</a:t>
            </a:r>
            <a:r>
              <a:rPr lang="en-US" sz="1800" dirty="0">
                <a:latin typeface="Aptos" panose="020B0004020202020204" pitchFamily="34" charset="0"/>
              </a:rPr>
              <a:t>:[</a:t>
            </a:r>
            <a:r>
              <a:rPr lang="en-US" sz="1800" dirty="0" err="1">
                <a:latin typeface="Aptos" panose="020B0004020202020204" pitchFamily="34" charset="0"/>
              </a:rPr>
              <a:t>revenue_realised</a:t>
            </a:r>
            <a:r>
              <a:rPr lang="en-US" sz="1800" dirty="0">
                <a:latin typeface="Aptos" panose="020B0004020202020204" pitchFamily="34" charset="0"/>
              </a:rPr>
              <a:t>] - Total actual revenue earned from bookings </a:t>
            </a:r>
          </a:p>
          <a:p>
            <a:pPr marL="0" indent="0">
              <a:buNone/>
            </a:pPr>
            <a:r>
              <a:rPr lang="en-US" sz="1800" b="1" dirty="0">
                <a:latin typeface="Aptos" panose="020B0004020202020204" pitchFamily="34" charset="0"/>
              </a:rPr>
              <a:t>Denominator: </a:t>
            </a:r>
            <a:r>
              <a:rPr lang="en-US" sz="1800" dirty="0">
                <a:latin typeface="Aptos" panose="020B0004020202020204" pitchFamily="34" charset="0"/>
              </a:rPr>
              <a:t>SUM(occupancy[capacity]) - Total number of available rooms (capacity) in the given time period.</a:t>
            </a:r>
          </a:p>
          <a:p>
            <a:pPr marL="0" indent="0">
              <a:buNone/>
            </a:pPr>
            <a:r>
              <a:rPr lang="en-US" sz="1800" b="1" dirty="0">
                <a:latin typeface="Aptos" panose="020B0004020202020204" pitchFamily="34" charset="0"/>
              </a:rPr>
              <a:t>DIVIDE(): </a:t>
            </a:r>
            <a:r>
              <a:rPr lang="en-US" sz="1800" dirty="0">
                <a:latin typeface="Aptos" panose="020B0004020202020204" pitchFamily="34" charset="0"/>
              </a:rPr>
              <a:t>Safely performs the division, returning 0 if capacity is 0.</a:t>
            </a:r>
            <a:endParaRPr lang="en-IN" sz="1800" dirty="0">
              <a:solidFill>
                <a:srgbClr val="080808"/>
              </a:solidFill>
              <a:latin typeface="Aptos" panose="020B0004020202020204" pitchFamily="34" charset="0"/>
            </a:endParaRPr>
          </a:p>
        </p:txBody>
      </p:sp>
      <p:sp>
        <p:nvSpPr>
          <p:cNvPr id="4" name="TextBox 3">
            <a:extLst>
              <a:ext uri="{FF2B5EF4-FFF2-40B4-BE49-F238E27FC236}">
                <a16:creationId xmlns:a16="http://schemas.microsoft.com/office/drawing/2014/main" id="{7A64A337-D1AF-C8DC-1F05-768445FFF875}"/>
              </a:ext>
            </a:extLst>
          </p:cNvPr>
          <p:cNvSpPr txBox="1"/>
          <p:nvPr/>
        </p:nvSpPr>
        <p:spPr>
          <a:xfrm>
            <a:off x="1897626" y="68826"/>
            <a:ext cx="8318090" cy="523220"/>
          </a:xfrm>
          <a:prstGeom prst="rect">
            <a:avLst/>
          </a:prstGeom>
          <a:noFill/>
        </p:spPr>
        <p:txBody>
          <a:bodyPr wrap="square" rtlCol="0">
            <a:spAutoFit/>
          </a:bodyPr>
          <a:lstStyle/>
          <a:p>
            <a:pPr algn="ctr"/>
            <a:r>
              <a:rPr lang="en-IN" sz="2800" b="1" dirty="0">
                <a:latin typeface="Aptos" panose="020B0004020202020204" pitchFamily="34" charset="0"/>
                <a:cs typeface="Arial" panose="020B0604020202020204" pitchFamily="34" charset="0"/>
              </a:rPr>
              <a:t>Financial Overview &amp; Revenue Performance</a:t>
            </a:r>
            <a:endParaRPr lang="en-IN" sz="2800" b="1" dirty="0"/>
          </a:p>
        </p:txBody>
      </p:sp>
      <p:pic>
        <p:nvPicPr>
          <p:cNvPr id="8" name="Picture 7">
            <a:extLst>
              <a:ext uri="{FF2B5EF4-FFF2-40B4-BE49-F238E27FC236}">
                <a16:creationId xmlns:a16="http://schemas.microsoft.com/office/drawing/2014/main" id="{5D0FF2C5-F9A0-9BB5-75F0-76C00AAE9A2E}"/>
              </a:ext>
            </a:extLst>
          </p:cNvPr>
          <p:cNvPicPr>
            <a:picLocks noChangeAspect="1"/>
          </p:cNvPicPr>
          <p:nvPr/>
        </p:nvPicPr>
        <p:blipFill>
          <a:blip r:embed="rId2"/>
          <a:stretch>
            <a:fillRect/>
          </a:stretch>
        </p:blipFill>
        <p:spPr>
          <a:xfrm>
            <a:off x="5079978" y="1598787"/>
            <a:ext cx="6884016" cy="406994"/>
          </a:xfrm>
          <a:prstGeom prst="rect">
            <a:avLst/>
          </a:prstGeom>
          <a:effectLst>
            <a:glow rad="139700">
              <a:srgbClr val="000000">
                <a:alpha val="40000"/>
              </a:srgbClr>
            </a:glow>
          </a:effectLst>
        </p:spPr>
      </p:pic>
      <p:pic>
        <p:nvPicPr>
          <p:cNvPr id="11" name="Picture 10">
            <a:extLst>
              <a:ext uri="{FF2B5EF4-FFF2-40B4-BE49-F238E27FC236}">
                <a16:creationId xmlns:a16="http://schemas.microsoft.com/office/drawing/2014/main" id="{0A1A185E-9F40-FD97-6D08-E3FC91C4F781}"/>
              </a:ext>
            </a:extLst>
          </p:cNvPr>
          <p:cNvPicPr>
            <a:picLocks noChangeAspect="1"/>
          </p:cNvPicPr>
          <p:nvPr/>
        </p:nvPicPr>
        <p:blipFill>
          <a:blip r:embed="rId3"/>
          <a:stretch>
            <a:fillRect/>
          </a:stretch>
        </p:blipFill>
        <p:spPr>
          <a:xfrm>
            <a:off x="5580398" y="2799113"/>
            <a:ext cx="5486875" cy="1851820"/>
          </a:xfrm>
          <a:prstGeom prst="rect">
            <a:avLst/>
          </a:prstGeom>
          <a:effectLst>
            <a:glow rad="139700">
              <a:srgbClr val="000000">
                <a:alpha val="40000"/>
              </a:srgbClr>
            </a:glow>
          </a:effectLst>
        </p:spPr>
      </p:pic>
      <p:pic>
        <p:nvPicPr>
          <p:cNvPr id="5" name="Picture 4">
            <a:extLst>
              <a:ext uri="{FF2B5EF4-FFF2-40B4-BE49-F238E27FC236}">
                <a16:creationId xmlns:a16="http://schemas.microsoft.com/office/drawing/2014/main" id="{35A47C5B-3A25-24C2-5ADB-370E6D2251C3}"/>
              </a:ext>
            </a:extLst>
          </p:cNvPr>
          <p:cNvPicPr>
            <a:picLocks noChangeAspect="1"/>
          </p:cNvPicPr>
          <p:nvPr/>
        </p:nvPicPr>
        <p:blipFill>
          <a:blip r:embed="rId4"/>
          <a:stretch>
            <a:fillRect/>
          </a:stretch>
        </p:blipFill>
        <p:spPr>
          <a:xfrm>
            <a:off x="5477467" y="6051923"/>
            <a:ext cx="1430571" cy="1144457"/>
          </a:xfrm>
          <a:prstGeom prst="rect">
            <a:avLst/>
          </a:prstGeom>
        </p:spPr>
      </p:pic>
    </p:spTree>
    <p:extLst>
      <p:ext uri="{BB962C8B-B14F-4D97-AF65-F5344CB8AC3E}">
        <p14:creationId xmlns:p14="http://schemas.microsoft.com/office/powerpoint/2010/main" val="2577417759"/>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EEBE1"/>
        </a:solidFill>
        <a:effectLst/>
      </p:bgPr>
    </p:bg>
    <p:spTree>
      <p:nvGrpSpPr>
        <p:cNvPr id="1" name="">
          <a:extLst>
            <a:ext uri="{FF2B5EF4-FFF2-40B4-BE49-F238E27FC236}">
              <a16:creationId xmlns:a16="http://schemas.microsoft.com/office/drawing/2014/main" id="{FB81E765-F79A-EAA1-BDAE-D38E1C65D35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2C8A10F-8629-BF31-7E07-54E02AD49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CACB0271-C54A-9BE1-98AE-FEEACB1EF4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5F4202C4-9643-B682-3FA0-210C4A6A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A289EC0B-213E-802D-F5BC-C9C97B373B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6991159D-C65D-EE2C-260B-F1F04F6044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5" name="Picture 14">
            <a:extLst>
              <a:ext uri="{FF2B5EF4-FFF2-40B4-BE49-F238E27FC236}">
                <a16:creationId xmlns:a16="http://schemas.microsoft.com/office/drawing/2014/main" id="{9F5C67F1-EE4A-5ABA-4F39-ACE99196135B}"/>
              </a:ext>
            </a:extLst>
          </p:cNvPr>
          <p:cNvPicPr>
            <a:picLocks noChangeAspect="1"/>
          </p:cNvPicPr>
          <p:nvPr/>
        </p:nvPicPr>
        <p:blipFill>
          <a:blip r:embed="rId2"/>
          <a:stretch>
            <a:fillRect/>
          </a:stretch>
        </p:blipFill>
        <p:spPr>
          <a:xfrm>
            <a:off x="0" y="0"/>
            <a:ext cx="12197999" cy="6858000"/>
          </a:xfrm>
          <a:prstGeom prst="rect">
            <a:avLst/>
          </a:prstGeom>
        </p:spPr>
      </p:pic>
    </p:spTree>
    <p:extLst>
      <p:ext uri="{BB962C8B-B14F-4D97-AF65-F5344CB8AC3E}">
        <p14:creationId xmlns:p14="http://schemas.microsoft.com/office/powerpoint/2010/main" val="2232772348"/>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EEBE1"/>
        </a:solidFill>
        <a:effectLst/>
      </p:bgPr>
    </p:bg>
    <p:spTree>
      <p:nvGrpSpPr>
        <p:cNvPr id="1" name="">
          <a:extLst>
            <a:ext uri="{FF2B5EF4-FFF2-40B4-BE49-F238E27FC236}">
              <a16:creationId xmlns:a16="http://schemas.microsoft.com/office/drawing/2014/main" id="{47A4545E-B048-99C6-1B04-CDFC324A746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6D54219-85F1-8819-DBA5-362A43A8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9EF819C3-DDC1-44CB-E1C1-D1387B4CC0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7C7A2A81-1274-DAD0-6404-283541B9B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1E1E367-E638-149C-C09C-9131F397ACCD}"/>
              </a:ext>
            </a:extLst>
          </p:cNvPr>
          <p:cNvSpPr>
            <a:spLocks noGrp="1"/>
          </p:cNvSpPr>
          <p:nvPr>
            <p:ph type="title"/>
          </p:nvPr>
        </p:nvSpPr>
        <p:spPr>
          <a:xfrm>
            <a:off x="436417" y="3111191"/>
            <a:ext cx="3715085" cy="635617"/>
          </a:xfrm>
        </p:spPr>
        <p:txBody>
          <a:bodyPr anchor="ctr">
            <a:noAutofit/>
          </a:bodyPr>
          <a:lstStyle/>
          <a:p>
            <a:pPr algn="ctr"/>
            <a:r>
              <a:rPr lang="en-IN" sz="3200" b="1" dirty="0">
                <a:latin typeface="Aptos" panose="020B0004020202020204" pitchFamily="34" charset="0"/>
              </a:rPr>
              <a:t>Key insights</a:t>
            </a:r>
            <a:br>
              <a:rPr lang="en-IN" sz="2400" dirty="0">
                <a:solidFill>
                  <a:srgbClr val="080808"/>
                </a:solidFill>
                <a:latin typeface="Aptos" panose="020B0004020202020204" pitchFamily="34" charset="0"/>
              </a:rPr>
            </a:br>
            <a:endParaRPr lang="en-IN" sz="2400" dirty="0">
              <a:solidFill>
                <a:srgbClr val="080808"/>
              </a:solidFill>
              <a:latin typeface="Aptos" panose="020B00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01F8E66D-6086-2B70-802F-3B2F7EF045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BFDBFB34-202B-6289-C279-70CEE849E6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8878973E-38D4-CD75-836A-92E456B2389D}"/>
              </a:ext>
            </a:extLst>
          </p:cNvPr>
          <p:cNvSpPr>
            <a:spLocks noGrp="1"/>
          </p:cNvSpPr>
          <p:nvPr>
            <p:ph idx="1"/>
          </p:nvPr>
        </p:nvSpPr>
        <p:spPr>
          <a:xfrm>
            <a:off x="5067784" y="1426545"/>
            <a:ext cx="6434951" cy="4943081"/>
          </a:xfrm>
        </p:spPr>
        <p:txBody>
          <a:bodyPr anchor="t">
            <a:normAutofit fontScale="85000" lnSpcReduction="20000"/>
          </a:bodyPr>
          <a:lstStyle/>
          <a:p>
            <a:pPr marL="0" indent="0">
              <a:buNone/>
            </a:pPr>
            <a:r>
              <a:rPr lang="en-US" sz="1800" b="1" dirty="0"/>
              <a:t>1. Revenue Performance</a:t>
            </a:r>
          </a:p>
          <a:p>
            <a:r>
              <a:rPr lang="en-US" sz="1800" b="1" dirty="0"/>
              <a:t>Total Revenue Generated</a:t>
            </a:r>
            <a:r>
              <a:rPr lang="en-US" sz="1800" dirty="0"/>
              <a:t>: ₹2.01 billion.</a:t>
            </a:r>
          </a:p>
          <a:p>
            <a:r>
              <a:rPr lang="en-US" sz="1800" b="1" dirty="0"/>
              <a:t>Month-over-Month (MoM) Revenue Growth</a:t>
            </a:r>
            <a:r>
              <a:rPr lang="en-US" sz="1800" dirty="0"/>
              <a:t>: </a:t>
            </a:r>
            <a:r>
              <a:rPr lang="en-US" sz="1800" b="1" dirty="0"/>
              <a:t>50.29%</a:t>
            </a:r>
            <a:r>
              <a:rPr lang="en-US" sz="1800" dirty="0"/>
              <a:t>, which is a strong growth indicator.</a:t>
            </a:r>
          </a:p>
          <a:p>
            <a:r>
              <a:rPr lang="en-US" sz="1800" dirty="0"/>
              <a:t>The highest earning </a:t>
            </a:r>
            <a:r>
              <a:rPr lang="en-US" sz="1800" b="1" dirty="0"/>
              <a:t>property </a:t>
            </a:r>
            <a:r>
              <a:rPr lang="en-US" sz="1800" dirty="0"/>
              <a:t>is </a:t>
            </a:r>
            <a:r>
              <a:rPr lang="en-US" sz="1800" b="1" dirty="0"/>
              <a:t>ITC Exotica </a:t>
            </a:r>
            <a:r>
              <a:rPr lang="en-US" sz="1800" dirty="0"/>
              <a:t>with </a:t>
            </a:r>
            <a:r>
              <a:rPr lang="en-US" sz="1800" b="1" dirty="0"/>
              <a:t>₹37,47,11,225</a:t>
            </a:r>
            <a:r>
              <a:rPr lang="en-US" sz="1800" dirty="0"/>
              <a:t> in total revenue.</a:t>
            </a:r>
          </a:p>
          <a:p>
            <a:pPr marL="0" indent="0">
              <a:buNone/>
            </a:pPr>
            <a:r>
              <a:rPr lang="en-US" sz="1800" b="1" dirty="0"/>
              <a:t>2. Segment-Wise Revenue</a:t>
            </a:r>
          </a:p>
          <a:p>
            <a:r>
              <a:rPr lang="en-US" sz="1800" dirty="0"/>
              <a:t>The </a:t>
            </a:r>
            <a:r>
              <a:rPr lang="en-US" sz="1800" b="1" dirty="0"/>
              <a:t>Elite</a:t>
            </a:r>
            <a:r>
              <a:rPr lang="en-US" sz="1800" dirty="0"/>
              <a:t> and </a:t>
            </a:r>
            <a:r>
              <a:rPr lang="en-US" sz="1800" b="1" dirty="0"/>
              <a:t>Premium</a:t>
            </a:r>
            <a:r>
              <a:rPr lang="en-US" sz="1800" dirty="0"/>
              <a:t> room categories generate significantly more revenue compared to </a:t>
            </a:r>
            <a:r>
              <a:rPr lang="en-US" sz="1800" b="1" dirty="0"/>
              <a:t>Standard</a:t>
            </a:r>
            <a:r>
              <a:rPr lang="en-US" sz="1800" dirty="0"/>
              <a:t> and </a:t>
            </a:r>
            <a:r>
              <a:rPr lang="en-US" sz="1800" b="1" dirty="0"/>
              <a:t>Presidential</a:t>
            </a:r>
            <a:r>
              <a:rPr lang="en-US" sz="1800" dirty="0"/>
              <a:t> categories.</a:t>
            </a:r>
          </a:p>
          <a:p>
            <a:r>
              <a:rPr lang="en-US" sz="1800" dirty="0"/>
              <a:t>However, some </a:t>
            </a:r>
            <a:r>
              <a:rPr lang="en-US" sz="1800" b="1" dirty="0"/>
              <a:t>Premium and Standard rooms</a:t>
            </a:r>
            <a:r>
              <a:rPr lang="en-US" sz="1800" dirty="0"/>
              <a:t> show declining trends (marked with red arrows).</a:t>
            </a:r>
          </a:p>
          <a:p>
            <a:pPr marL="0" indent="0">
              <a:buNone/>
            </a:pPr>
            <a:r>
              <a:rPr lang="en-US" sz="1800" b="1" dirty="0"/>
              <a:t>3. Trends in ADR and </a:t>
            </a:r>
            <a:r>
              <a:rPr lang="en-US" sz="1800" b="1" dirty="0" err="1"/>
              <a:t>revPAR</a:t>
            </a:r>
            <a:endParaRPr lang="en-US" sz="1800" b="1" dirty="0"/>
          </a:p>
          <a:p>
            <a:r>
              <a:rPr lang="en-US" sz="1800" b="1" dirty="0"/>
              <a:t>ADR (Average Daily Rate)</a:t>
            </a:r>
            <a:r>
              <a:rPr lang="en-US" sz="1800" dirty="0"/>
              <a:t> is relatively stable.</a:t>
            </a:r>
          </a:p>
          <a:p>
            <a:r>
              <a:rPr lang="en-US" sz="1800" b="1" dirty="0" err="1"/>
              <a:t>revPAR</a:t>
            </a:r>
            <a:r>
              <a:rPr lang="en-US" sz="1800" b="1" dirty="0"/>
              <a:t> (Revenue per Available Room)</a:t>
            </a:r>
            <a:r>
              <a:rPr lang="en-US" sz="1800" dirty="0"/>
              <a:t> shows </a:t>
            </a:r>
            <a:r>
              <a:rPr lang="en-US" sz="1800" b="1" dirty="0"/>
              <a:t>weekly cyclical patterns</a:t>
            </a:r>
            <a:r>
              <a:rPr lang="en-US" sz="1800" dirty="0"/>
              <a:t> with spikes and dips, suggesting a </a:t>
            </a:r>
            <a:r>
              <a:rPr lang="en-US" sz="1800" b="1" dirty="0"/>
              <a:t>weekend/week start trend</a:t>
            </a:r>
            <a:r>
              <a:rPr lang="en-US" sz="1800" dirty="0"/>
              <a:t>.</a:t>
            </a:r>
          </a:p>
          <a:p>
            <a:pPr marL="0" indent="0">
              <a:buNone/>
            </a:pPr>
            <a:r>
              <a:rPr lang="en-US" sz="1800" b="1" dirty="0"/>
              <a:t>4. WoW (Week-over-Week) Revenue Growth</a:t>
            </a:r>
          </a:p>
          <a:p>
            <a:r>
              <a:rPr lang="en-US" sz="1800" dirty="0"/>
              <a:t>A </a:t>
            </a:r>
            <a:r>
              <a:rPr lang="en-US" sz="1800" b="1" dirty="0"/>
              <a:t>spike</a:t>
            </a:r>
            <a:r>
              <a:rPr lang="en-US" sz="1800" dirty="0"/>
              <a:t> in week 22, 24 and week 27.</a:t>
            </a:r>
          </a:p>
          <a:p>
            <a:r>
              <a:rPr lang="en-US" sz="1800" dirty="0"/>
              <a:t>Mostly small increases/decreases in other weeks.</a:t>
            </a:r>
          </a:p>
          <a:p>
            <a:r>
              <a:rPr lang="en-US" sz="1800" dirty="0"/>
              <a:t>Indicates possibly </a:t>
            </a:r>
            <a:r>
              <a:rPr lang="en-US" sz="1800" b="1" dirty="0"/>
              <a:t>seasonal promotions or events</a:t>
            </a:r>
            <a:r>
              <a:rPr lang="en-US" sz="1800" dirty="0"/>
              <a:t> causing surges in demand.</a:t>
            </a:r>
          </a:p>
        </p:txBody>
      </p:sp>
      <p:sp>
        <p:nvSpPr>
          <p:cNvPr id="4" name="TextBox 3">
            <a:extLst>
              <a:ext uri="{FF2B5EF4-FFF2-40B4-BE49-F238E27FC236}">
                <a16:creationId xmlns:a16="http://schemas.microsoft.com/office/drawing/2014/main" id="{90A9FA5F-9EBC-48C3-E461-6F4D332ACD59}"/>
              </a:ext>
            </a:extLst>
          </p:cNvPr>
          <p:cNvSpPr txBox="1"/>
          <p:nvPr/>
        </p:nvSpPr>
        <p:spPr>
          <a:xfrm>
            <a:off x="1897626" y="68826"/>
            <a:ext cx="8318090" cy="523220"/>
          </a:xfrm>
          <a:prstGeom prst="rect">
            <a:avLst/>
          </a:prstGeom>
          <a:noFill/>
        </p:spPr>
        <p:txBody>
          <a:bodyPr wrap="square" rtlCol="0">
            <a:spAutoFit/>
          </a:bodyPr>
          <a:lstStyle/>
          <a:p>
            <a:pPr algn="ctr"/>
            <a:r>
              <a:rPr lang="en-IN" sz="2800" b="1" dirty="0">
                <a:latin typeface="Aptos" panose="020B0004020202020204" pitchFamily="34" charset="0"/>
                <a:cs typeface="Arial" panose="020B0604020202020204" pitchFamily="34" charset="0"/>
              </a:rPr>
              <a:t>Financial Overview &amp; Revenue Performance</a:t>
            </a:r>
            <a:endParaRPr lang="en-IN" sz="2800" b="1" dirty="0"/>
          </a:p>
        </p:txBody>
      </p:sp>
      <p:pic>
        <p:nvPicPr>
          <p:cNvPr id="5" name="Picture 4">
            <a:extLst>
              <a:ext uri="{FF2B5EF4-FFF2-40B4-BE49-F238E27FC236}">
                <a16:creationId xmlns:a16="http://schemas.microsoft.com/office/drawing/2014/main" id="{0F6E0FD0-A502-DDA5-9AB2-3AAFDC4AB512}"/>
              </a:ext>
            </a:extLst>
          </p:cNvPr>
          <p:cNvPicPr>
            <a:picLocks noChangeAspect="1"/>
          </p:cNvPicPr>
          <p:nvPr/>
        </p:nvPicPr>
        <p:blipFill>
          <a:blip r:embed="rId2"/>
          <a:stretch>
            <a:fillRect/>
          </a:stretch>
        </p:blipFill>
        <p:spPr>
          <a:xfrm>
            <a:off x="5477467" y="6051923"/>
            <a:ext cx="1430571" cy="1144457"/>
          </a:xfrm>
          <a:prstGeom prst="rect">
            <a:avLst/>
          </a:prstGeom>
        </p:spPr>
      </p:pic>
    </p:spTree>
    <p:extLst>
      <p:ext uri="{BB962C8B-B14F-4D97-AF65-F5344CB8AC3E}">
        <p14:creationId xmlns:p14="http://schemas.microsoft.com/office/powerpoint/2010/main" val="1254176342"/>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EEBE1"/>
        </a:solidFill>
        <a:effectLst/>
      </p:bgPr>
    </p:bg>
    <p:spTree>
      <p:nvGrpSpPr>
        <p:cNvPr id="1" name="">
          <a:extLst>
            <a:ext uri="{FF2B5EF4-FFF2-40B4-BE49-F238E27FC236}">
              <a16:creationId xmlns:a16="http://schemas.microsoft.com/office/drawing/2014/main" id="{E34B4046-F6EC-C824-4768-0AA32F293CA3}"/>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B432743-9998-3089-2895-9BFE36F1F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CC3AB236-A6AB-48DD-DDE7-15FAE90F4E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0B03866F-275A-C389-1787-CC3AD731AC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80104A7-CDAA-2425-5C4D-2CC6BBC19482}"/>
              </a:ext>
            </a:extLst>
          </p:cNvPr>
          <p:cNvSpPr>
            <a:spLocks noGrp="1"/>
          </p:cNvSpPr>
          <p:nvPr>
            <p:ph type="title"/>
          </p:nvPr>
        </p:nvSpPr>
        <p:spPr>
          <a:xfrm>
            <a:off x="436417" y="3111191"/>
            <a:ext cx="3715085" cy="635617"/>
          </a:xfrm>
        </p:spPr>
        <p:txBody>
          <a:bodyPr anchor="ctr">
            <a:noAutofit/>
          </a:bodyPr>
          <a:lstStyle/>
          <a:p>
            <a:pPr algn="ctr"/>
            <a:r>
              <a:rPr lang="en-US" sz="3200" b="1" dirty="0">
                <a:latin typeface="Aptos" panose="020B0004020202020204" pitchFamily="34" charset="0"/>
              </a:rPr>
              <a:t>Conclusions</a:t>
            </a:r>
            <a:endParaRPr lang="en-IN" sz="2400" dirty="0">
              <a:solidFill>
                <a:srgbClr val="080808"/>
              </a:solidFill>
              <a:latin typeface="Aptos" panose="020B00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6AD5BD18-8DAD-7BBE-CAB1-DD16AC233F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A3C70AB0-E58E-9C76-AE19-19CD472D27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2369554C-3C52-DCFA-5AB5-FAC7EAF1708B}"/>
              </a:ext>
            </a:extLst>
          </p:cNvPr>
          <p:cNvSpPr>
            <a:spLocks noGrp="1"/>
          </p:cNvSpPr>
          <p:nvPr>
            <p:ph idx="1"/>
          </p:nvPr>
        </p:nvSpPr>
        <p:spPr>
          <a:xfrm>
            <a:off x="5067784" y="1426545"/>
            <a:ext cx="6434951" cy="4943081"/>
          </a:xfrm>
        </p:spPr>
        <p:txBody>
          <a:bodyPr anchor="t">
            <a:normAutofit/>
          </a:bodyPr>
          <a:lstStyle/>
          <a:p>
            <a:r>
              <a:rPr lang="en-US" sz="2200" b="1" dirty="0">
                <a:latin typeface="Aptos" panose="020B0004020202020204" pitchFamily="34" charset="0"/>
              </a:rPr>
              <a:t>Strong Overall Performance</a:t>
            </a:r>
            <a:r>
              <a:rPr lang="en-US" sz="2200" dirty="0">
                <a:latin typeface="Aptos" panose="020B0004020202020204" pitchFamily="34" charset="0"/>
              </a:rPr>
              <a:t>:</a:t>
            </a:r>
          </a:p>
          <a:p>
            <a:pPr lvl="1"/>
            <a:r>
              <a:rPr lang="en-US" sz="2000" dirty="0">
                <a:latin typeface="Aptos" panose="020B0004020202020204" pitchFamily="34" charset="0"/>
              </a:rPr>
              <a:t>The hotel portfolio is performing well, with solid MoM growth and a healthy top-line revenue.</a:t>
            </a:r>
          </a:p>
          <a:p>
            <a:r>
              <a:rPr lang="en-US" sz="2200" b="1" dirty="0">
                <a:latin typeface="Aptos" panose="020B0004020202020204" pitchFamily="34" charset="0"/>
              </a:rPr>
              <a:t>High Variability Among Properties</a:t>
            </a:r>
            <a:r>
              <a:rPr lang="en-US" sz="2200" dirty="0">
                <a:latin typeface="Aptos" panose="020B0004020202020204" pitchFamily="34" charset="0"/>
              </a:rPr>
              <a:t>:</a:t>
            </a:r>
          </a:p>
          <a:p>
            <a:pPr lvl="1"/>
            <a:r>
              <a:rPr lang="en-US" sz="2000" dirty="0">
                <a:latin typeface="Aptos" panose="020B0004020202020204" pitchFamily="34" charset="0"/>
              </a:rPr>
              <a:t>Some properties (e.g., ID 18558, 17558) are significantly outperforming others.</a:t>
            </a:r>
          </a:p>
          <a:p>
            <a:r>
              <a:rPr lang="en-US" sz="2200" b="1" dirty="0">
                <a:latin typeface="Aptos" panose="020B0004020202020204" pitchFamily="34" charset="0"/>
              </a:rPr>
              <a:t>Week-on-Week Revenue Volatility</a:t>
            </a:r>
            <a:r>
              <a:rPr lang="en-US" sz="2200" dirty="0">
                <a:latin typeface="Aptos" panose="020B0004020202020204" pitchFamily="34" charset="0"/>
              </a:rPr>
              <a:t>:</a:t>
            </a:r>
          </a:p>
          <a:p>
            <a:pPr lvl="1"/>
            <a:r>
              <a:rPr lang="en-US" sz="2000" dirty="0">
                <a:latin typeface="Aptos" panose="020B0004020202020204" pitchFamily="34" charset="0"/>
              </a:rPr>
              <a:t>Certain weeks exhibit extreme spikes, possibly due to high-impact factors (e.g., holidays, events).</a:t>
            </a:r>
          </a:p>
          <a:p>
            <a:r>
              <a:rPr lang="en-US" sz="2200" b="1" dirty="0">
                <a:latin typeface="Aptos" panose="020B0004020202020204" pitchFamily="34" charset="0"/>
              </a:rPr>
              <a:t>Product Mix Dependency</a:t>
            </a:r>
            <a:r>
              <a:rPr lang="en-US" sz="2200" dirty="0">
                <a:latin typeface="Aptos" panose="020B0004020202020204" pitchFamily="34" charset="0"/>
              </a:rPr>
              <a:t>:</a:t>
            </a:r>
          </a:p>
          <a:p>
            <a:pPr lvl="1"/>
            <a:r>
              <a:rPr lang="en-US" sz="2000" dirty="0">
                <a:latin typeface="Aptos" panose="020B0004020202020204" pitchFamily="34" charset="0"/>
              </a:rPr>
              <a:t>Revenue seems driven more by Elite and Premium categories, hinting at higher profitability in premium offerings.</a:t>
            </a:r>
          </a:p>
          <a:p>
            <a:pPr marL="0" indent="0">
              <a:buNone/>
            </a:pPr>
            <a:endParaRPr lang="en-US" sz="1800" dirty="0"/>
          </a:p>
        </p:txBody>
      </p:sp>
      <p:sp>
        <p:nvSpPr>
          <p:cNvPr id="4" name="TextBox 3">
            <a:extLst>
              <a:ext uri="{FF2B5EF4-FFF2-40B4-BE49-F238E27FC236}">
                <a16:creationId xmlns:a16="http://schemas.microsoft.com/office/drawing/2014/main" id="{D9FE4C14-8F8D-8D43-AC47-A2F309A8672E}"/>
              </a:ext>
            </a:extLst>
          </p:cNvPr>
          <p:cNvSpPr txBox="1"/>
          <p:nvPr/>
        </p:nvSpPr>
        <p:spPr>
          <a:xfrm>
            <a:off x="1897626" y="68826"/>
            <a:ext cx="8318090" cy="523220"/>
          </a:xfrm>
          <a:prstGeom prst="rect">
            <a:avLst/>
          </a:prstGeom>
          <a:noFill/>
        </p:spPr>
        <p:txBody>
          <a:bodyPr wrap="square" rtlCol="0">
            <a:spAutoFit/>
          </a:bodyPr>
          <a:lstStyle/>
          <a:p>
            <a:pPr algn="ctr"/>
            <a:r>
              <a:rPr lang="en-IN" sz="2800" b="1" dirty="0">
                <a:latin typeface="Aptos" panose="020B0004020202020204" pitchFamily="34" charset="0"/>
                <a:cs typeface="Arial" panose="020B0604020202020204" pitchFamily="34" charset="0"/>
              </a:rPr>
              <a:t>Financial Overview &amp; Revenue Performance</a:t>
            </a:r>
            <a:endParaRPr lang="en-IN" sz="2800" b="1" dirty="0"/>
          </a:p>
        </p:txBody>
      </p:sp>
      <p:pic>
        <p:nvPicPr>
          <p:cNvPr id="5" name="Picture 4">
            <a:extLst>
              <a:ext uri="{FF2B5EF4-FFF2-40B4-BE49-F238E27FC236}">
                <a16:creationId xmlns:a16="http://schemas.microsoft.com/office/drawing/2014/main" id="{95B974A1-9580-0399-2F97-C3C0A37CB0D9}"/>
              </a:ext>
            </a:extLst>
          </p:cNvPr>
          <p:cNvPicPr>
            <a:picLocks noChangeAspect="1"/>
          </p:cNvPicPr>
          <p:nvPr/>
        </p:nvPicPr>
        <p:blipFill>
          <a:blip r:embed="rId2"/>
          <a:stretch>
            <a:fillRect/>
          </a:stretch>
        </p:blipFill>
        <p:spPr>
          <a:xfrm>
            <a:off x="5477467" y="6051923"/>
            <a:ext cx="1430571" cy="1144457"/>
          </a:xfrm>
          <a:prstGeom prst="rect">
            <a:avLst/>
          </a:prstGeom>
        </p:spPr>
      </p:pic>
    </p:spTree>
    <p:extLst>
      <p:ext uri="{BB962C8B-B14F-4D97-AF65-F5344CB8AC3E}">
        <p14:creationId xmlns:p14="http://schemas.microsoft.com/office/powerpoint/2010/main" val="1782440435"/>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EEBE1"/>
        </a:solidFill>
        <a:effectLst/>
      </p:bgPr>
    </p:bg>
    <p:spTree>
      <p:nvGrpSpPr>
        <p:cNvPr id="1" name="">
          <a:extLst>
            <a:ext uri="{FF2B5EF4-FFF2-40B4-BE49-F238E27FC236}">
              <a16:creationId xmlns:a16="http://schemas.microsoft.com/office/drawing/2014/main" id="{9B9E9471-75FF-C243-7C7C-64A37655CDE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AD0B842-A090-1AAF-8748-4D5B358DD8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020C68AA-9B12-A32F-A7CF-317AC38C4A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112FB5FA-5112-1406-70E6-4D24155F0D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3E6553A-41BA-3079-A338-0EBF508EAF66}"/>
              </a:ext>
            </a:extLst>
          </p:cNvPr>
          <p:cNvSpPr>
            <a:spLocks noGrp="1"/>
          </p:cNvSpPr>
          <p:nvPr>
            <p:ph type="title"/>
          </p:nvPr>
        </p:nvSpPr>
        <p:spPr>
          <a:xfrm>
            <a:off x="436417" y="3111191"/>
            <a:ext cx="3715085" cy="635617"/>
          </a:xfrm>
        </p:spPr>
        <p:txBody>
          <a:bodyPr anchor="ctr">
            <a:noAutofit/>
          </a:bodyPr>
          <a:lstStyle/>
          <a:p>
            <a:pPr algn="ctr"/>
            <a:r>
              <a:rPr lang="en-US" sz="3200" b="1" dirty="0">
                <a:latin typeface="Aptos" panose="020B0004020202020204" pitchFamily="34" charset="0"/>
              </a:rPr>
              <a:t>Suggestion</a:t>
            </a:r>
            <a:endParaRPr lang="en-IN" sz="2400" dirty="0">
              <a:solidFill>
                <a:srgbClr val="080808"/>
              </a:solidFill>
              <a:latin typeface="Aptos" panose="020B00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751A511D-771C-6DAC-649B-BF4BF68CBA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6C216DD3-7590-8696-D23B-46CDB891CF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C792D6A0-C644-1A33-CB48-7BA682A42283}"/>
              </a:ext>
            </a:extLst>
          </p:cNvPr>
          <p:cNvSpPr>
            <a:spLocks noGrp="1"/>
          </p:cNvSpPr>
          <p:nvPr>
            <p:ph idx="1"/>
          </p:nvPr>
        </p:nvSpPr>
        <p:spPr>
          <a:xfrm>
            <a:off x="5067784" y="1426545"/>
            <a:ext cx="6434951" cy="4943081"/>
          </a:xfrm>
        </p:spPr>
        <p:txBody>
          <a:bodyPr anchor="t">
            <a:normAutofit fontScale="62500" lnSpcReduction="20000"/>
          </a:bodyPr>
          <a:lstStyle/>
          <a:p>
            <a:r>
              <a:rPr lang="en-US" b="1" dirty="0"/>
              <a:t>Investigate Top-Performing Properties</a:t>
            </a:r>
            <a:r>
              <a:rPr lang="en-US" dirty="0"/>
              <a:t>:</a:t>
            </a:r>
          </a:p>
          <a:p>
            <a:pPr lvl="1"/>
            <a:r>
              <a:rPr lang="en-US" dirty="0"/>
              <a:t>Analyze what drives success in properties like </a:t>
            </a:r>
            <a:r>
              <a:rPr lang="en-US" b="1" dirty="0"/>
              <a:t>ITC Exotica</a:t>
            </a:r>
            <a:r>
              <a:rPr lang="en-US" dirty="0"/>
              <a:t> and </a:t>
            </a:r>
            <a:r>
              <a:rPr lang="en-US" b="1" dirty="0"/>
              <a:t>ITC Palace</a:t>
            </a:r>
            <a:r>
              <a:rPr lang="en-US" dirty="0"/>
              <a:t> (e.g., location, services, pricing strategy).</a:t>
            </a:r>
          </a:p>
          <a:p>
            <a:r>
              <a:rPr lang="en-US" b="1" dirty="0"/>
              <a:t>Address Underperforming Segments</a:t>
            </a:r>
            <a:r>
              <a:rPr lang="en-US" dirty="0"/>
              <a:t>:</a:t>
            </a:r>
          </a:p>
          <a:p>
            <a:pPr lvl="1"/>
            <a:r>
              <a:rPr lang="en-US" dirty="0"/>
              <a:t>Standard and some Presidential segments show declining revenue.</a:t>
            </a:r>
          </a:p>
          <a:p>
            <a:pPr lvl="1"/>
            <a:r>
              <a:rPr lang="en-US" dirty="0"/>
              <a:t>Consider revising pricing, improving service quality, or repositioning offerings in those segments.</a:t>
            </a:r>
          </a:p>
          <a:p>
            <a:r>
              <a:rPr lang="en-US" b="1" dirty="0"/>
              <a:t>Capitalize on Revenue Spikes</a:t>
            </a:r>
            <a:r>
              <a:rPr lang="en-US" dirty="0"/>
              <a:t>:</a:t>
            </a:r>
          </a:p>
          <a:p>
            <a:pPr lvl="1"/>
            <a:r>
              <a:rPr lang="en-US" dirty="0"/>
              <a:t>Study the cause of </a:t>
            </a:r>
            <a:r>
              <a:rPr lang="en-US" b="1" dirty="0"/>
              <a:t>Week 24 </a:t>
            </a:r>
            <a:r>
              <a:rPr lang="en-US" b="1"/>
              <a:t>and 27 </a:t>
            </a:r>
            <a:r>
              <a:rPr lang="en-US" b="1" dirty="0"/>
              <a:t>spikes</a:t>
            </a:r>
            <a:r>
              <a:rPr lang="en-US" dirty="0"/>
              <a:t> (special events, holidays?).</a:t>
            </a:r>
          </a:p>
          <a:p>
            <a:pPr lvl="1"/>
            <a:r>
              <a:rPr lang="en-US" dirty="0"/>
              <a:t>Plan targeted marketing and promotions around similar future dates.</a:t>
            </a:r>
          </a:p>
          <a:p>
            <a:r>
              <a:rPr lang="en-US" b="1" dirty="0"/>
              <a:t>Dynamic Pricing Strategy</a:t>
            </a:r>
            <a:r>
              <a:rPr lang="en-US" dirty="0"/>
              <a:t>:</a:t>
            </a:r>
          </a:p>
          <a:p>
            <a:pPr lvl="1"/>
            <a:r>
              <a:rPr lang="en-US" dirty="0"/>
              <a:t>Use ADR and </a:t>
            </a:r>
            <a:r>
              <a:rPr lang="en-US" dirty="0" err="1"/>
              <a:t>revPAR</a:t>
            </a:r>
            <a:r>
              <a:rPr lang="en-US" dirty="0"/>
              <a:t> trends to optimize pricing during low-demand periods.</a:t>
            </a:r>
          </a:p>
          <a:p>
            <a:pPr lvl="1"/>
            <a:r>
              <a:rPr lang="en-US" dirty="0"/>
              <a:t>Implement real-time pricing based on occupancy and competitive rates.</a:t>
            </a:r>
          </a:p>
          <a:p>
            <a:r>
              <a:rPr lang="en-US" b="1" dirty="0"/>
              <a:t>Monitor and Act on Weekly Trends</a:t>
            </a:r>
            <a:r>
              <a:rPr lang="en-US" dirty="0"/>
              <a:t>:</a:t>
            </a:r>
          </a:p>
          <a:p>
            <a:pPr lvl="1"/>
            <a:r>
              <a:rPr lang="en-US" dirty="0"/>
              <a:t>Week-to-week changes are volatile—set up alerts or auto-adjustments based on performance thresholds.</a:t>
            </a:r>
          </a:p>
          <a:p>
            <a:r>
              <a:rPr lang="en-US" b="1" dirty="0"/>
              <a:t>Increase Focus on High-Rev Categories</a:t>
            </a:r>
            <a:r>
              <a:rPr lang="en-US" dirty="0"/>
              <a:t>:</a:t>
            </a:r>
          </a:p>
          <a:p>
            <a:pPr lvl="1"/>
            <a:r>
              <a:rPr lang="en-US" dirty="0"/>
              <a:t>Promote Elite and Presidential rooms through upselling, loyalty programs, or corporate tie-ups.</a:t>
            </a:r>
          </a:p>
          <a:p>
            <a:pPr marL="0" indent="0">
              <a:buNone/>
            </a:pPr>
            <a:endParaRPr lang="en-US" sz="1800" dirty="0"/>
          </a:p>
        </p:txBody>
      </p:sp>
      <p:sp>
        <p:nvSpPr>
          <p:cNvPr id="4" name="TextBox 3">
            <a:extLst>
              <a:ext uri="{FF2B5EF4-FFF2-40B4-BE49-F238E27FC236}">
                <a16:creationId xmlns:a16="http://schemas.microsoft.com/office/drawing/2014/main" id="{7DA519A7-AB6E-EBE1-32CD-A19868C494DF}"/>
              </a:ext>
            </a:extLst>
          </p:cNvPr>
          <p:cNvSpPr txBox="1"/>
          <p:nvPr/>
        </p:nvSpPr>
        <p:spPr>
          <a:xfrm>
            <a:off x="1897626" y="68826"/>
            <a:ext cx="8318090" cy="523220"/>
          </a:xfrm>
          <a:prstGeom prst="rect">
            <a:avLst/>
          </a:prstGeom>
          <a:noFill/>
        </p:spPr>
        <p:txBody>
          <a:bodyPr wrap="square" rtlCol="0">
            <a:spAutoFit/>
          </a:bodyPr>
          <a:lstStyle/>
          <a:p>
            <a:pPr algn="ctr"/>
            <a:r>
              <a:rPr lang="en-IN" sz="2800" b="1" dirty="0">
                <a:latin typeface="Aptos" panose="020B0004020202020204" pitchFamily="34" charset="0"/>
                <a:cs typeface="Arial" panose="020B0604020202020204" pitchFamily="34" charset="0"/>
              </a:rPr>
              <a:t>Financial Overview &amp; Revenue Performance</a:t>
            </a:r>
            <a:endParaRPr lang="en-IN" sz="2800" b="1" dirty="0"/>
          </a:p>
        </p:txBody>
      </p:sp>
      <p:pic>
        <p:nvPicPr>
          <p:cNvPr id="5" name="Picture 4">
            <a:extLst>
              <a:ext uri="{FF2B5EF4-FFF2-40B4-BE49-F238E27FC236}">
                <a16:creationId xmlns:a16="http://schemas.microsoft.com/office/drawing/2014/main" id="{57ADEAE4-2709-CD1B-BF70-1DA0FFFADD39}"/>
              </a:ext>
            </a:extLst>
          </p:cNvPr>
          <p:cNvPicPr>
            <a:picLocks noChangeAspect="1"/>
          </p:cNvPicPr>
          <p:nvPr/>
        </p:nvPicPr>
        <p:blipFill>
          <a:blip r:embed="rId2"/>
          <a:stretch>
            <a:fillRect/>
          </a:stretch>
        </p:blipFill>
        <p:spPr>
          <a:xfrm>
            <a:off x="5477467" y="6051923"/>
            <a:ext cx="1430571" cy="1144457"/>
          </a:xfrm>
          <a:prstGeom prst="rect">
            <a:avLst/>
          </a:prstGeom>
        </p:spPr>
      </p:pic>
    </p:spTree>
    <p:extLst>
      <p:ext uri="{BB962C8B-B14F-4D97-AF65-F5344CB8AC3E}">
        <p14:creationId xmlns:p14="http://schemas.microsoft.com/office/powerpoint/2010/main" val="1514574570"/>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EEBE1"/>
        </a:solidFill>
        <a:effectLst/>
      </p:bgPr>
    </p:bg>
    <p:spTree>
      <p:nvGrpSpPr>
        <p:cNvPr id="1" name="">
          <a:extLst>
            <a:ext uri="{FF2B5EF4-FFF2-40B4-BE49-F238E27FC236}">
              <a16:creationId xmlns:a16="http://schemas.microsoft.com/office/drawing/2014/main" id="{10F30F63-0BF4-CBFC-28F6-CA1DA64AB72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EC77D14-F959-AE30-2451-4550D63CEC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35868DB1-DFE2-05A1-B7CB-DA44E74CC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15B6A02A-E8FF-BE81-118E-7CF666D023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6A2C914-3BF3-B9C3-1C0D-F962C0BF53A4}"/>
              </a:ext>
            </a:extLst>
          </p:cNvPr>
          <p:cNvSpPr>
            <a:spLocks noGrp="1"/>
          </p:cNvSpPr>
          <p:nvPr>
            <p:ph type="title"/>
          </p:nvPr>
        </p:nvSpPr>
        <p:spPr>
          <a:xfrm>
            <a:off x="459980" y="1109346"/>
            <a:ext cx="3715085" cy="1512329"/>
          </a:xfrm>
        </p:spPr>
        <p:txBody>
          <a:bodyPr anchor="ctr">
            <a:noAutofit/>
          </a:bodyPr>
          <a:lstStyle/>
          <a:p>
            <a:r>
              <a:rPr lang="en-IN" sz="2400" dirty="0">
                <a:latin typeface="Aptos" panose="020B0004020202020204" pitchFamily="34" charset="0"/>
              </a:rPr>
              <a:t>Objective: What is the occupancy rate for each hotel and room category?</a:t>
            </a:r>
            <a:endParaRPr lang="en-IN" sz="2400" dirty="0">
              <a:solidFill>
                <a:srgbClr val="080808"/>
              </a:solidFill>
              <a:latin typeface="Aptos" panose="020B00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035844A5-46DE-7EFE-9C5C-2F2F7C9B3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FD1C8AB0-639F-2E70-0D83-3F0B9AC6F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8059DE64-DC61-C39F-8555-98E921E02D2D}"/>
              </a:ext>
            </a:extLst>
          </p:cNvPr>
          <p:cNvSpPr>
            <a:spLocks noGrp="1"/>
          </p:cNvSpPr>
          <p:nvPr>
            <p:ph idx="1"/>
          </p:nvPr>
        </p:nvSpPr>
        <p:spPr>
          <a:xfrm>
            <a:off x="371094" y="2718054"/>
            <a:ext cx="3438906" cy="4139946"/>
          </a:xfrm>
        </p:spPr>
        <p:txBody>
          <a:bodyPr anchor="t">
            <a:normAutofit fontScale="77500" lnSpcReduction="20000"/>
          </a:bodyPr>
          <a:lstStyle/>
          <a:p>
            <a:pPr marL="0" lvl="0" indent="0">
              <a:buNone/>
            </a:pPr>
            <a:r>
              <a:rPr lang="en-IN" sz="2100" dirty="0">
                <a:latin typeface="Aptos" panose="020B0004020202020204" pitchFamily="34" charset="0"/>
              </a:rPr>
              <a:t>Solution: </a:t>
            </a:r>
            <a:endParaRPr lang="en-IN" sz="2100" dirty="0">
              <a:solidFill>
                <a:srgbClr val="000000">
                  <a:alpha val="60000"/>
                </a:srgbClr>
              </a:solidFill>
              <a:latin typeface="Aptos" panose="020B0004020202020204" pitchFamily="34" charset="0"/>
            </a:endParaRPr>
          </a:p>
          <a:p>
            <a:pPr marL="0" indent="0">
              <a:buNone/>
            </a:pPr>
            <a:r>
              <a:rPr lang="en-IN" sz="2100" dirty="0">
                <a:latin typeface="Aptos" panose="020B0004020202020204" pitchFamily="34" charset="0"/>
              </a:rPr>
              <a:t>Created a measure and then used Matrix to display the occupancy rate by hotel and room category.</a:t>
            </a:r>
          </a:p>
          <a:p>
            <a:pPr marL="0" indent="0">
              <a:buNone/>
            </a:pPr>
            <a:r>
              <a:rPr lang="en-US" sz="2100" dirty="0">
                <a:latin typeface="Aptos" panose="020B0004020202020204" pitchFamily="34" charset="0"/>
              </a:rPr>
              <a:t>occupied_rooms: Counts all bookings where booking_status is "Checked Out" or "No Show". Represents rooms that were intended to be used, regardless of whether the guest actually arrived.</a:t>
            </a:r>
          </a:p>
          <a:p>
            <a:pPr marL="0" indent="0">
              <a:buNone/>
            </a:pPr>
            <a:r>
              <a:rPr lang="en-US" sz="2100" dirty="0">
                <a:latin typeface="Aptos" panose="020B0004020202020204" pitchFamily="34" charset="0"/>
              </a:rPr>
              <a:t>SUM(occupancy[capacity]): Totals the number of available rooms (capacity) from the occupancy table.</a:t>
            </a:r>
          </a:p>
          <a:p>
            <a:pPr marL="0" indent="0">
              <a:buNone/>
            </a:pPr>
            <a:r>
              <a:rPr lang="en-US" sz="2100" dirty="0">
                <a:latin typeface="Aptos" panose="020B0004020202020204" pitchFamily="34" charset="0"/>
              </a:rPr>
              <a:t>DIVIDE(): Computes the ratio of occupied rooms to total capacity. Uses 0 as fallback to avoid divide-by-zero errors.</a:t>
            </a:r>
            <a:endParaRPr lang="en-IN" sz="2100" dirty="0">
              <a:latin typeface="Aptos" panose="020B0004020202020204" pitchFamily="34" charset="0"/>
            </a:endParaRPr>
          </a:p>
          <a:p>
            <a:pPr marL="0" indent="0">
              <a:buNone/>
            </a:pPr>
            <a:endParaRPr lang="en-IN" sz="1800" dirty="0">
              <a:solidFill>
                <a:srgbClr val="080808"/>
              </a:solidFill>
              <a:latin typeface="Aptos" panose="020B0004020202020204" pitchFamily="34" charset="0"/>
            </a:endParaRPr>
          </a:p>
        </p:txBody>
      </p:sp>
      <p:sp>
        <p:nvSpPr>
          <p:cNvPr id="4" name="TextBox 3">
            <a:extLst>
              <a:ext uri="{FF2B5EF4-FFF2-40B4-BE49-F238E27FC236}">
                <a16:creationId xmlns:a16="http://schemas.microsoft.com/office/drawing/2014/main" id="{CD53CA19-0227-E7AE-7F91-E439F3893E54}"/>
              </a:ext>
            </a:extLst>
          </p:cNvPr>
          <p:cNvSpPr txBox="1"/>
          <p:nvPr/>
        </p:nvSpPr>
        <p:spPr>
          <a:xfrm>
            <a:off x="1897626" y="68826"/>
            <a:ext cx="8318090" cy="523220"/>
          </a:xfrm>
          <a:prstGeom prst="rect">
            <a:avLst/>
          </a:prstGeom>
          <a:noFill/>
        </p:spPr>
        <p:txBody>
          <a:bodyPr wrap="square" rtlCol="0">
            <a:spAutoFit/>
          </a:bodyPr>
          <a:lstStyle/>
          <a:p>
            <a:pPr algn="ctr"/>
            <a:r>
              <a:rPr lang="en-IN" sz="2800" b="1" dirty="0">
                <a:latin typeface="Aptos" panose="020B0004020202020204" pitchFamily="34" charset="0"/>
                <a:cs typeface="Arial" panose="020B0604020202020204" pitchFamily="34" charset="0"/>
              </a:rPr>
              <a:t>Occupancy &amp; Capacity Analysis</a:t>
            </a:r>
            <a:endParaRPr lang="en-IN" sz="2800" b="1" dirty="0"/>
          </a:p>
        </p:txBody>
      </p:sp>
      <p:pic>
        <p:nvPicPr>
          <p:cNvPr id="6" name="Picture 5">
            <a:extLst>
              <a:ext uri="{FF2B5EF4-FFF2-40B4-BE49-F238E27FC236}">
                <a16:creationId xmlns:a16="http://schemas.microsoft.com/office/drawing/2014/main" id="{80035FD3-BF76-8B40-EA77-4A39B20CCA1E}"/>
              </a:ext>
            </a:extLst>
          </p:cNvPr>
          <p:cNvPicPr>
            <a:picLocks noChangeAspect="1"/>
          </p:cNvPicPr>
          <p:nvPr/>
        </p:nvPicPr>
        <p:blipFill>
          <a:blip r:embed="rId2"/>
          <a:stretch>
            <a:fillRect/>
          </a:stretch>
        </p:blipFill>
        <p:spPr>
          <a:xfrm>
            <a:off x="4742769" y="1186364"/>
            <a:ext cx="7060641" cy="723716"/>
          </a:xfrm>
          <a:prstGeom prst="rect">
            <a:avLst/>
          </a:prstGeom>
          <a:effectLst>
            <a:glow rad="139700">
              <a:srgbClr val="000000">
                <a:alpha val="40000"/>
              </a:srgbClr>
            </a:glow>
          </a:effectLst>
        </p:spPr>
      </p:pic>
      <p:pic>
        <p:nvPicPr>
          <p:cNvPr id="9" name="Picture 8">
            <a:extLst>
              <a:ext uri="{FF2B5EF4-FFF2-40B4-BE49-F238E27FC236}">
                <a16:creationId xmlns:a16="http://schemas.microsoft.com/office/drawing/2014/main" id="{8DC179A7-B1F9-1C7A-12D0-989499DF9BF6}"/>
              </a:ext>
            </a:extLst>
          </p:cNvPr>
          <p:cNvPicPr>
            <a:picLocks noChangeAspect="1"/>
          </p:cNvPicPr>
          <p:nvPr/>
        </p:nvPicPr>
        <p:blipFill>
          <a:blip r:embed="rId3"/>
          <a:stretch>
            <a:fillRect/>
          </a:stretch>
        </p:blipFill>
        <p:spPr>
          <a:xfrm>
            <a:off x="6435804" y="2928436"/>
            <a:ext cx="4237833" cy="2743200"/>
          </a:xfrm>
          <a:prstGeom prst="rect">
            <a:avLst/>
          </a:prstGeom>
          <a:effectLst>
            <a:glow rad="139700">
              <a:srgbClr val="000000">
                <a:alpha val="40000"/>
              </a:srgbClr>
            </a:glow>
          </a:effectLst>
        </p:spPr>
      </p:pic>
      <p:pic>
        <p:nvPicPr>
          <p:cNvPr id="5" name="Picture 4">
            <a:extLst>
              <a:ext uri="{FF2B5EF4-FFF2-40B4-BE49-F238E27FC236}">
                <a16:creationId xmlns:a16="http://schemas.microsoft.com/office/drawing/2014/main" id="{B5AE15EE-571C-824C-5811-975A4DAB39D9}"/>
              </a:ext>
            </a:extLst>
          </p:cNvPr>
          <p:cNvPicPr>
            <a:picLocks noChangeAspect="1"/>
          </p:cNvPicPr>
          <p:nvPr/>
        </p:nvPicPr>
        <p:blipFill>
          <a:blip r:embed="rId4"/>
          <a:stretch>
            <a:fillRect/>
          </a:stretch>
        </p:blipFill>
        <p:spPr>
          <a:xfrm>
            <a:off x="5477467" y="6051923"/>
            <a:ext cx="1430571" cy="1144457"/>
          </a:xfrm>
          <a:prstGeom prst="rect">
            <a:avLst/>
          </a:prstGeom>
        </p:spPr>
      </p:pic>
    </p:spTree>
    <p:extLst>
      <p:ext uri="{BB962C8B-B14F-4D97-AF65-F5344CB8AC3E}">
        <p14:creationId xmlns:p14="http://schemas.microsoft.com/office/powerpoint/2010/main" val="866490771"/>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EEBE1"/>
        </a:solidFill>
        <a:effectLst/>
      </p:bgPr>
    </p:bg>
    <p:spTree>
      <p:nvGrpSpPr>
        <p:cNvPr id="1" name="">
          <a:extLst>
            <a:ext uri="{FF2B5EF4-FFF2-40B4-BE49-F238E27FC236}">
              <a16:creationId xmlns:a16="http://schemas.microsoft.com/office/drawing/2014/main" id="{FC4BB2CB-E922-E6B5-1F5D-BF383D242BB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33D94F6-C8E8-A1BF-2C11-FD5BBF7AFF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C2109368-6B06-91D2-2640-E402D8E84D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EED3C297-A898-39D4-0E4D-CCB70AF127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FC447F0-50FB-1011-A645-BD106A484E34}"/>
              </a:ext>
            </a:extLst>
          </p:cNvPr>
          <p:cNvSpPr>
            <a:spLocks noGrp="1"/>
          </p:cNvSpPr>
          <p:nvPr>
            <p:ph type="title"/>
          </p:nvPr>
        </p:nvSpPr>
        <p:spPr>
          <a:xfrm>
            <a:off x="371094" y="848332"/>
            <a:ext cx="4075435" cy="1512329"/>
          </a:xfrm>
        </p:spPr>
        <p:txBody>
          <a:bodyPr anchor="ctr">
            <a:noAutofit/>
          </a:bodyPr>
          <a:lstStyle/>
          <a:p>
            <a:r>
              <a:rPr lang="en-IN" sz="2400" dirty="0">
                <a:latin typeface="Aptos" panose="020B0004020202020204" pitchFamily="34" charset="0"/>
              </a:rPr>
              <a:t>Objective: How does occupancy fluctuate seasonally or over specific periods (e.g., weekends, holidays)?</a:t>
            </a:r>
            <a:endParaRPr lang="en-IN" sz="2400" dirty="0">
              <a:solidFill>
                <a:srgbClr val="080808"/>
              </a:solidFill>
              <a:latin typeface="Aptos" panose="020B00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B7405A20-14D2-7ABE-AD12-BF94041A05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E2A56930-4AB5-3699-EFE5-2106A0B512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11E3A6AD-7BBF-27F6-F123-C7249AF734E9}"/>
              </a:ext>
            </a:extLst>
          </p:cNvPr>
          <p:cNvSpPr>
            <a:spLocks noGrp="1"/>
          </p:cNvSpPr>
          <p:nvPr>
            <p:ph idx="1"/>
          </p:nvPr>
        </p:nvSpPr>
        <p:spPr>
          <a:xfrm>
            <a:off x="371094" y="2718054"/>
            <a:ext cx="3438906" cy="4139946"/>
          </a:xfrm>
        </p:spPr>
        <p:txBody>
          <a:bodyPr anchor="t">
            <a:normAutofit/>
          </a:bodyPr>
          <a:lstStyle/>
          <a:p>
            <a:pPr marL="0" lvl="0" indent="0">
              <a:buNone/>
            </a:pPr>
            <a:r>
              <a:rPr lang="en-IN" sz="2100" dirty="0">
                <a:latin typeface="Aptos" panose="020B0004020202020204" pitchFamily="34" charset="0"/>
              </a:rPr>
              <a:t>Solution: </a:t>
            </a:r>
            <a:endParaRPr lang="en-IN" sz="2100" dirty="0">
              <a:solidFill>
                <a:srgbClr val="000000">
                  <a:alpha val="60000"/>
                </a:srgbClr>
              </a:solidFill>
              <a:latin typeface="Aptos" panose="020B0004020202020204" pitchFamily="34" charset="0"/>
            </a:endParaRPr>
          </a:p>
          <a:p>
            <a:pPr marL="0" indent="0">
              <a:buNone/>
            </a:pPr>
            <a:r>
              <a:rPr lang="en-IN" sz="2000" dirty="0">
                <a:latin typeface="Aptos" panose="020B0004020202020204" pitchFamily="34" charset="0"/>
              </a:rPr>
              <a:t>Created a new column using switch under the calendars table and then used chart to display the trends.</a:t>
            </a:r>
          </a:p>
          <a:p>
            <a:pPr marL="0" indent="0">
              <a:buNone/>
            </a:pPr>
            <a:endParaRPr lang="en-IN" sz="1800" dirty="0">
              <a:solidFill>
                <a:srgbClr val="080808"/>
              </a:solidFill>
              <a:latin typeface="Aptos" panose="020B0004020202020204" pitchFamily="34" charset="0"/>
            </a:endParaRPr>
          </a:p>
        </p:txBody>
      </p:sp>
      <p:sp>
        <p:nvSpPr>
          <p:cNvPr id="4" name="TextBox 3">
            <a:extLst>
              <a:ext uri="{FF2B5EF4-FFF2-40B4-BE49-F238E27FC236}">
                <a16:creationId xmlns:a16="http://schemas.microsoft.com/office/drawing/2014/main" id="{C21C7F62-D6DB-A7FE-946A-AC9ACF7CC4B9}"/>
              </a:ext>
            </a:extLst>
          </p:cNvPr>
          <p:cNvSpPr txBox="1"/>
          <p:nvPr/>
        </p:nvSpPr>
        <p:spPr>
          <a:xfrm>
            <a:off x="1897626" y="68826"/>
            <a:ext cx="8318090" cy="523220"/>
          </a:xfrm>
          <a:prstGeom prst="rect">
            <a:avLst/>
          </a:prstGeom>
          <a:noFill/>
        </p:spPr>
        <p:txBody>
          <a:bodyPr wrap="square" rtlCol="0">
            <a:spAutoFit/>
          </a:bodyPr>
          <a:lstStyle/>
          <a:p>
            <a:pPr algn="ctr"/>
            <a:r>
              <a:rPr lang="en-IN" sz="2800" b="1" dirty="0">
                <a:latin typeface="Aptos" panose="020B0004020202020204" pitchFamily="34" charset="0"/>
                <a:cs typeface="Arial" panose="020B0604020202020204" pitchFamily="34" charset="0"/>
              </a:rPr>
              <a:t>Occupancy &amp; Capacity Analysis</a:t>
            </a:r>
            <a:endParaRPr lang="en-IN" sz="2800" b="1" dirty="0"/>
          </a:p>
        </p:txBody>
      </p:sp>
      <p:pic>
        <p:nvPicPr>
          <p:cNvPr id="5" name="Picture 4">
            <a:extLst>
              <a:ext uri="{FF2B5EF4-FFF2-40B4-BE49-F238E27FC236}">
                <a16:creationId xmlns:a16="http://schemas.microsoft.com/office/drawing/2014/main" id="{C0ED3B24-FBC0-0F93-BBF7-EEF5154A4FE1}"/>
              </a:ext>
            </a:extLst>
          </p:cNvPr>
          <p:cNvPicPr>
            <a:picLocks noChangeAspect="1"/>
          </p:cNvPicPr>
          <p:nvPr/>
        </p:nvPicPr>
        <p:blipFill>
          <a:blip r:embed="rId2"/>
          <a:stretch>
            <a:fillRect/>
          </a:stretch>
        </p:blipFill>
        <p:spPr>
          <a:xfrm>
            <a:off x="5631848" y="1333517"/>
            <a:ext cx="5135719" cy="1027144"/>
          </a:xfrm>
          <a:prstGeom prst="rect">
            <a:avLst/>
          </a:prstGeom>
          <a:effectLst>
            <a:glow rad="139700">
              <a:srgbClr val="000000">
                <a:alpha val="40000"/>
              </a:srgbClr>
            </a:glow>
          </a:effectLst>
        </p:spPr>
      </p:pic>
      <p:pic>
        <p:nvPicPr>
          <p:cNvPr id="8" name="Picture 7">
            <a:extLst>
              <a:ext uri="{FF2B5EF4-FFF2-40B4-BE49-F238E27FC236}">
                <a16:creationId xmlns:a16="http://schemas.microsoft.com/office/drawing/2014/main" id="{42521E56-1B32-9F0D-3199-9B3AD5745FE5}"/>
              </a:ext>
            </a:extLst>
          </p:cNvPr>
          <p:cNvPicPr>
            <a:picLocks noChangeAspect="1"/>
          </p:cNvPicPr>
          <p:nvPr/>
        </p:nvPicPr>
        <p:blipFill>
          <a:blip r:embed="rId3"/>
          <a:stretch>
            <a:fillRect/>
          </a:stretch>
        </p:blipFill>
        <p:spPr>
          <a:xfrm>
            <a:off x="5631847" y="3386009"/>
            <a:ext cx="5135719" cy="2298234"/>
          </a:xfrm>
          <a:prstGeom prst="rect">
            <a:avLst/>
          </a:prstGeom>
          <a:effectLst>
            <a:glow rad="139700">
              <a:srgbClr val="000000">
                <a:alpha val="40000"/>
              </a:srgbClr>
            </a:glow>
          </a:effectLst>
        </p:spPr>
      </p:pic>
      <p:pic>
        <p:nvPicPr>
          <p:cNvPr id="6" name="Picture 5">
            <a:extLst>
              <a:ext uri="{FF2B5EF4-FFF2-40B4-BE49-F238E27FC236}">
                <a16:creationId xmlns:a16="http://schemas.microsoft.com/office/drawing/2014/main" id="{5DBA6E32-97FE-E25E-259D-082C14BAED77}"/>
              </a:ext>
            </a:extLst>
          </p:cNvPr>
          <p:cNvPicPr>
            <a:picLocks noChangeAspect="1"/>
          </p:cNvPicPr>
          <p:nvPr/>
        </p:nvPicPr>
        <p:blipFill>
          <a:blip r:embed="rId4"/>
          <a:stretch>
            <a:fillRect/>
          </a:stretch>
        </p:blipFill>
        <p:spPr>
          <a:xfrm>
            <a:off x="5477467" y="6051923"/>
            <a:ext cx="1430571" cy="1144457"/>
          </a:xfrm>
          <a:prstGeom prst="rect">
            <a:avLst/>
          </a:prstGeom>
        </p:spPr>
      </p:pic>
    </p:spTree>
    <p:extLst>
      <p:ext uri="{BB962C8B-B14F-4D97-AF65-F5344CB8AC3E}">
        <p14:creationId xmlns:p14="http://schemas.microsoft.com/office/powerpoint/2010/main" val="764669533"/>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EEBE1"/>
        </a:solidFill>
        <a:effectLst/>
      </p:bgPr>
    </p:bg>
    <p:spTree>
      <p:nvGrpSpPr>
        <p:cNvPr id="1" name="">
          <a:extLst>
            <a:ext uri="{FF2B5EF4-FFF2-40B4-BE49-F238E27FC236}">
              <a16:creationId xmlns:a16="http://schemas.microsoft.com/office/drawing/2014/main" id="{461E046F-4F4E-1F65-8BD9-170EF6D3739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8A0C16C-7B4F-2E79-9205-25FD2C7EA0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16D7006D-B221-76EF-B90B-B5B2139A7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9C9031F0-2872-A9BB-3035-67D88A6CD0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758DAE4-E50A-B1F4-EDC2-716928CBD112}"/>
              </a:ext>
            </a:extLst>
          </p:cNvPr>
          <p:cNvSpPr>
            <a:spLocks noGrp="1"/>
          </p:cNvSpPr>
          <p:nvPr>
            <p:ph type="title"/>
          </p:nvPr>
        </p:nvSpPr>
        <p:spPr>
          <a:xfrm>
            <a:off x="371094" y="848332"/>
            <a:ext cx="4075435" cy="1512329"/>
          </a:xfrm>
        </p:spPr>
        <p:txBody>
          <a:bodyPr anchor="ctr">
            <a:noAutofit/>
          </a:bodyPr>
          <a:lstStyle/>
          <a:p>
            <a:r>
              <a:rPr lang="en-IN" sz="2400" dirty="0">
                <a:latin typeface="Aptos" panose="020B0004020202020204" pitchFamily="34" charset="0"/>
              </a:rPr>
              <a:t>Objective: What is the  occupancy growth (MoM and WoW)?</a:t>
            </a:r>
            <a:endParaRPr lang="en-IN" sz="2400" dirty="0">
              <a:solidFill>
                <a:srgbClr val="080808"/>
              </a:solidFill>
              <a:latin typeface="Aptos" panose="020B00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4A96ADB2-2D4C-A43C-8C73-3E9AD7CD17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82A968C2-2725-B6BB-1461-F6A4A3FC9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402BCE9D-5DD3-D16E-4E4B-DAEE33EA4BC3}"/>
              </a:ext>
            </a:extLst>
          </p:cNvPr>
          <p:cNvSpPr>
            <a:spLocks noGrp="1"/>
          </p:cNvSpPr>
          <p:nvPr>
            <p:ph idx="1"/>
          </p:nvPr>
        </p:nvSpPr>
        <p:spPr>
          <a:xfrm>
            <a:off x="371094" y="2718054"/>
            <a:ext cx="3438906" cy="4139946"/>
          </a:xfrm>
        </p:spPr>
        <p:txBody>
          <a:bodyPr anchor="t">
            <a:normAutofit fontScale="92500" lnSpcReduction="10000"/>
          </a:bodyPr>
          <a:lstStyle/>
          <a:p>
            <a:pPr marL="0" lvl="0" indent="0">
              <a:buNone/>
            </a:pPr>
            <a:r>
              <a:rPr lang="en-IN" sz="1800" dirty="0">
                <a:latin typeface="Aptos" panose="020B0004020202020204" pitchFamily="34" charset="0"/>
              </a:rPr>
              <a:t>Solution: </a:t>
            </a:r>
            <a:endParaRPr lang="en-IN" sz="1800" dirty="0">
              <a:solidFill>
                <a:srgbClr val="000000">
                  <a:alpha val="60000"/>
                </a:srgbClr>
              </a:solidFill>
              <a:latin typeface="Aptos" panose="020B0004020202020204" pitchFamily="34" charset="0"/>
            </a:endParaRPr>
          </a:p>
          <a:p>
            <a:pPr marL="0" lvl="0" indent="0">
              <a:buNone/>
            </a:pPr>
            <a:r>
              <a:rPr lang="en-IN" sz="1800" dirty="0">
                <a:latin typeface="Aptos" panose="020B0004020202020204" pitchFamily="34" charset="0"/>
              </a:rPr>
              <a:t>Calculate MOM using below measure and then used waterfall chart to display the growth</a:t>
            </a:r>
          </a:p>
          <a:p>
            <a:pPr marL="0" lvl="0" indent="0">
              <a:buNone/>
            </a:pPr>
            <a:r>
              <a:rPr lang="en-IN" sz="1800" dirty="0">
                <a:latin typeface="Aptos" panose="020B0004020202020204" pitchFamily="34" charset="0"/>
              </a:rPr>
              <a:t>MoM: </a:t>
            </a:r>
          </a:p>
          <a:p>
            <a:pPr marL="0" lvl="0" indent="0">
              <a:buNone/>
            </a:pPr>
            <a:r>
              <a:rPr lang="en-US" sz="1800" b="1" dirty="0">
                <a:latin typeface="Aptos" panose="020B0004020202020204" pitchFamily="34" charset="0"/>
              </a:rPr>
              <a:t>VAR </a:t>
            </a:r>
            <a:r>
              <a:rPr lang="en-US" sz="1800" b="1" dirty="0" err="1">
                <a:latin typeface="Aptos" panose="020B0004020202020204" pitchFamily="34" charset="0"/>
              </a:rPr>
              <a:t>prev_month</a:t>
            </a:r>
            <a:r>
              <a:rPr lang="en-US" sz="1800" dirty="0">
                <a:latin typeface="Aptos" panose="020B0004020202020204" pitchFamily="34" charset="0"/>
              </a:rPr>
              <a:t>: Retrieves occupancy rate from the same date context, but shifted back by 1 month using DATEADD.</a:t>
            </a:r>
          </a:p>
          <a:p>
            <a:pPr marL="0" lvl="0" indent="0">
              <a:buNone/>
            </a:pPr>
            <a:r>
              <a:rPr lang="en-US" sz="1800" b="1" dirty="0">
                <a:latin typeface="Aptos" panose="020B0004020202020204" pitchFamily="34" charset="0"/>
              </a:rPr>
              <a:t>RETURN DIVIDE(): </a:t>
            </a:r>
            <a:r>
              <a:rPr lang="en-US" sz="1800" dirty="0">
                <a:latin typeface="Aptos" panose="020B0004020202020204" pitchFamily="34" charset="0"/>
              </a:rPr>
              <a:t>Calculates the difference between current and previous month's occupancy rate. Divides the difference by the previous month's occupancy rate. Used DIVIDE(_, _, 0) to avoid errors from division by zero — returns 0 instead.</a:t>
            </a:r>
            <a:endParaRPr lang="en-IN" sz="1800" dirty="0">
              <a:latin typeface="Aptos" panose="020B0004020202020204" pitchFamily="34" charset="0"/>
            </a:endParaRPr>
          </a:p>
          <a:p>
            <a:pPr marL="0" indent="0">
              <a:buNone/>
            </a:pPr>
            <a:endParaRPr lang="en-IN" sz="1800" dirty="0">
              <a:solidFill>
                <a:srgbClr val="080808"/>
              </a:solidFill>
              <a:latin typeface="Aptos" panose="020B0004020202020204" pitchFamily="34" charset="0"/>
            </a:endParaRPr>
          </a:p>
        </p:txBody>
      </p:sp>
      <p:sp>
        <p:nvSpPr>
          <p:cNvPr id="4" name="TextBox 3">
            <a:extLst>
              <a:ext uri="{FF2B5EF4-FFF2-40B4-BE49-F238E27FC236}">
                <a16:creationId xmlns:a16="http://schemas.microsoft.com/office/drawing/2014/main" id="{2270B2FE-2B8B-7774-472A-165E0E8D7A04}"/>
              </a:ext>
            </a:extLst>
          </p:cNvPr>
          <p:cNvSpPr txBox="1"/>
          <p:nvPr/>
        </p:nvSpPr>
        <p:spPr>
          <a:xfrm>
            <a:off x="1897626" y="68826"/>
            <a:ext cx="8318090" cy="523220"/>
          </a:xfrm>
          <a:prstGeom prst="rect">
            <a:avLst/>
          </a:prstGeom>
          <a:noFill/>
        </p:spPr>
        <p:txBody>
          <a:bodyPr wrap="square" rtlCol="0">
            <a:spAutoFit/>
          </a:bodyPr>
          <a:lstStyle/>
          <a:p>
            <a:pPr algn="ctr"/>
            <a:r>
              <a:rPr lang="en-IN" sz="2800" b="1" dirty="0">
                <a:latin typeface="Aptos" panose="020B0004020202020204" pitchFamily="34" charset="0"/>
                <a:cs typeface="Arial" panose="020B0604020202020204" pitchFamily="34" charset="0"/>
              </a:rPr>
              <a:t>Occupancy &amp; Capacity Analysis</a:t>
            </a:r>
            <a:endParaRPr lang="en-IN" sz="2800" b="1" dirty="0"/>
          </a:p>
        </p:txBody>
      </p:sp>
      <p:pic>
        <p:nvPicPr>
          <p:cNvPr id="6" name="Picture 5">
            <a:extLst>
              <a:ext uri="{FF2B5EF4-FFF2-40B4-BE49-F238E27FC236}">
                <a16:creationId xmlns:a16="http://schemas.microsoft.com/office/drawing/2014/main" id="{6F56AE85-8DA4-3F94-3753-8B90DA1BEDB8}"/>
              </a:ext>
            </a:extLst>
          </p:cNvPr>
          <p:cNvPicPr>
            <a:picLocks noChangeAspect="1"/>
          </p:cNvPicPr>
          <p:nvPr/>
        </p:nvPicPr>
        <p:blipFill>
          <a:blip r:embed="rId2"/>
          <a:stretch>
            <a:fillRect/>
          </a:stretch>
        </p:blipFill>
        <p:spPr>
          <a:xfrm>
            <a:off x="5009866" y="1557173"/>
            <a:ext cx="6811039" cy="681102"/>
          </a:xfrm>
          <a:prstGeom prst="rect">
            <a:avLst/>
          </a:prstGeom>
          <a:effectLst>
            <a:glow rad="139700">
              <a:schemeClr val="tx1">
                <a:lumMod val="85000"/>
                <a:lumOff val="15000"/>
                <a:alpha val="40000"/>
              </a:schemeClr>
            </a:glow>
          </a:effectLst>
        </p:spPr>
      </p:pic>
      <p:pic>
        <p:nvPicPr>
          <p:cNvPr id="7" name="Picture 6">
            <a:extLst>
              <a:ext uri="{FF2B5EF4-FFF2-40B4-BE49-F238E27FC236}">
                <a16:creationId xmlns:a16="http://schemas.microsoft.com/office/drawing/2014/main" id="{715A2E7E-3007-7184-3B64-282E6A3403A8}"/>
              </a:ext>
            </a:extLst>
          </p:cNvPr>
          <p:cNvPicPr>
            <a:picLocks noChangeAspect="1"/>
          </p:cNvPicPr>
          <p:nvPr/>
        </p:nvPicPr>
        <p:blipFill>
          <a:blip r:embed="rId3"/>
          <a:stretch>
            <a:fillRect/>
          </a:stretch>
        </p:blipFill>
        <p:spPr>
          <a:xfrm>
            <a:off x="6275397" y="3429000"/>
            <a:ext cx="4279978" cy="1930041"/>
          </a:xfrm>
          <a:prstGeom prst="rect">
            <a:avLst/>
          </a:prstGeom>
          <a:effectLst>
            <a:glow rad="139700">
              <a:schemeClr val="bg2">
                <a:lumMod val="25000"/>
                <a:alpha val="40000"/>
              </a:schemeClr>
            </a:glow>
          </a:effectLst>
        </p:spPr>
      </p:pic>
      <p:pic>
        <p:nvPicPr>
          <p:cNvPr id="5" name="Picture 4">
            <a:extLst>
              <a:ext uri="{FF2B5EF4-FFF2-40B4-BE49-F238E27FC236}">
                <a16:creationId xmlns:a16="http://schemas.microsoft.com/office/drawing/2014/main" id="{F68D4D81-F4DE-EC78-B7AB-E8E1D5442C35}"/>
              </a:ext>
            </a:extLst>
          </p:cNvPr>
          <p:cNvPicPr>
            <a:picLocks noChangeAspect="1"/>
          </p:cNvPicPr>
          <p:nvPr/>
        </p:nvPicPr>
        <p:blipFill>
          <a:blip r:embed="rId4"/>
          <a:stretch>
            <a:fillRect/>
          </a:stretch>
        </p:blipFill>
        <p:spPr>
          <a:xfrm>
            <a:off x="5477467" y="6051923"/>
            <a:ext cx="1430571" cy="1144457"/>
          </a:xfrm>
          <a:prstGeom prst="rect">
            <a:avLst/>
          </a:prstGeom>
        </p:spPr>
      </p:pic>
    </p:spTree>
    <p:extLst>
      <p:ext uri="{BB962C8B-B14F-4D97-AF65-F5344CB8AC3E}">
        <p14:creationId xmlns:p14="http://schemas.microsoft.com/office/powerpoint/2010/main" val="1049310986"/>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EEBE1"/>
        </a:solidFill>
        <a:effectLst/>
      </p:bgPr>
    </p:bg>
    <p:spTree>
      <p:nvGrpSpPr>
        <p:cNvPr id="1" name="">
          <a:extLst>
            <a:ext uri="{FF2B5EF4-FFF2-40B4-BE49-F238E27FC236}">
              <a16:creationId xmlns:a16="http://schemas.microsoft.com/office/drawing/2014/main" id="{C7FB4743-349A-635C-DCCB-4168BBE803D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06013DF-E7A2-15EA-BEF3-1A10827499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8BAC4F36-A66F-A96A-AB70-B4A0954D2F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75F52C90-3838-7473-6E83-2E66245A1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471DC2F-763C-E67E-18CD-E446D4432A62}"/>
              </a:ext>
            </a:extLst>
          </p:cNvPr>
          <p:cNvSpPr>
            <a:spLocks noGrp="1"/>
          </p:cNvSpPr>
          <p:nvPr>
            <p:ph type="title"/>
          </p:nvPr>
        </p:nvSpPr>
        <p:spPr>
          <a:xfrm>
            <a:off x="371094" y="848332"/>
            <a:ext cx="4075435" cy="1512329"/>
          </a:xfrm>
        </p:spPr>
        <p:txBody>
          <a:bodyPr anchor="ctr">
            <a:noAutofit/>
          </a:bodyPr>
          <a:lstStyle/>
          <a:p>
            <a:r>
              <a:rPr lang="en-IN" sz="2400" dirty="0">
                <a:latin typeface="Aptos" panose="020B0004020202020204" pitchFamily="34" charset="0"/>
              </a:rPr>
              <a:t>Objective: What is the  occupancy growth (MoM and WoW)?</a:t>
            </a:r>
            <a:endParaRPr lang="en-IN" sz="2400" dirty="0">
              <a:solidFill>
                <a:srgbClr val="080808"/>
              </a:solidFill>
              <a:latin typeface="Aptos" panose="020B00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96788F3D-4314-C8F1-DBAA-F71155FA21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CE77121A-D259-BDA4-7B9B-8922B0F76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BE2110D0-DE17-0107-B5A2-D4C1F9F4FEE3}"/>
              </a:ext>
            </a:extLst>
          </p:cNvPr>
          <p:cNvSpPr>
            <a:spLocks noGrp="1"/>
          </p:cNvSpPr>
          <p:nvPr>
            <p:ph idx="1"/>
          </p:nvPr>
        </p:nvSpPr>
        <p:spPr>
          <a:xfrm>
            <a:off x="371094" y="2718054"/>
            <a:ext cx="3438906" cy="4139946"/>
          </a:xfrm>
        </p:spPr>
        <p:txBody>
          <a:bodyPr anchor="t">
            <a:normAutofit fontScale="62500" lnSpcReduction="20000"/>
          </a:bodyPr>
          <a:lstStyle/>
          <a:p>
            <a:pPr marL="0" lvl="0" indent="0">
              <a:buNone/>
            </a:pPr>
            <a:r>
              <a:rPr lang="en-IN" sz="2600" dirty="0">
                <a:latin typeface="Aptos" panose="020B0004020202020204" pitchFamily="34" charset="0"/>
              </a:rPr>
              <a:t>Solution: </a:t>
            </a:r>
            <a:endParaRPr lang="en-IN" sz="2600" dirty="0">
              <a:solidFill>
                <a:srgbClr val="000000">
                  <a:alpha val="60000"/>
                </a:srgbClr>
              </a:solidFill>
              <a:latin typeface="Aptos" panose="020B0004020202020204" pitchFamily="34" charset="0"/>
            </a:endParaRPr>
          </a:p>
          <a:p>
            <a:pPr marL="0" lvl="0" indent="0">
              <a:buNone/>
            </a:pPr>
            <a:r>
              <a:rPr lang="en-IN" sz="2600" dirty="0">
                <a:latin typeface="Aptos" panose="020B0004020202020204" pitchFamily="34" charset="0"/>
              </a:rPr>
              <a:t>Calculate WOW using below measure and then used waterfall chart to display the growth</a:t>
            </a:r>
          </a:p>
          <a:p>
            <a:pPr marL="0" lvl="0" indent="0">
              <a:buNone/>
            </a:pPr>
            <a:r>
              <a:rPr lang="en-US" sz="2600" dirty="0">
                <a:latin typeface="Aptos" panose="020B0004020202020204" pitchFamily="34" charset="0"/>
              </a:rPr>
              <a:t>WoW:</a:t>
            </a:r>
          </a:p>
          <a:p>
            <a:pPr marL="0" lvl="0" indent="0">
              <a:buNone/>
            </a:pPr>
            <a:r>
              <a:rPr lang="en-US" sz="2600" b="1" dirty="0">
                <a:latin typeface="Aptos" panose="020B0004020202020204" pitchFamily="34" charset="0"/>
              </a:rPr>
              <a:t>VAR </a:t>
            </a:r>
            <a:r>
              <a:rPr lang="en-US" sz="2600" b="1" dirty="0" err="1">
                <a:latin typeface="Aptos" panose="020B0004020202020204" pitchFamily="34" charset="0"/>
              </a:rPr>
              <a:t>prev_week</a:t>
            </a:r>
            <a:r>
              <a:rPr lang="en-US" sz="2600" b="1" dirty="0">
                <a:latin typeface="Aptos" panose="020B0004020202020204" pitchFamily="34" charset="0"/>
              </a:rPr>
              <a:t>: </a:t>
            </a:r>
            <a:r>
              <a:rPr lang="en-US" sz="2600" dirty="0">
                <a:latin typeface="Aptos" panose="020B0004020202020204" pitchFamily="34" charset="0"/>
              </a:rPr>
              <a:t>Retrieves the Occupancy rate total from the previous week. Used FILTER(ALL()) to ignore current filters and find the exact previous week using </a:t>
            </a:r>
            <a:r>
              <a:rPr lang="en-US" sz="2600" dirty="0" err="1">
                <a:latin typeface="Aptos" panose="020B0004020202020204" pitchFamily="34" charset="0"/>
              </a:rPr>
              <a:t>weeknum</a:t>
            </a:r>
            <a:r>
              <a:rPr lang="en-US" sz="2600" dirty="0">
                <a:latin typeface="Aptos" panose="020B0004020202020204" pitchFamily="34" charset="0"/>
              </a:rPr>
              <a:t>.</a:t>
            </a:r>
          </a:p>
          <a:p>
            <a:pPr marL="0" lvl="0" indent="0">
              <a:buNone/>
            </a:pPr>
            <a:r>
              <a:rPr lang="en-US" sz="2600" b="1" dirty="0">
                <a:latin typeface="Aptos" panose="020B0004020202020204" pitchFamily="34" charset="0"/>
              </a:rPr>
              <a:t>RETURN DIVIDE():</a:t>
            </a:r>
            <a:r>
              <a:rPr lang="en-US" sz="2600" dirty="0">
                <a:latin typeface="Aptos" panose="020B0004020202020204" pitchFamily="34" charset="0"/>
              </a:rPr>
              <a:t>Computes the difference between current and previous week's Occupancy rate. Divided by the previous week’s Occupancy rate to get a percentage. Returns 0 if the previous week’s Occupancy rate is zero (to avoid divide-by-zero errors).</a:t>
            </a:r>
            <a:endParaRPr lang="en-IN" sz="2600" dirty="0">
              <a:latin typeface="Aptos" panose="020B0004020202020204" pitchFamily="34" charset="0"/>
            </a:endParaRPr>
          </a:p>
          <a:p>
            <a:pPr marL="0" indent="0">
              <a:buNone/>
            </a:pPr>
            <a:endParaRPr lang="en-IN" sz="1800" dirty="0">
              <a:solidFill>
                <a:srgbClr val="080808"/>
              </a:solidFill>
              <a:latin typeface="Aptos" panose="020B0004020202020204" pitchFamily="34" charset="0"/>
            </a:endParaRPr>
          </a:p>
        </p:txBody>
      </p:sp>
      <p:sp>
        <p:nvSpPr>
          <p:cNvPr id="4" name="TextBox 3">
            <a:extLst>
              <a:ext uri="{FF2B5EF4-FFF2-40B4-BE49-F238E27FC236}">
                <a16:creationId xmlns:a16="http://schemas.microsoft.com/office/drawing/2014/main" id="{3183C0D9-063B-5323-079F-06D4C528DC9F}"/>
              </a:ext>
            </a:extLst>
          </p:cNvPr>
          <p:cNvSpPr txBox="1"/>
          <p:nvPr/>
        </p:nvSpPr>
        <p:spPr>
          <a:xfrm>
            <a:off x="1897626" y="68826"/>
            <a:ext cx="8318090" cy="523220"/>
          </a:xfrm>
          <a:prstGeom prst="rect">
            <a:avLst/>
          </a:prstGeom>
          <a:noFill/>
        </p:spPr>
        <p:txBody>
          <a:bodyPr wrap="square" rtlCol="0">
            <a:spAutoFit/>
          </a:bodyPr>
          <a:lstStyle/>
          <a:p>
            <a:pPr algn="ctr"/>
            <a:r>
              <a:rPr lang="en-IN" sz="2800" b="1" dirty="0">
                <a:latin typeface="Aptos" panose="020B0004020202020204" pitchFamily="34" charset="0"/>
                <a:cs typeface="Arial" panose="020B0604020202020204" pitchFamily="34" charset="0"/>
              </a:rPr>
              <a:t>Occupancy &amp; Capacity Analysis</a:t>
            </a:r>
            <a:endParaRPr lang="en-IN" sz="2800" b="1" dirty="0"/>
          </a:p>
        </p:txBody>
      </p:sp>
      <p:pic>
        <p:nvPicPr>
          <p:cNvPr id="5" name="Picture 4">
            <a:extLst>
              <a:ext uri="{FF2B5EF4-FFF2-40B4-BE49-F238E27FC236}">
                <a16:creationId xmlns:a16="http://schemas.microsoft.com/office/drawing/2014/main" id="{C6606DA6-661D-C472-135E-0CEF7854D2CE}"/>
              </a:ext>
            </a:extLst>
          </p:cNvPr>
          <p:cNvPicPr>
            <a:picLocks noChangeAspect="1"/>
          </p:cNvPicPr>
          <p:nvPr/>
        </p:nvPicPr>
        <p:blipFill>
          <a:blip r:embed="rId2"/>
          <a:stretch>
            <a:fillRect/>
          </a:stretch>
        </p:blipFill>
        <p:spPr>
          <a:xfrm>
            <a:off x="4826766" y="1574999"/>
            <a:ext cx="7034103" cy="756165"/>
          </a:xfrm>
          <a:prstGeom prst="rect">
            <a:avLst/>
          </a:prstGeom>
          <a:effectLst>
            <a:glow rad="139700">
              <a:schemeClr val="bg2">
                <a:lumMod val="25000"/>
                <a:alpha val="40000"/>
              </a:schemeClr>
            </a:glow>
          </a:effectLst>
        </p:spPr>
      </p:pic>
      <p:pic>
        <p:nvPicPr>
          <p:cNvPr id="8" name="Picture 7">
            <a:extLst>
              <a:ext uri="{FF2B5EF4-FFF2-40B4-BE49-F238E27FC236}">
                <a16:creationId xmlns:a16="http://schemas.microsoft.com/office/drawing/2014/main" id="{7DD5BE3A-E24C-10DB-A226-C03128284557}"/>
              </a:ext>
            </a:extLst>
          </p:cNvPr>
          <p:cNvPicPr>
            <a:picLocks noChangeAspect="1"/>
          </p:cNvPicPr>
          <p:nvPr/>
        </p:nvPicPr>
        <p:blipFill>
          <a:blip r:embed="rId3"/>
          <a:stretch>
            <a:fillRect/>
          </a:stretch>
        </p:blipFill>
        <p:spPr>
          <a:xfrm>
            <a:off x="5978272" y="3044244"/>
            <a:ext cx="5135719" cy="2311073"/>
          </a:xfrm>
          <a:prstGeom prst="rect">
            <a:avLst/>
          </a:prstGeom>
          <a:effectLst>
            <a:glow rad="139700">
              <a:schemeClr val="bg2">
                <a:lumMod val="25000"/>
                <a:alpha val="40000"/>
              </a:schemeClr>
            </a:glow>
          </a:effectLst>
        </p:spPr>
      </p:pic>
      <p:pic>
        <p:nvPicPr>
          <p:cNvPr id="6" name="Picture 5">
            <a:extLst>
              <a:ext uri="{FF2B5EF4-FFF2-40B4-BE49-F238E27FC236}">
                <a16:creationId xmlns:a16="http://schemas.microsoft.com/office/drawing/2014/main" id="{54256646-0813-CFD1-1568-3022E734DEAB}"/>
              </a:ext>
            </a:extLst>
          </p:cNvPr>
          <p:cNvPicPr>
            <a:picLocks noChangeAspect="1"/>
          </p:cNvPicPr>
          <p:nvPr/>
        </p:nvPicPr>
        <p:blipFill>
          <a:blip r:embed="rId4"/>
          <a:stretch>
            <a:fillRect/>
          </a:stretch>
        </p:blipFill>
        <p:spPr>
          <a:xfrm>
            <a:off x="5477467" y="6051923"/>
            <a:ext cx="1430571" cy="1144457"/>
          </a:xfrm>
          <a:prstGeom prst="rect">
            <a:avLst/>
          </a:prstGeom>
        </p:spPr>
      </p:pic>
    </p:spTree>
    <p:extLst>
      <p:ext uri="{BB962C8B-B14F-4D97-AF65-F5344CB8AC3E}">
        <p14:creationId xmlns:p14="http://schemas.microsoft.com/office/powerpoint/2010/main" val="140548421"/>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EEBE1"/>
        </a:solidFill>
        <a:effectLst/>
      </p:bgPr>
    </p:bg>
    <p:spTree>
      <p:nvGrpSpPr>
        <p:cNvPr id="1" name="">
          <a:extLst>
            <a:ext uri="{FF2B5EF4-FFF2-40B4-BE49-F238E27FC236}">
              <a16:creationId xmlns:a16="http://schemas.microsoft.com/office/drawing/2014/main" id="{C6365A09-AF02-7D16-E1C6-825B118E90E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C656176-A54A-6A0E-F6F3-59DDADED2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DB075A1C-066E-E37D-5331-CEB2E9598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362C48A7-72C7-8E50-EA2E-D57A273AE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79C44D6-F8F2-E9F5-26E7-AA0EC540C8E4}"/>
              </a:ext>
            </a:extLst>
          </p:cNvPr>
          <p:cNvSpPr>
            <a:spLocks noGrp="1"/>
          </p:cNvSpPr>
          <p:nvPr>
            <p:ph type="title"/>
          </p:nvPr>
        </p:nvSpPr>
        <p:spPr>
          <a:xfrm>
            <a:off x="371094" y="848332"/>
            <a:ext cx="4075435" cy="1512329"/>
          </a:xfrm>
        </p:spPr>
        <p:txBody>
          <a:bodyPr anchor="ctr">
            <a:noAutofit/>
          </a:bodyPr>
          <a:lstStyle/>
          <a:p>
            <a:r>
              <a:rPr lang="en-IN" sz="2400" dirty="0">
                <a:latin typeface="Aptos" panose="020B0004020202020204" pitchFamily="34" charset="0"/>
              </a:rPr>
              <a:t>Objective: How does occupancy correlate with revenue and RevPAR?</a:t>
            </a:r>
            <a:endParaRPr lang="en-IN" sz="2400" dirty="0">
              <a:solidFill>
                <a:srgbClr val="080808"/>
              </a:solidFill>
              <a:latin typeface="Aptos" panose="020B00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37667C82-7EF2-D83B-1EDB-F832465B5E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AB42FBAD-6B6D-7356-B61F-63F0982980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FFCEF201-24A2-2579-B2E3-78DBF0C82514}"/>
              </a:ext>
            </a:extLst>
          </p:cNvPr>
          <p:cNvSpPr>
            <a:spLocks noGrp="1"/>
          </p:cNvSpPr>
          <p:nvPr>
            <p:ph idx="1"/>
          </p:nvPr>
        </p:nvSpPr>
        <p:spPr>
          <a:xfrm>
            <a:off x="371094" y="2718054"/>
            <a:ext cx="3438906" cy="4139946"/>
          </a:xfrm>
        </p:spPr>
        <p:txBody>
          <a:bodyPr anchor="t">
            <a:normAutofit/>
          </a:bodyPr>
          <a:lstStyle/>
          <a:p>
            <a:pPr marL="0" lvl="0" indent="0">
              <a:buNone/>
            </a:pPr>
            <a:r>
              <a:rPr lang="en-IN" sz="1800" dirty="0">
                <a:latin typeface="Aptos" panose="020B0004020202020204" pitchFamily="34" charset="0"/>
              </a:rPr>
              <a:t>Solution: </a:t>
            </a:r>
            <a:endParaRPr lang="en-IN" sz="1800" dirty="0">
              <a:solidFill>
                <a:srgbClr val="000000">
                  <a:alpha val="60000"/>
                </a:srgbClr>
              </a:solidFill>
              <a:latin typeface="Aptos" panose="020B0004020202020204" pitchFamily="34" charset="0"/>
            </a:endParaRPr>
          </a:p>
          <a:p>
            <a:pPr marL="0" lvl="0" indent="0">
              <a:buNone/>
            </a:pPr>
            <a:r>
              <a:rPr lang="en-IN" sz="1800" dirty="0">
                <a:latin typeface="Aptos" panose="020B0004020202020204" pitchFamily="34" charset="0"/>
              </a:rPr>
              <a:t>Used previously created measure RevPAR and Occupancy Rate and display the corelation in scattered chart:</a:t>
            </a:r>
            <a:endParaRPr lang="en-IN" sz="1800" dirty="0">
              <a:solidFill>
                <a:srgbClr val="080808"/>
              </a:solidFill>
              <a:latin typeface="Aptos" panose="020B0004020202020204" pitchFamily="34" charset="0"/>
            </a:endParaRPr>
          </a:p>
        </p:txBody>
      </p:sp>
      <p:sp>
        <p:nvSpPr>
          <p:cNvPr id="4" name="TextBox 3">
            <a:extLst>
              <a:ext uri="{FF2B5EF4-FFF2-40B4-BE49-F238E27FC236}">
                <a16:creationId xmlns:a16="http://schemas.microsoft.com/office/drawing/2014/main" id="{F0F15CCB-984A-F52E-2B05-3A1ED8061209}"/>
              </a:ext>
            </a:extLst>
          </p:cNvPr>
          <p:cNvSpPr txBox="1"/>
          <p:nvPr/>
        </p:nvSpPr>
        <p:spPr>
          <a:xfrm>
            <a:off x="1897626" y="68826"/>
            <a:ext cx="8318090" cy="523220"/>
          </a:xfrm>
          <a:prstGeom prst="rect">
            <a:avLst/>
          </a:prstGeom>
          <a:noFill/>
        </p:spPr>
        <p:txBody>
          <a:bodyPr wrap="square" rtlCol="0">
            <a:spAutoFit/>
          </a:bodyPr>
          <a:lstStyle/>
          <a:p>
            <a:pPr algn="ctr"/>
            <a:r>
              <a:rPr lang="en-IN" sz="2800" b="1" dirty="0">
                <a:latin typeface="Aptos" panose="020B0004020202020204" pitchFamily="34" charset="0"/>
                <a:cs typeface="Arial" panose="020B0604020202020204" pitchFamily="34" charset="0"/>
              </a:rPr>
              <a:t>Occupancy &amp; Capacity Analysis</a:t>
            </a:r>
            <a:endParaRPr lang="en-IN" sz="2800" b="1" dirty="0"/>
          </a:p>
        </p:txBody>
      </p:sp>
      <p:pic>
        <p:nvPicPr>
          <p:cNvPr id="6" name="Picture 5">
            <a:extLst>
              <a:ext uri="{FF2B5EF4-FFF2-40B4-BE49-F238E27FC236}">
                <a16:creationId xmlns:a16="http://schemas.microsoft.com/office/drawing/2014/main" id="{B0E7A3B2-64E1-5126-3EBF-6F4D1E433B58}"/>
              </a:ext>
            </a:extLst>
          </p:cNvPr>
          <p:cNvPicPr>
            <a:picLocks noChangeAspect="1"/>
          </p:cNvPicPr>
          <p:nvPr/>
        </p:nvPicPr>
        <p:blipFill>
          <a:blip r:embed="rId2"/>
          <a:stretch>
            <a:fillRect/>
          </a:stretch>
        </p:blipFill>
        <p:spPr>
          <a:xfrm>
            <a:off x="5078165" y="1426546"/>
            <a:ext cx="6142507" cy="3854423"/>
          </a:xfrm>
          <a:prstGeom prst="rect">
            <a:avLst/>
          </a:prstGeom>
          <a:effectLst>
            <a:glow rad="139700">
              <a:schemeClr val="bg2">
                <a:lumMod val="25000"/>
                <a:alpha val="40000"/>
              </a:schemeClr>
            </a:glow>
          </a:effectLst>
        </p:spPr>
      </p:pic>
      <p:pic>
        <p:nvPicPr>
          <p:cNvPr id="5" name="Picture 4">
            <a:extLst>
              <a:ext uri="{FF2B5EF4-FFF2-40B4-BE49-F238E27FC236}">
                <a16:creationId xmlns:a16="http://schemas.microsoft.com/office/drawing/2014/main" id="{E610F94E-68E6-CA74-6461-E19422C07ADC}"/>
              </a:ext>
            </a:extLst>
          </p:cNvPr>
          <p:cNvPicPr>
            <a:picLocks noChangeAspect="1"/>
          </p:cNvPicPr>
          <p:nvPr/>
        </p:nvPicPr>
        <p:blipFill>
          <a:blip r:embed="rId3"/>
          <a:stretch>
            <a:fillRect/>
          </a:stretch>
        </p:blipFill>
        <p:spPr>
          <a:xfrm>
            <a:off x="5477467" y="6051923"/>
            <a:ext cx="1430571" cy="1144457"/>
          </a:xfrm>
          <a:prstGeom prst="rect">
            <a:avLst/>
          </a:prstGeom>
        </p:spPr>
      </p:pic>
    </p:spTree>
    <p:extLst>
      <p:ext uri="{BB962C8B-B14F-4D97-AF65-F5344CB8AC3E}">
        <p14:creationId xmlns:p14="http://schemas.microsoft.com/office/powerpoint/2010/main" val="3206968449"/>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EEBE1"/>
        </a:solidFill>
        <a:effectLst/>
      </p:bgPr>
    </p:bg>
    <p:spTree>
      <p:nvGrpSpPr>
        <p:cNvPr id="1" name="">
          <a:extLst>
            <a:ext uri="{FF2B5EF4-FFF2-40B4-BE49-F238E27FC236}">
              <a16:creationId xmlns:a16="http://schemas.microsoft.com/office/drawing/2014/main" id="{0D8734EF-F903-6939-A0F5-139443DEEFA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1EEA2D6-18F2-4EB3-28C5-7B2D35A9A9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E784D4D0-0E62-0CD1-9B7E-2289ACF49E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BECE0751-DAC4-D5C7-A907-2E84566E61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F84C926E-6693-4988-6A5A-AEADB93081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3940BBD0-D9FE-028F-66BD-78E4FE5829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A144137B-F525-D94A-B905-9E96112A74B7}"/>
              </a:ext>
            </a:extLst>
          </p:cNvPr>
          <p:cNvPicPr>
            <a:picLocks noChangeAspect="1"/>
          </p:cNvPicPr>
          <p:nvPr/>
        </p:nvPicPr>
        <p:blipFill>
          <a:blip r:embed="rId2"/>
          <a:stretch>
            <a:fillRect/>
          </a:stretch>
        </p:blipFill>
        <p:spPr>
          <a:xfrm>
            <a:off x="-3" y="0"/>
            <a:ext cx="12236267" cy="6858000"/>
          </a:xfrm>
          <a:prstGeom prst="rect">
            <a:avLst/>
          </a:prstGeom>
        </p:spPr>
      </p:pic>
    </p:spTree>
    <p:extLst>
      <p:ext uri="{BB962C8B-B14F-4D97-AF65-F5344CB8AC3E}">
        <p14:creationId xmlns:p14="http://schemas.microsoft.com/office/powerpoint/2010/main" val="2333365499"/>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EEBE1"/>
        </a:solidFill>
        <a:effectLst/>
      </p:bgPr>
    </p:bg>
    <p:spTree>
      <p:nvGrpSpPr>
        <p:cNvPr id="1" name="">
          <a:extLst>
            <a:ext uri="{FF2B5EF4-FFF2-40B4-BE49-F238E27FC236}">
              <a16:creationId xmlns:a16="http://schemas.microsoft.com/office/drawing/2014/main" id="{93A59A62-7C2B-2E36-4791-2768B182177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5A41E41-54DB-CD81-0232-7CE747146F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6523D32F-F075-2620-8E6E-453098B4C5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98B33820-A4F3-76F4-D39B-07E48485C9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59488E7-41F7-0DC2-BD87-1E93DE990964}"/>
              </a:ext>
            </a:extLst>
          </p:cNvPr>
          <p:cNvSpPr>
            <a:spLocks noGrp="1"/>
          </p:cNvSpPr>
          <p:nvPr>
            <p:ph type="title"/>
          </p:nvPr>
        </p:nvSpPr>
        <p:spPr>
          <a:xfrm>
            <a:off x="436417" y="3111191"/>
            <a:ext cx="3715085" cy="635617"/>
          </a:xfrm>
        </p:spPr>
        <p:txBody>
          <a:bodyPr anchor="ctr">
            <a:noAutofit/>
          </a:bodyPr>
          <a:lstStyle/>
          <a:p>
            <a:pPr algn="ctr"/>
            <a:r>
              <a:rPr lang="en-IN" sz="3200" b="1" dirty="0">
                <a:latin typeface="Aptos" panose="020B0004020202020204" pitchFamily="34" charset="0"/>
              </a:rPr>
              <a:t>Key insights</a:t>
            </a:r>
            <a:br>
              <a:rPr lang="en-IN" sz="2400" dirty="0">
                <a:solidFill>
                  <a:srgbClr val="080808"/>
                </a:solidFill>
                <a:latin typeface="Aptos" panose="020B0004020202020204" pitchFamily="34" charset="0"/>
              </a:rPr>
            </a:br>
            <a:endParaRPr lang="en-IN" sz="2400" dirty="0">
              <a:solidFill>
                <a:srgbClr val="080808"/>
              </a:solidFill>
              <a:latin typeface="Aptos" panose="020B00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9B79709A-6CEF-885A-F951-5C7F531FAC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A5212965-2F60-32D6-4FF1-4106CB7D72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F0236A4D-649C-7A0A-35C8-A4852CD6C4CA}"/>
              </a:ext>
            </a:extLst>
          </p:cNvPr>
          <p:cNvSpPr>
            <a:spLocks noGrp="1"/>
          </p:cNvSpPr>
          <p:nvPr>
            <p:ph idx="1"/>
          </p:nvPr>
        </p:nvSpPr>
        <p:spPr>
          <a:xfrm>
            <a:off x="5067784" y="1426545"/>
            <a:ext cx="6434951" cy="4943081"/>
          </a:xfrm>
        </p:spPr>
        <p:txBody>
          <a:bodyPr anchor="t">
            <a:normAutofit fontScale="40000" lnSpcReduction="20000"/>
          </a:bodyPr>
          <a:lstStyle/>
          <a:p>
            <a:pPr marL="0" indent="0">
              <a:lnSpc>
                <a:spcPct val="120000"/>
              </a:lnSpc>
              <a:spcBef>
                <a:spcPts val="600"/>
              </a:spcBef>
              <a:buNone/>
              <a:tabLst>
                <a:tab pos="360000" algn="l"/>
              </a:tabLst>
            </a:pPr>
            <a:r>
              <a:rPr lang="en-US" b="1" dirty="0"/>
              <a:t>1	Overall Occupancy</a:t>
            </a:r>
          </a:p>
          <a:p>
            <a:r>
              <a:rPr lang="en-US" b="1" dirty="0"/>
              <a:t>Occupancy Rate</a:t>
            </a:r>
            <a:r>
              <a:rPr lang="en-US" dirty="0"/>
              <a:t>: 43.50%</a:t>
            </a:r>
          </a:p>
          <a:p>
            <a:r>
              <a:rPr lang="en-US" b="1" dirty="0"/>
              <a:t>Total Occupancy</a:t>
            </a:r>
            <a:r>
              <a:rPr lang="en-US" dirty="0"/>
              <a:t>: 101.17K bookings</a:t>
            </a:r>
          </a:p>
          <a:p>
            <a:r>
              <a:rPr lang="en-US" b="1" dirty="0"/>
              <a:t>Week-over-Week Occupancy Growth</a:t>
            </a:r>
            <a:r>
              <a:rPr lang="en-US" dirty="0"/>
              <a:t>: 13.14% increase</a:t>
            </a:r>
          </a:p>
          <a:p>
            <a:r>
              <a:rPr lang="en-US" b="1" dirty="0"/>
              <a:t>Month-over-Month Occupancy Change</a:t>
            </a:r>
            <a:r>
              <a:rPr lang="en-US" dirty="0"/>
              <a:t>: Slight decline of </a:t>
            </a:r>
            <a:r>
              <a:rPr lang="en-US" b="1" dirty="0"/>
              <a:t>-0.12%</a:t>
            </a:r>
            <a:endParaRPr lang="en-US" dirty="0"/>
          </a:p>
          <a:p>
            <a:pPr marL="0" indent="0">
              <a:lnSpc>
                <a:spcPct val="120000"/>
              </a:lnSpc>
              <a:spcBef>
                <a:spcPts val="600"/>
              </a:spcBef>
              <a:buNone/>
              <a:tabLst>
                <a:tab pos="360000" algn="l"/>
              </a:tabLst>
            </a:pPr>
            <a:r>
              <a:rPr lang="en-US" b="1" dirty="0"/>
              <a:t>2.	Occupancy Trends by Day Type</a:t>
            </a:r>
          </a:p>
          <a:p>
            <a:r>
              <a:rPr lang="en-US" b="1" dirty="0"/>
              <a:t>Weekday Occupancy</a:t>
            </a:r>
            <a:r>
              <a:rPr lang="en-US" dirty="0"/>
              <a:t>: Generally </a:t>
            </a:r>
            <a:r>
              <a:rPr lang="en-US" b="1" dirty="0"/>
              <a:t>lower</a:t>
            </a:r>
            <a:r>
              <a:rPr lang="en-US" dirty="0"/>
              <a:t>, fluctuating around </a:t>
            </a:r>
            <a:r>
              <a:rPr lang="en-US" b="1" dirty="0"/>
              <a:t>35–40%</a:t>
            </a:r>
            <a:endParaRPr lang="en-US" dirty="0"/>
          </a:p>
          <a:p>
            <a:r>
              <a:rPr lang="en-US" b="1" dirty="0"/>
              <a:t>Weekend Occupancy</a:t>
            </a:r>
            <a:r>
              <a:rPr lang="en-US" dirty="0"/>
              <a:t>: </a:t>
            </a:r>
            <a:r>
              <a:rPr lang="en-US" b="1" dirty="0"/>
              <a:t>Higher and more stable</a:t>
            </a:r>
            <a:r>
              <a:rPr lang="en-US" dirty="0"/>
              <a:t>, mostly above </a:t>
            </a:r>
            <a:r>
              <a:rPr lang="en-US" b="1" dirty="0"/>
              <a:t>50%</a:t>
            </a:r>
            <a:endParaRPr lang="en-US" dirty="0"/>
          </a:p>
          <a:p>
            <a:pPr marL="0" indent="0">
              <a:lnSpc>
                <a:spcPct val="120000"/>
              </a:lnSpc>
              <a:spcBef>
                <a:spcPts val="600"/>
              </a:spcBef>
              <a:buNone/>
              <a:tabLst>
                <a:tab pos="360000" algn="l"/>
              </a:tabLst>
            </a:pPr>
            <a:r>
              <a:rPr lang="en-US" b="1" dirty="0"/>
              <a:t>3.	Occupancy vs RevPAR (Revenue per Available Room)</a:t>
            </a:r>
          </a:p>
          <a:p>
            <a:r>
              <a:rPr lang="en-US" dirty="0"/>
              <a:t>Properties with </a:t>
            </a:r>
            <a:r>
              <a:rPr lang="en-US" b="1" dirty="0"/>
              <a:t>higher RevPAR</a:t>
            </a:r>
            <a:r>
              <a:rPr lang="en-US" dirty="0"/>
              <a:t> generally show </a:t>
            </a:r>
            <a:r>
              <a:rPr lang="en-US" b="1" dirty="0"/>
              <a:t>higher occupancy rates</a:t>
            </a:r>
            <a:r>
              <a:rPr lang="en-US" dirty="0"/>
              <a:t>, though there are some outliers.</a:t>
            </a:r>
          </a:p>
          <a:p>
            <a:r>
              <a:rPr lang="en-US" dirty="0"/>
              <a:t>Significant cluster of properties in the ₹6K–₹10K RevPAR range with ~50% occupancy.</a:t>
            </a:r>
          </a:p>
          <a:p>
            <a:pPr marL="0" indent="0">
              <a:lnSpc>
                <a:spcPct val="120000"/>
              </a:lnSpc>
              <a:spcBef>
                <a:spcPts val="600"/>
              </a:spcBef>
              <a:buNone/>
              <a:tabLst>
                <a:tab pos="360000" algn="l"/>
              </a:tabLst>
            </a:pPr>
            <a:r>
              <a:rPr lang="en-US" b="1" dirty="0"/>
              <a:t>4.	City and Room Category Performance</a:t>
            </a:r>
          </a:p>
          <a:p>
            <a:r>
              <a:rPr lang="en-US" b="1" dirty="0"/>
              <a:t>Top-performing city</a:t>
            </a:r>
            <a:r>
              <a:rPr lang="en-US" dirty="0"/>
              <a:t> (Total Occupancy Rate): </a:t>
            </a:r>
            <a:r>
              <a:rPr lang="en-US" b="1" dirty="0"/>
              <a:t>Goa (49.67%)</a:t>
            </a:r>
            <a:endParaRPr lang="en-US" dirty="0"/>
          </a:p>
          <a:p>
            <a:r>
              <a:rPr lang="en-US" b="1" dirty="0"/>
              <a:t>Lowest-performing city</a:t>
            </a:r>
            <a:r>
              <a:rPr lang="en-US" dirty="0"/>
              <a:t>: </a:t>
            </a:r>
            <a:r>
              <a:rPr lang="en-US" b="1" dirty="0"/>
              <a:t>Hyderabad (40.61%)</a:t>
            </a:r>
            <a:endParaRPr lang="en-US" dirty="0"/>
          </a:p>
          <a:p>
            <a:r>
              <a:rPr lang="en-US" b="1" dirty="0"/>
              <a:t>Best room category overall</a:t>
            </a:r>
            <a:r>
              <a:rPr lang="en-US" dirty="0"/>
              <a:t>: </a:t>
            </a:r>
            <a:r>
              <a:rPr lang="en-US" b="1" dirty="0"/>
              <a:t>Presidential (44.75%)</a:t>
            </a:r>
            <a:endParaRPr lang="en-US" dirty="0"/>
          </a:p>
          <a:p>
            <a:r>
              <a:rPr lang="en-US" b="1" dirty="0"/>
              <a:t>Lowest-performing room category</a:t>
            </a:r>
            <a:r>
              <a:rPr lang="en-US" dirty="0"/>
              <a:t>: </a:t>
            </a:r>
            <a:r>
              <a:rPr lang="en-US" b="1" dirty="0"/>
              <a:t>Premium (42.25%)</a:t>
            </a:r>
            <a:endParaRPr lang="en-US" dirty="0"/>
          </a:p>
          <a:p>
            <a:pPr marL="0" indent="0">
              <a:lnSpc>
                <a:spcPct val="120000"/>
              </a:lnSpc>
              <a:spcBef>
                <a:spcPts val="600"/>
              </a:spcBef>
              <a:buNone/>
              <a:tabLst>
                <a:tab pos="360000" algn="l"/>
              </a:tabLst>
            </a:pPr>
            <a:r>
              <a:rPr lang="en-US" b="1" dirty="0"/>
              <a:t>5.	Week-over-Week Occupancy Growth (Trend)</a:t>
            </a:r>
          </a:p>
          <a:p>
            <a:r>
              <a:rPr lang="en-US" dirty="0"/>
              <a:t>High </a:t>
            </a:r>
            <a:r>
              <a:rPr lang="en-US" b="1" dirty="0"/>
              <a:t>fluctuation</a:t>
            </a:r>
            <a:r>
              <a:rPr lang="en-US" dirty="0"/>
              <a:t> observed:</a:t>
            </a:r>
          </a:p>
          <a:p>
            <a:pPr lvl="1"/>
            <a:r>
              <a:rPr lang="en-US" b="1" dirty="0"/>
              <a:t>Sharp declines</a:t>
            </a:r>
            <a:r>
              <a:rPr lang="en-US" dirty="0"/>
              <a:t>: Week 20 (-22.28%), Week 30 (-15.06%)</a:t>
            </a:r>
          </a:p>
          <a:p>
            <a:pPr lvl="1"/>
            <a:r>
              <a:rPr lang="en-US" b="1" dirty="0"/>
              <a:t>Recovery spikes</a:t>
            </a:r>
            <a:r>
              <a:rPr lang="en-US" dirty="0"/>
              <a:t>: Week 25 (15.67%), Week 27 (17.96%)</a:t>
            </a:r>
          </a:p>
        </p:txBody>
      </p:sp>
      <p:sp>
        <p:nvSpPr>
          <p:cNvPr id="4" name="TextBox 3">
            <a:extLst>
              <a:ext uri="{FF2B5EF4-FFF2-40B4-BE49-F238E27FC236}">
                <a16:creationId xmlns:a16="http://schemas.microsoft.com/office/drawing/2014/main" id="{A664E915-F85D-B385-77AA-896EFFDEF868}"/>
              </a:ext>
            </a:extLst>
          </p:cNvPr>
          <p:cNvSpPr txBox="1"/>
          <p:nvPr/>
        </p:nvSpPr>
        <p:spPr>
          <a:xfrm>
            <a:off x="1897626" y="68826"/>
            <a:ext cx="8318090" cy="523220"/>
          </a:xfrm>
          <a:prstGeom prst="rect">
            <a:avLst/>
          </a:prstGeom>
          <a:noFill/>
        </p:spPr>
        <p:txBody>
          <a:bodyPr wrap="square" rtlCol="0">
            <a:spAutoFit/>
          </a:bodyPr>
          <a:lstStyle/>
          <a:p>
            <a:pPr algn="ctr"/>
            <a:r>
              <a:rPr lang="en-IN" sz="2800" b="1" dirty="0">
                <a:latin typeface="Aptos" panose="020B0004020202020204" pitchFamily="34" charset="0"/>
                <a:cs typeface="Arial" panose="020B0604020202020204" pitchFamily="34" charset="0"/>
              </a:rPr>
              <a:t>Occupancy &amp; Capacity Analysis</a:t>
            </a:r>
            <a:endParaRPr lang="en-IN" sz="2800" b="1" dirty="0"/>
          </a:p>
        </p:txBody>
      </p:sp>
      <p:pic>
        <p:nvPicPr>
          <p:cNvPr id="5" name="Picture 4">
            <a:extLst>
              <a:ext uri="{FF2B5EF4-FFF2-40B4-BE49-F238E27FC236}">
                <a16:creationId xmlns:a16="http://schemas.microsoft.com/office/drawing/2014/main" id="{01C10128-368C-DB55-FC71-9FD5DA279E30}"/>
              </a:ext>
            </a:extLst>
          </p:cNvPr>
          <p:cNvPicPr>
            <a:picLocks noChangeAspect="1"/>
          </p:cNvPicPr>
          <p:nvPr/>
        </p:nvPicPr>
        <p:blipFill>
          <a:blip r:embed="rId2"/>
          <a:stretch>
            <a:fillRect/>
          </a:stretch>
        </p:blipFill>
        <p:spPr>
          <a:xfrm>
            <a:off x="5477467" y="6051923"/>
            <a:ext cx="1430571" cy="1144457"/>
          </a:xfrm>
          <a:prstGeom prst="rect">
            <a:avLst/>
          </a:prstGeom>
        </p:spPr>
      </p:pic>
    </p:spTree>
    <p:extLst>
      <p:ext uri="{BB962C8B-B14F-4D97-AF65-F5344CB8AC3E}">
        <p14:creationId xmlns:p14="http://schemas.microsoft.com/office/powerpoint/2010/main" val="3109927554"/>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EEBE1"/>
        </a:solidFill>
        <a:effectLst/>
      </p:bgPr>
    </p:bg>
    <p:spTree>
      <p:nvGrpSpPr>
        <p:cNvPr id="1" name="">
          <a:extLst>
            <a:ext uri="{FF2B5EF4-FFF2-40B4-BE49-F238E27FC236}">
              <a16:creationId xmlns:a16="http://schemas.microsoft.com/office/drawing/2014/main" id="{2F3CE71F-9DB5-D74C-9814-9C9324E9966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6AE46C7-660A-AFAD-D974-4269852A96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5C44A1DF-6BD0-0BFA-1E9C-6962A36E6A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F29A7D46-E8C4-8F4C-F283-7C51C8767C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15EE8A9-67FA-15D5-4208-E391C9BBA7F0}"/>
              </a:ext>
            </a:extLst>
          </p:cNvPr>
          <p:cNvSpPr>
            <a:spLocks noGrp="1"/>
          </p:cNvSpPr>
          <p:nvPr>
            <p:ph type="title"/>
          </p:nvPr>
        </p:nvSpPr>
        <p:spPr>
          <a:xfrm>
            <a:off x="436417" y="3111191"/>
            <a:ext cx="3715085" cy="635617"/>
          </a:xfrm>
        </p:spPr>
        <p:txBody>
          <a:bodyPr anchor="ctr">
            <a:noAutofit/>
          </a:bodyPr>
          <a:lstStyle/>
          <a:p>
            <a:pPr algn="ctr"/>
            <a:r>
              <a:rPr lang="en-US" sz="3200" b="1" dirty="0">
                <a:latin typeface="Aptos" panose="020B0004020202020204" pitchFamily="34" charset="0"/>
              </a:rPr>
              <a:t>Conclusions</a:t>
            </a:r>
            <a:endParaRPr lang="en-IN" sz="2400" dirty="0">
              <a:solidFill>
                <a:srgbClr val="080808"/>
              </a:solidFill>
              <a:latin typeface="Aptos" panose="020B00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AA046BA3-F469-1FF9-D45E-F8B31564D4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993C5ED0-1176-4E30-33E5-D7E05E8E7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592714EE-BA16-F21A-8A4F-11E218A22DB6}"/>
              </a:ext>
            </a:extLst>
          </p:cNvPr>
          <p:cNvSpPr>
            <a:spLocks noGrp="1"/>
          </p:cNvSpPr>
          <p:nvPr>
            <p:ph idx="1"/>
          </p:nvPr>
        </p:nvSpPr>
        <p:spPr>
          <a:xfrm>
            <a:off x="5067784" y="1426545"/>
            <a:ext cx="6434951" cy="4943081"/>
          </a:xfrm>
        </p:spPr>
        <p:txBody>
          <a:bodyPr anchor="t">
            <a:normAutofit/>
          </a:bodyPr>
          <a:lstStyle/>
          <a:p>
            <a:r>
              <a:rPr lang="en-US" sz="1800" dirty="0">
                <a:latin typeface="Aptos" panose="020B0004020202020204" pitchFamily="34" charset="0"/>
              </a:rPr>
              <a:t>Overall occupancy remains below optimal levels (ideally 60%+), with performance relying heavily on weekend traffic.</a:t>
            </a:r>
          </a:p>
          <a:p>
            <a:r>
              <a:rPr lang="en-US" sz="1800" dirty="0">
                <a:latin typeface="Aptos" panose="020B0004020202020204" pitchFamily="34" charset="0"/>
              </a:rPr>
              <a:t>Occupancy growth is unstable, with high volatility week to week.</a:t>
            </a:r>
          </a:p>
          <a:p>
            <a:r>
              <a:rPr lang="en-US" sz="1800" dirty="0">
                <a:latin typeface="Aptos" panose="020B0004020202020204" pitchFamily="34" charset="0"/>
              </a:rPr>
              <a:t>Premium and standard categories underperform, while Presidential and Elite rooms show stronger occupancy, possibly reflecting more value-driven or exclusive segments.</a:t>
            </a:r>
          </a:p>
          <a:p>
            <a:r>
              <a:rPr lang="en-US" sz="1800" dirty="0">
                <a:latin typeface="Aptos" panose="020B0004020202020204" pitchFamily="34" charset="0"/>
              </a:rPr>
              <a:t>Hyderabad and Bangalore need immediate attention due to low total occupancy (&lt;41%).</a:t>
            </a:r>
            <a:endParaRPr lang="en-US" sz="1800" dirty="0"/>
          </a:p>
        </p:txBody>
      </p:sp>
      <p:sp>
        <p:nvSpPr>
          <p:cNvPr id="4" name="TextBox 3">
            <a:extLst>
              <a:ext uri="{FF2B5EF4-FFF2-40B4-BE49-F238E27FC236}">
                <a16:creationId xmlns:a16="http://schemas.microsoft.com/office/drawing/2014/main" id="{47831CDF-36AB-E16D-2C81-47F7876B6D54}"/>
              </a:ext>
            </a:extLst>
          </p:cNvPr>
          <p:cNvSpPr txBox="1"/>
          <p:nvPr/>
        </p:nvSpPr>
        <p:spPr>
          <a:xfrm>
            <a:off x="1897626" y="68826"/>
            <a:ext cx="8318090" cy="523220"/>
          </a:xfrm>
          <a:prstGeom prst="rect">
            <a:avLst/>
          </a:prstGeom>
          <a:noFill/>
        </p:spPr>
        <p:txBody>
          <a:bodyPr wrap="square" rtlCol="0">
            <a:spAutoFit/>
          </a:bodyPr>
          <a:lstStyle/>
          <a:p>
            <a:pPr algn="ctr"/>
            <a:r>
              <a:rPr lang="en-IN" sz="2800" b="1" dirty="0">
                <a:latin typeface="Aptos" panose="020B0004020202020204" pitchFamily="34" charset="0"/>
                <a:cs typeface="Arial" panose="020B0604020202020204" pitchFamily="34" charset="0"/>
              </a:rPr>
              <a:t>Occupancy &amp; Capacity Analysis</a:t>
            </a:r>
            <a:endParaRPr lang="en-IN" sz="2800" b="1" dirty="0"/>
          </a:p>
        </p:txBody>
      </p:sp>
      <p:pic>
        <p:nvPicPr>
          <p:cNvPr id="5" name="Picture 4">
            <a:extLst>
              <a:ext uri="{FF2B5EF4-FFF2-40B4-BE49-F238E27FC236}">
                <a16:creationId xmlns:a16="http://schemas.microsoft.com/office/drawing/2014/main" id="{1291628D-0A91-8721-802E-B6992400D485}"/>
              </a:ext>
            </a:extLst>
          </p:cNvPr>
          <p:cNvPicPr>
            <a:picLocks noChangeAspect="1"/>
          </p:cNvPicPr>
          <p:nvPr/>
        </p:nvPicPr>
        <p:blipFill>
          <a:blip r:embed="rId2"/>
          <a:stretch>
            <a:fillRect/>
          </a:stretch>
        </p:blipFill>
        <p:spPr>
          <a:xfrm>
            <a:off x="5477467" y="6051923"/>
            <a:ext cx="1430571" cy="1144457"/>
          </a:xfrm>
          <a:prstGeom prst="rect">
            <a:avLst/>
          </a:prstGeom>
        </p:spPr>
      </p:pic>
    </p:spTree>
    <p:extLst>
      <p:ext uri="{BB962C8B-B14F-4D97-AF65-F5344CB8AC3E}">
        <p14:creationId xmlns:p14="http://schemas.microsoft.com/office/powerpoint/2010/main" val="217767056"/>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EEBE1"/>
        </a:solidFill>
        <a:effectLst/>
      </p:bgPr>
    </p:bg>
    <p:spTree>
      <p:nvGrpSpPr>
        <p:cNvPr id="1" name="">
          <a:extLst>
            <a:ext uri="{FF2B5EF4-FFF2-40B4-BE49-F238E27FC236}">
              <a16:creationId xmlns:a16="http://schemas.microsoft.com/office/drawing/2014/main" id="{6C5BBB42-8F8B-8720-47E9-338D33C40E5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C61DDFB-D576-13CF-01AE-63C0183E0D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CABBC2CD-7368-E782-3602-DDD43866DC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4FE1D693-B0CD-C0DD-CCCE-D869588F9A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4FB2690-D9CC-B1CC-A29E-773140870DF0}"/>
              </a:ext>
            </a:extLst>
          </p:cNvPr>
          <p:cNvSpPr>
            <a:spLocks noGrp="1"/>
          </p:cNvSpPr>
          <p:nvPr>
            <p:ph type="title"/>
          </p:nvPr>
        </p:nvSpPr>
        <p:spPr>
          <a:xfrm>
            <a:off x="436417" y="3111191"/>
            <a:ext cx="3715085" cy="635617"/>
          </a:xfrm>
        </p:spPr>
        <p:txBody>
          <a:bodyPr anchor="ctr">
            <a:noAutofit/>
          </a:bodyPr>
          <a:lstStyle/>
          <a:p>
            <a:pPr algn="ctr"/>
            <a:r>
              <a:rPr lang="en-US" sz="3200" b="1" dirty="0">
                <a:latin typeface="Aptos" panose="020B0004020202020204" pitchFamily="34" charset="0"/>
              </a:rPr>
              <a:t>Suggestion</a:t>
            </a:r>
            <a:endParaRPr lang="en-IN" sz="2400" dirty="0">
              <a:solidFill>
                <a:srgbClr val="080808"/>
              </a:solidFill>
              <a:latin typeface="Aptos" panose="020B00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DC3DC6BA-B9E0-F331-4DC6-47D299408B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85B6B1A0-6885-92B7-DFAC-1FE571925B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AFA91B49-AA27-BCDE-DB60-F5588BD0A768}"/>
              </a:ext>
            </a:extLst>
          </p:cNvPr>
          <p:cNvSpPr>
            <a:spLocks noGrp="1"/>
          </p:cNvSpPr>
          <p:nvPr>
            <p:ph idx="1"/>
          </p:nvPr>
        </p:nvSpPr>
        <p:spPr>
          <a:xfrm>
            <a:off x="5106360" y="1287646"/>
            <a:ext cx="6434951" cy="5081981"/>
          </a:xfrm>
        </p:spPr>
        <p:txBody>
          <a:bodyPr anchor="t">
            <a:normAutofit fontScale="77500" lnSpcReduction="20000"/>
          </a:bodyPr>
          <a:lstStyle/>
          <a:p>
            <a:pPr marL="0" indent="0">
              <a:buNone/>
            </a:pPr>
            <a:r>
              <a:rPr lang="en-US" sz="1800" dirty="0"/>
              <a:t>1. Boost Weekday Occupancy</a:t>
            </a:r>
          </a:p>
          <a:p>
            <a:r>
              <a:rPr lang="en-US" sz="1800" dirty="0"/>
              <a:t>Launch weekday-specific promotions (e.g., business traveler packages, loyalty discounts).</a:t>
            </a:r>
          </a:p>
          <a:p>
            <a:r>
              <a:rPr lang="en-US" sz="1800" dirty="0"/>
              <a:t>Partner with corporates for mid-week business stays.</a:t>
            </a:r>
          </a:p>
          <a:p>
            <a:pPr marL="0" indent="0">
              <a:buNone/>
            </a:pPr>
            <a:r>
              <a:rPr lang="en-US" sz="1800" dirty="0"/>
              <a:t>2. Stabilize Occupancy Growth</a:t>
            </a:r>
          </a:p>
          <a:p>
            <a:r>
              <a:rPr lang="en-US" sz="1800" dirty="0"/>
              <a:t>Analyze weeks with high drops (e.g., Week 20 &amp; 30) for root causes (events, seasonality, pricing changes).</a:t>
            </a:r>
          </a:p>
          <a:p>
            <a:r>
              <a:rPr lang="en-US" sz="1800" dirty="0"/>
              <a:t>Implement dynamic pricing and forecasting tools to smooth demand across weeks.</a:t>
            </a:r>
          </a:p>
          <a:p>
            <a:pPr marL="0" indent="0">
              <a:buNone/>
            </a:pPr>
            <a:r>
              <a:rPr lang="en-US" sz="1800" dirty="0"/>
              <a:t>3. City-Level Actions</a:t>
            </a:r>
          </a:p>
          <a:p>
            <a:r>
              <a:rPr lang="en-US" sz="1800" dirty="0"/>
              <a:t>Hyderabad: Consider localized marketing, revisiting pricing, or bundling services.</a:t>
            </a:r>
          </a:p>
          <a:p>
            <a:r>
              <a:rPr lang="en-US" sz="1800" dirty="0"/>
              <a:t>Goa: Leverage its top performance by introducing premium upselling, loyalty retention offers.</a:t>
            </a:r>
          </a:p>
          <a:p>
            <a:pPr marL="0" indent="0">
              <a:buNone/>
            </a:pPr>
            <a:r>
              <a:rPr lang="en-US" sz="1800" dirty="0"/>
              <a:t>4. Improve Underperforming Categories</a:t>
            </a:r>
          </a:p>
          <a:p>
            <a:r>
              <a:rPr lang="en-US" sz="1800" dirty="0"/>
              <a:t>For Premium rooms:</a:t>
            </a:r>
          </a:p>
          <a:p>
            <a:r>
              <a:rPr lang="en-US" sz="1800" dirty="0"/>
              <a:t>Re-evaluate positioning and pricing.</a:t>
            </a:r>
          </a:p>
          <a:p>
            <a:r>
              <a:rPr lang="en-US" sz="1800" dirty="0"/>
              <a:t>Add perceived value (e.g., breakfast, free upgrades).</a:t>
            </a:r>
          </a:p>
          <a:p>
            <a:pPr marL="0" indent="0">
              <a:buNone/>
            </a:pPr>
            <a:r>
              <a:rPr lang="en-US" sz="1800" dirty="0"/>
              <a:t>5. Monitor Revenue Correlation</a:t>
            </a:r>
          </a:p>
          <a:p>
            <a:r>
              <a:rPr lang="en-US" sz="1800" dirty="0"/>
              <a:t>Continue optimizing RevPAR vs Occupancy balance.</a:t>
            </a:r>
          </a:p>
          <a:p>
            <a:r>
              <a:rPr lang="en-US" sz="1800" dirty="0"/>
              <a:t>For properties with high RevPAR and low occupancy, experiment with marginal price drops to increase volume without eroding yield.</a:t>
            </a:r>
          </a:p>
        </p:txBody>
      </p:sp>
      <p:sp>
        <p:nvSpPr>
          <p:cNvPr id="4" name="TextBox 3">
            <a:extLst>
              <a:ext uri="{FF2B5EF4-FFF2-40B4-BE49-F238E27FC236}">
                <a16:creationId xmlns:a16="http://schemas.microsoft.com/office/drawing/2014/main" id="{88D7E5FD-DD4D-36AD-C0CF-1C00AC539425}"/>
              </a:ext>
            </a:extLst>
          </p:cNvPr>
          <p:cNvSpPr txBox="1"/>
          <p:nvPr/>
        </p:nvSpPr>
        <p:spPr>
          <a:xfrm>
            <a:off x="1897626" y="68826"/>
            <a:ext cx="8318090" cy="523220"/>
          </a:xfrm>
          <a:prstGeom prst="rect">
            <a:avLst/>
          </a:prstGeom>
          <a:noFill/>
        </p:spPr>
        <p:txBody>
          <a:bodyPr wrap="square" rtlCol="0">
            <a:spAutoFit/>
          </a:bodyPr>
          <a:lstStyle/>
          <a:p>
            <a:pPr algn="ctr"/>
            <a:r>
              <a:rPr lang="en-IN" sz="2800" b="1" dirty="0">
                <a:latin typeface="Aptos" panose="020B0004020202020204" pitchFamily="34" charset="0"/>
                <a:cs typeface="Arial" panose="020B0604020202020204" pitchFamily="34" charset="0"/>
              </a:rPr>
              <a:t>Occupancy &amp; Capacity Analysis</a:t>
            </a:r>
            <a:endParaRPr lang="en-IN" sz="2800" b="1" dirty="0"/>
          </a:p>
        </p:txBody>
      </p:sp>
      <p:pic>
        <p:nvPicPr>
          <p:cNvPr id="5" name="Picture 4">
            <a:extLst>
              <a:ext uri="{FF2B5EF4-FFF2-40B4-BE49-F238E27FC236}">
                <a16:creationId xmlns:a16="http://schemas.microsoft.com/office/drawing/2014/main" id="{DE597812-E794-2264-B8E3-20A08C876E50}"/>
              </a:ext>
            </a:extLst>
          </p:cNvPr>
          <p:cNvPicPr>
            <a:picLocks noChangeAspect="1"/>
          </p:cNvPicPr>
          <p:nvPr/>
        </p:nvPicPr>
        <p:blipFill>
          <a:blip r:embed="rId2"/>
          <a:stretch>
            <a:fillRect/>
          </a:stretch>
        </p:blipFill>
        <p:spPr>
          <a:xfrm>
            <a:off x="5477467" y="6051923"/>
            <a:ext cx="1430571" cy="1144457"/>
          </a:xfrm>
          <a:prstGeom prst="rect">
            <a:avLst/>
          </a:prstGeom>
        </p:spPr>
      </p:pic>
    </p:spTree>
    <p:extLst>
      <p:ext uri="{BB962C8B-B14F-4D97-AF65-F5344CB8AC3E}">
        <p14:creationId xmlns:p14="http://schemas.microsoft.com/office/powerpoint/2010/main" val="2800612801"/>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EEBE1"/>
        </a:solidFill>
        <a:effectLst/>
      </p:bgPr>
    </p:bg>
    <p:spTree>
      <p:nvGrpSpPr>
        <p:cNvPr id="1" name="">
          <a:extLst>
            <a:ext uri="{FF2B5EF4-FFF2-40B4-BE49-F238E27FC236}">
              <a16:creationId xmlns:a16="http://schemas.microsoft.com/office/drawing/2014/main" id="{8DA17629-430D-8202-8939-0BDE3A9E465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7BF6342-4174-0111-46CB-702E35D3E2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B6291248-E1EE-7489-E42D-806281A6C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EA18B230-7F5C-AE2B-194E-26BF74BB69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E7F3FD7-4659-8600-D65B-8FC67D4C1FB6}"/>
              </a:ext>
            </a:extLst>
          </p:cNvPr>
          <p:cNvSpPr>
            <a:spLocks noGrp="1"/>
          </p:cNvSpPr>
          <p:nvPr>
            <p:ph type="title"/>
          </p:nvPr>
        </p:nvSpPr>
        <p:spPr>
          <a:xfrm>
            <a:off x="371094" y="848332"/>
            <a:ext cx="4075435" cy="1512329"/>
          </a:xfrm>
        </p:spPr>
        <p:txBody>
          <a:bodyPr anchor="ctr">
            <a:noAutofit/>
          </a:bodyPr>
          <a:lstStyle/>
          <a:p>
            <a:r>
              <a:rPr lang="en-IN" sz="2400" dirty="0">
                <a:latin typeface="Aptos" panose="020B0004020202020204" pitchFamily="34" charset="0"/>
              </a:rPr>
              <a:t>Objective: Which room categories generate the most revenue?</a:t>
            </a:r>
            <a:endParaRPr lang="en-IN" sz="2400" dirty="0">
              <a:solidFill>
                <a:srgbClr val="080808"/>
              </a:solidFill>
              <a:latin typeface="Aptos" panose="020B00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51734D7F-37C5-F0D1-3628-DA945B05F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557D849A-04BA-4D76-AF71-65FE77E735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0C73C6C0-BE4B-7B04-18AF-C545C751081D}"/>
              </a:ext>
            </a:extLst>
          </p:cNvPr>
          <p:cNvSpPr>
            <a:spLocks noGrp="1"/>
          </p:cNvSpPr>
          <p:nvPr>
            <p:ph idx="1"/>
          </p:nvPr>
        </p:nvSpPr>
        <p:spPr>
          <a:xfrm>
            <a:off x="371094" y="2718054"/>
            <a:ext cx="3438906" cy="4139946"/>
          </a:xfrm>
        </p:spPr>
        <p:txBody>
          <a:bodyPr anchor="t">
            <a:normAutofit/>
          </a:bodyPr>
          <a:lstStyle/>
          <a:p>
            <a:pPr marL="0" lvl="0" indent="0">
              <a:buNone/>
            </a:pPr>
            <a:r>
              <a:rPr lang="en-IN" sz="1800" dirty="0">
                <a:latin typeface="Aptos" panose="020B0004020202020204" pitchFamily="34" charset="0"/>
              </a:rPr>
              <a:t>Solution: </a:t>
            </a:r>
            <a:endParaRPr lang="en-IN" sz="1800" dirty="0">
              <a:solidFill>
                <a:srgbClr val="000000">
                  <a:alpha val="60000"/>
                </a:srgbClr>
              </a:solidFill>
              <a:latin typeface="Aptos" panose="020B0004020202020204" pitchFamily="34" charset="0"/>
            </a:endParaRPr>
          </a:p>
          <a:p>
            <a:pPr marL="0" lvl="0" indent="0">
              <a:buNone/>
            </a:pPr>
            <a:r>
              <a:rPr lang="en-IN" sz="1800" dirty="0"/>
              <a:t>We have created measure to calculate the total revenue realised by using Sum and then used bar chart to display the top revenue generated room category.</a:t>
            </a:r>
            <a:endParaRPr lang="en-IN" sz="1800" dirty="0">
              <a:solidFill>
                <a:srgbClr val="080808"/>
              </a:solidFill>
              <a:latin typeface="Aptos" panose="020B0004020202020204" pitchFamily="34" charset="0"/>
            </a:endParaRPr>
          </a:p>
        </p:txBody>
      </p:sp>
      <p:sp>
        <p:nvSpPr>
          <p:cNvPr id="4" name="TextBox 3">
            <a:extLst>
              <a:ext uri="{FF2B5EF4-FFF2-40B4-BE49-F238E27FC236}">
                <a16:creationId xmlns:a16="http://schemas.microsoft.com/office/drawing/2014/main" id="{803F6C9C-C17C-AAB8-3761-ECE36A9FFDB9}"/>
              </a:ext>
            </a:extLst>
          </p:cNvPr>
          <p:cNvSpPr txBox="1"/>
          <p:nvPr/>
        </p:nvSpPr>
        <p:spPr>
          <a:xfrm>
            <a:off x="1897626" y="68826"/>
            <a:ext cx="8318090" cy="523220"/>
          </a:xfrm>
          <a:prstGeom prst="rect">
            <a:avLst/>
          </a:prstGeom>
          <a:noFill/>
        </p:spPr>
        <p:txBody>
          <a:bodyPr wrap="square" rtlCol="0">
            <a:spAutoFit/>
          </a:bodyPr>
          <a:lstStyle/>
          <a:p>
            <a:pPr algn="ctr"/>
            <a:r>
              <a:rPr lang="en-IN" sz="2800" b="1" dirty="0">
                <a:latin typeface="Aptos" panose="020B0004020202020204" pitchFamily="34" charset="0"/>
                <a:cs typeface="Arial" panose="020B0604020202020204" pitchFamily="34" charset="0"/>
              </a:rPr>
              <a:t>Room Category Performance &amp; Booking Insights</a:t>
            </a:r>
            <a:endParaRPr lang="en-IN" sz="2800" b="1" dirty="0"/>
          </a:p>
        </p:txBody>
      </p:sp>
      <p:pic>
        <p:nvPicPr>
          <p:cNvPr id="5" name="Picture 4">
            <a:extLst>
              <a:ext uri="{FF2B5EF4-FFF2-40B4-BE49-F238E27FC236}">
                <a16:creationId xmlns:a16="http://schemas.microsoft.com/office/drawing/2014/main" id="{78E2ADD6-04DE-CD88-6DEC-C752F415D63E}"/>
              </a:ext>
            </a:extLst>
          </p:cNvPr>
          <p:cNvPicPr>
            <a:picLocks noChangeAspect="1"/>
          </p:cNvPicPr>
          <p:nvPr/>
        </p:nvPicPr>
        <p:blipFill>
          <a:blip r:embed="rId2"/>
          <a:stretch>
            <a:fillRect/>
          </a:stretch>
        </p:blipFill>
        <p:spPr>
          <a:xfrm>
            <a:off x="5070089" y="1344734"/>
            <a:ext cx="5928705" cy="609949"/>
          </a:xfrm>
          <a:prstGeom prst="rect">
            <a:avLst/>
          </a:prstGeom>
          <a:effectLst>
            <a:glow rad="139700">
              <a:schemeClr val="bg2">
                <a:lumMod val="25000"/>
                <a:alpha val="40000"/>
              </a:schemeClr>
            </a:glow>
          </a:effectLst>
        </p:spPr>
      </p:pic>
      <p:pic>
        <p:nvPicPr>
          <p:cNvPr id="7" name="Picture 6">
            <a:extLst>
              <a:ext uri="{FF2B5EF4-FFF2-40B4-BE49-F238E27FC236}">
                <a16:creationId xmlns:a16="http://schemas.microsoft.com/office/drawing/2014/main" id="{5825150A-7454-AAD5-E165-9E8DA6F0345A}"/>
              </a:ext>
            </a:extLst>
          </p:cNvPr>
          <p:cNvPicPr>
            <a:picLocks noChangeAspect="1"/>
          </p:cNvPicPr>
          <p:nvPr/>
        </p:nvPicPr>
        <p:blipFill>
          <a:blip r:embed="rId3"/>
          <a:stretch>
            <a:fillRect/>
          </a:stretch>
        </p:blipFill>
        <p:spPr>
          <a:xfrm>
            <a:off x="6245109" y="2707371"/>
            <a:ext cx="3842787" cy="2422200"/>
          </a:xfrm>
          <a:prstGeom prst="rect">
            <a:avLst/>
          </a:prstGeom>
          <a:effectLst>
            <a:glow rad="139700">
              <a:schemeClr val="bg2">
                <a:lumMod val="25000"/>
                <a:alpha val="40000"/>
              </a:schemeClr>
            </a:glow>
          </a:effectLst>
        </p:spPr>
      </p:pic>
      <p:pic>
        <p:nvPicPr>
          <p:cNvPr id="6" name="Picture 5">
            <a:extLst>
              <a:ext uri="{FF2B5EF4-FFF2-40B4-BE49-F238E27FC236}">
                <a16:creationId xmlns:a16="http://schemas.microsoft.com/office/drawing/2014/main" id="{0A706152-2C48-D2B2-7869-D0FFCC2C88F3}"/>
              </a:ext>
            </a:extLst>
          </p:cNvPr>
          <p:cNvPicPr>
            <a:picLocks noChangeAspect="1"/>
          </p:cNvPicPr>
          <p:nvPr/>
        </p:nvPicPr>
        <p:blipFill>
          <a:blip r:embed="rId4"/>
          <a:stretch>
            <a:fillRect/>
          </a:stretch>
        </p:blipFill>
        <p:spPr>
          <a:xfrm>
            <a:off x="5477467" y="6051923"/>
            <a:ext cx="1430571" cy="1144457"/>
          </a:xfrm>
          <a:prstGeom prst="rect">
            <a:avLst/>
          </a:prstGeom>
        </p:spPr>
      </p:pic>
    </p:spTree>
    <p:extLst>
      <p:ext uri="{BB962C8B-B14F-4D97-AF65-F5344CB8AC3E}">
        <p14:creationId xmlns:p14="http://schemas.microsoft.com/office/powerpoint/2010/main" val="1805010585"/>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EEBE1"/>
        </a:solidFill>
        <a:effectLst/>
      </p:bgPr>
    </p:bg>
    <p:spTree>
      <p:nvGrpSpPr>
        <p:cNvPr id="1" name="">
          <a:extLst>
            <a:ext uri="{FF2B5EF4-FFF2-40B4-BE49-F238E27FC236}">
              <a16:creationId xmlns:a16="http://schemas.microsoft.com/office/drawing/2014/main" id="{4ADEE888-E824-BA00-FFD1-52BFB258739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938B978-DC34-482D-40DA-1C020772C5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67BE4F6D-6B1F-1DC9-5671-DFDC45CB4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90B3C923-4A05-A41E-3DBC-5AEF00A6EC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C2B470B-0C51-904B-F5D9-797146529097}"/>
              </a:ext>
            </a:extLst>
          </p:cNvPr>
          <p:cNvSpPr>
            <a:spLocks noGrp="1"/>
          </p:cNvSpPr>
          <p:nvPr>
            <p:ph type="title"/>
          </p:nvPr>
        </p:nvSpPr>
        <p:spPr>
          <a:xfrm>
            <a:off x="371094" y="848332"/>
            <a:ext cx="4075435" cy="1512329"/>
          </a:xfrm>
        </p:spPr>
        <p:txBody>
          <a:bodyPr anchor="ctr">
            <a:noAutofit/>
          </a:bodyPr>
          <a:lstStyle/>
          <a:p>
            <a:r>
              <a:rPr lang="en-IN" sz="2400" dirty="0">
                <a:latin typeface="Aptos" panose="020B0004020202020204" pitchFamily="34" charset="0"/>
              </a:rPr>
              <a:t>Objective: How do booking patterns (lead time, check-in dates) affect revenue and occupancy?</a:t>
            </a:r>
            <a:endParaRPr lang="en-IN" sz="2400" dirty="0">
              <a:solidFill>
                <a:srgbClr val="080808"/>
              </a:solidFill>
              <a:latin typeface="Aptos" panose="020B00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DB5D94B0-6AA0-3697-A2A8-3F9BEA3106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B95C9C49-AC0E-02E8-4501-D081D8C8D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C691D520-E0AF-23DB-D08D-383C8A097D61}"/>
              </a:ext>
            </a:extLst>
          </p:cNvPr>
          <p:cNvSpPr>
            <a:spLocks noGrp="1"/>
          </p:cNvSpPr>
          <p:nvPr>
            <p:ph idx="1"/>
          </p:nvPr>
        </p:nvSpPr>
        <p:spPr>
          <a:xfrm>
            <a:off x="371094" y="2718054"/>
            <a:ext cx="3438906" cy="4139946"/>
          </a:xfrm>
        </p:spPr>
        <p:txBody>
          <a:bodyPr anchor="t">
            <a:normAutofit/>
          </a:bodyPr>
          <a:lstStyle/>
          <a:p>
            <a:pPr marL="0" lvl="0" indent="0">
              <a:buNone/>
            </a:pPr>
            <a:r>
              <a:rPr lang="en-IN" sz="1800" dirty="0">
                <a:latin typeface="Aptos" panose="020B0004020202020204" pitchFamily="34" charset="0"/>
              </a:rPr>
              <a:t>Solution: </a:t>
            </a:r>
            <a:endParaRPr lang="en-IN" sz="1800" dirty="0">
              <a:solidFill>
                <a:srgbClr val="000000">
                  <a:alpha val="60000"/>
                </a:srgbClr>
              </a:solidFill>
              <a:latin typeface="Aptos" panose="020B0004020202020204" pitchFamily="34" charset="0"/>
            </a:endParaRPr>
          </a:p>
          <a:p>
            <a:pPr marL="0" lvl="0" indent="0">
              <a:buNone/>
            </a:pPr>
            <a:r>
              <a:rPr lang="en-IN" sz="1800" dirty="0">
                <a:latin typeface="Aptos" panose="020B0004020202020204" pitchFamily="34" charset="0"/>
              </a:rPr>
              <a:t>Created a calculated column to calculate the </a:t>
            </a:r>
            <a:r>
              <a:rPr lang="en-IN" sz="1800" dirty="0" err="1">
                <a:latin typeface="Aptos" panose="020B0004020202020204" pitchFamily="34" charset="0"/>
              </a:rPr>
              <a:t>leadtime</a:t>
            </a:r>
            <a:r>
              <a:rPr lang="en-IN" sz="1800" dirty="0">
                <a:latin typeface="Aptos" panose="020B0004020202020204" pitchFamily="34" charset="0"/>
              </a:rPr>
              <a:t>. Used </a:t>
            </a:r>
            <a:r>
              <a:rPr lang="en-IN" sz="1800" dirty="0" err="1">
                <a:latin typeface="Aptos" panose="020B0004020202020204" pitchFamily="34" charset="0"/>
              </a:rPr>
              <a:t>DatedIff</a:t>
            </a:r>
            <a:r>
              <a:rPr lang="en-IN" sz="1800" dirty="0">
                <a:latin typeface="Aptos" panose="020B0004020202020204" pitchFamily="34" charset="0"/>
              </a:rPr>
              <a:t> function. And then used line chart to display the booking patterns changes for revenue and occupancy.</a:t>
            </a:r>
            <a:endParaRPr lang="en-IN" sz="1800" dirty="0">
              <a:solidFill>
                <a:srgbClr val="080808"/>
              </a:solidFill>
              <a:latin typeface="Aptos" panose="020B0004020202020204" pitchFamily="34" charset="0"/>
            </a:endParaRPr>
          </a:p>
        </p:txBody>
      </p:sp>
      <p:sp>
        <p:nvSpPr>
          <p:cNvPr id="4" name="TextBox 3">
            <a:extLst>
              <a:ext uri="{FF2B5EF4-FFF2-40B4-BE49-F238E27FC236}">
                <a16:creationId xmlns:a16="http://schemas.microsoft.com/office/drawing/2014/main" id="{5DC6A941-9DFC-3B91-5B95-2B2744BF0812}"/>
              </a:ext>
            </a:extLst>
          </p:cNvPr>
          <p:cNvSpPr txBox="1"/>
          <p:nvPr/>
        </p:nvSpPr>
        <p:spPr>
          <a:xfrm>
            <a:off x="1897626" y="68826"/>
            <a:ext cx="8318090" cy="523220"/>
          </a:xfrm>
          <a:prstGeom prst="rect">
            <a:avLst/>
          </a:prstGeom>
          <a:noFill/>
        </p:spPr>
        <p:txBody>
          <a:bodyPr wrap="square" rtlCol="0">
            <a:spAutoFit/>
          </a:bodyPr>
          <a:lstStyle/>
          <a:p>
            <a:pPr algn="ctr"/>
            <a:r>
              <a:rPr lang="en-IN" sz="2800" b="1" dirty="0">
                <a:latin typeface="Aptos" panose="020B0004020202020204" pitchFamily="34" charset="0"/>
                <a:cs typeface="Arial" panose="020B0604020202020204" pitchFamily="34" charset="0"/>
              </a:rPr>
              <a:t>Room Category Performance &amp; Booking Insights</a:t>
            </a:r>
            <a:endParaRPr lang="en-IN" sz="2800" b="1" dirty="0"/>
          </a:p>
        </p:txBody>
      </p:sp>
      <p:pic>
        <p:nvPicPr>
          <p:cNvPr id="6" name="Picture 5">
            <a:extLst>
              <a:ext uri="{FF2B5EF4-FFF2-40B4-BE49-F238E27FC236}">
                <a16:creationId xmlns:a16="http://schemas.microsoft.com/office/drawing/2014/main" id="{226D776E-2671-CBD7-C0F6-B67F0148A1E8}"/>
              </a:ext>
            </a:extLst>
          </p:cNvPr>
          <p:cNvPicPr>
            <a:picLocks noChangeAspect="1"/>
          </p:cNvPicPr>
          <p:nvPr/>
        </p:nvPicPr>
        <p:blipFill>
          <a:blip r:embed="rId2"/>
          <a:stretch>
            <a:fillRect/>
          </a:stretch>
        </p:blipFill>
        <p:spPr>
          <a:xfrm>
            <a:off x="5100041" y="1426546"/>
            <a:ext cx="6720865" cy="452551"/>
          </a:xfrm>
          <a:prstGeom prst="rect">
            <a:avLst/>
          </a:prstGeom>
          <a:effectLst>
            <a:glow rad="139700">
              <a:schemeClr val="bg2">
                <a:lumMod val="25000"/>
                <a:alpha val="40000"/>
              </a:schemeClr>
            </a:glow>
          </a:effectLst>
        </p:spPr>
      </p:pic>
      <p:pic>
        <p:nvPicPr>
          <p:cNvPr id="8" name="Picture 7">
            <a:extLst>
              <a:ext uri="{FF2B5EF4-FFF2-40B4-BE49-F238E27FC236}">
                <a16:creationId xmlns:a16="http://schemas.microsoft.com/office/drawing/2014/main" id="{386C04FB-08D1-06F6-0B2D-237AF1C35F22}"/>
              </a:ext>
            </a:extLst>
          </p:cNvPr>
          <p:cNvPicPr>
            <a:picLocks noChangeAspect="1"/>
          </p:cNvPicPr>
          <p:nvPr/>
        </p:nvPicPr>
        <p:blipFill>
          <a:blip r:embed="rId3"/>
          <a:stretch>
            <a:fillRect/>
          </a:stretch>
        </p:blipFill>
        <p:spPr>
          <a:xfrm>
            <a:off x="6056671" y="2854854"/>
            <a:ext cx="4523624" cy="2121592"/>
          </a:xfrm>
          <a:prstGeom prst="rect">
            <a:avLst/>
          </a:prstGeom>
          <a:effectLst>
            <a:glow rad="139700">
              <a:schemeClr val="bg2">
                <a:lumMod val="25000"/>
                <a:alpha val="40000"/>
              </a:schemeClr>
            </a:glow>
          </a:effectLst>
        </p:spPr>
      </p:pic>
      <p:pic>
        <p:nvPicPr>
          <p:cNvPr id="5" name="Picture 4">
            <a:extLst>
              <a:ext uri="{FF2B5EF4-FFF2-40B4-BE49-F238E27FC236}">
                <a16:creationId xmlns:a16="http://schemas.microsoft.com/office/drawing/2014/main" id="{4E4E964E-7B7A-0C94-5389-F71BC7B63D26}"/>
              </a:ext>
            </a:extLst>
          </p:cNvPr>
          <p:cNvPicPr>
            <a:picLocks noChangeAspect="1"/>
          </p:cNvPicPr>
          <p:nvPr/>
        </p:nvPicPr>
        <p:blipFill>
          <a:blip r:embed="rId4"/>
          <a:stretch>
            <a:fillRect/>
          </a:stretch>
        </p:blipFill>
        <p:spPr>
          <a:xfrm>
            <a:off x="5477467" y="6051923"/>
            <a:ext cx="1430571" cy="1144457"/>
          </a:xfrm>
          <a:prstGeom prst="rect">
            <a:avLst/>
          </a:prstGeom>
        </p:spPr>
      </p:pic>
    </p:spTree>
    <p:extLst>
      <p:ext uri="{BB962C8B-B14F-4D97-AF65-F5344CB8AC3E}">
        <p14:creationId xmlns:p14="http://schemas.microsoft.com/office/powerpoint/2010/main" val="739204074"/>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EEBE1"/>
        </a:solidFill>
        <a:effectLst/>
      </p:bgPr>
    </p:bg>
    <p:spTree>
      <p:nvGrpSpPr>
        <p:cNvPr id="1" name="">
          <a:extLst>
            <a:ext uri="{FF2B5EF4-FFF2-40B4-BE49-F238E27FC236}">
              <a16:creationId xmlns:a16="http://schemas.microsoft.com/office/drawing/2014/main" id="{5B8D8525-13E6-4A32-FD1D-7767396F7A9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9BEFF67-65FE-1DB7-3AA5-31D83FA824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DAB79319-8FBE-3644-B213-A871FE9ED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F902E80D-6C05-090A-D9B6-7333C1E4C2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0E2073E-7CFE-C682-7942-F7D2F715F4B8}"/>
              </a:ext>
            </a:extLst>
          </p:cNvPr>
          <p:cNvSpPr>
            <a:spLocks noGrp="1"/>
          </p:cNvSpPr>
          <p:nvPr>
            <p:ph type="title"/>
          </p:nvPr>
        </p:nvSpPr>
        <p:spPr>
          <a:xfrm>
            <a:off x="371094" y="848332"/>
            <a:ext cx="4075435" cy="1512329"/>
          </a:xfrm>
        </p:spPr>
        <p:txBody>
          <a:bodyPr anchor="ctr">
            <a:noAutofit/>
          </a:bodyPr>
          <a:lstStyle/>
          <a:p>
            <a:r>
              <a:rPr lang="en-IN" sz="2400" dirty="0">
                <a:latin typeface="Aptos" panose="020B0004020202020204" pitchFamily="34" charset="0"/>
              </a:rPr>
              <a:t>Objective: What is the average length of stay (ALOS) for each hotel and room type?</a:t>
            </a:r>
            <a:endParaRPr lang="en-IN" sz="2400" dirty="0">
              <a:solidFill>
                <a:srgbClr val="080808"/>
              </a:solidFill>
              <a:latin typeface="Aptos" panose="020B00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559D5776-6635-69E4-6C06-7547CD9EA5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BD596CAF-47F6-747A-457C-8578FB1E03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A7B58B57-8297-36F6-5391-F4F0FBC268CA}"/>
              </a:ext>
            </a:extLst>
          </p:cNvPr>
          <p:cNvSpPr>
            <a:spLocks noGrp="1"/>
          </p:cNvSpPr>
          <p:nvPr>
            <p:ph idx="1"/>
          </p:nvPr>
        </p:nvSpPr>
        <p:spPr>
          <a:xfrm>
            <a:off x="371094" y="2718054"/>
            <a:ext cx="3438906" cy="4139946"/>
          </a:xfrm>
        </p:spPr>
        <p:txBody>
          <a:bodyPr anchor="t">
            <a:normAutofit/>
          </a:bodyPr>
          <a:lstStyle/>
          <a:p>
            <a:pPr marL="0" lvl="0" indent="0">
              <a:buNone/>
            </a:pPr>
            <a:r>
              <a:rPr lang="en-IN" sz="1800" dirty="0">
                <a:latin typeface="Aptos" panose="020B0004020202020204" pitchFamily="34" charset="0"/>
              </a:rPr>
              <a:t>Solution: </a:t>
            </a:r>
            <a:endParaRPr lang="en-IN" sz="1800" dirty="0">
              <a:solidFill>
                <a:srgbClr val="000000">
                  <a:alpha val="60000"/>
                </a:srgbClr>
              </a:solidFill>
              <a:latin typeface="Aptos" panose="020B0004020202020204" pitchFamily="34" charset="0"/>
            </a:endParaRPr>
          </a:p>
          <a:p>
            <a:pPr marL="0" lvl="0" indent="0">
              <a:buNone/>
            </a:pPr>
            <a:r>
              <a:rPr lang="en-IN" sz="1800" dirty="0">
                <a:latin typeface="Aptos" panose="020B0004020202020204" pitchFamily="34" charset="0"/>
              </a:rPr>
              <a:t>Created LOS measure and used Pie chart to display tit by each room category. Additional Provided filters to view it by Hotel name or hotel id.</a:t>
            </a:r>
          </a:p>
        </p:txBody>
      </p:sp>
      <p:sp>
        <p:nvSpPr>
          <p:cNvPr id="4" name="TextBox 3">
            <a:extLst>
              <a:ext uri="{FF2B5EF4-FFF2-40B4-BE49-F238E27FC236}">
                <a16:creationId xmlns:a16="http://schemas.microsoft.com/office/drawing/2014/main" id="{D17AD719-7F01-A0F0-0DA6-0CD5CAD56CD7}"/>
              </a:ext>
            </a:extLst>
          </p:cNvPr>
          <p:cNvSpPr txBox="1"/>
          <p:nvPr/>
        </p:nvSpPr>
        <p:spPr>
          <a:xfrm>
            <a:off x="1897626" y="68826"/>
            <a:ext cx="8318090" cy="523220"/>
          </a:xfrm>
          <a:prstGeom prst="rect">
            <a:avLst/>
          </a:prstGeom>
          <a:noFill/>
        </p:spPr>
        <p:txBody>
          <a:bodyPr wrap="square" rtlCol="0">
            <a:spAutoFit/>
          </a:bodyPr>
          <a:lstStyle/>
          <a:p>
            <a:pPr algn="ctr"/>
            <a:r>
              <a:rPr lang="en-IN" sz="2800" b="1" dirty="0">
                <a:latin typeface="Aptos" panose="020B0004020202020204" pitchFamily="34" charset="0"/>
                <a:cs typeface="Arial" panose="020B0604020202020204" pitchFamily="34" charset="0"/>
              </a:rPr>
              <a:t>Room Category Performance &amp; Booking Insights</a:t>
            </a:r>
            <a:endParaRPr lang="en-IN" sz="2800" b="1" dirty="0"/>
          </a:p>
        </p:txBody>
      </p:sp>
      <p:pic>
        <p:nvPicPr>
          <p:cNvPr id="5" name="Picture 4">
            <a:extLst>
              <a:ext uri="{FF2B5EF4-FFF2-40B4-BE49-F238E27FC236}">
                <a16:creationId xmlns:a16="http://schemas.microsoft.com/office/drawing/2014/main" id="{9E00E739-D524-22C8-B68D-16D7FB480766}"/>
              </a:ext>
            </a:extLst>
          </p:cNvPr>
          <p:cNvPicPr>
            <a:picLocks noChangeAspect="1"/>
          </p:cNvPicPr>
          <p:nvPr/>
        </p:nvPicPr>
        <p:blipFill>
          <a:blip r:embed="rId2"/>
          <a:stretch>
            <a:fillRect/>
          </a:stretch>
        </p:blipFill>
        <p:spPr>
          <a:xfrm>
            <a:off x="4774378" y="1867869"/>
            <a:ext cx="7191520" cy="425159"/>
          </a:xfrm>
          <a:prstGeom prst="rect">
            <a:avLst/>
          </a:prstGeom>
          <a:effectLst>
            <a:glow rad="139700">
              <a:schemeClr val="bg2">
                <a:lumMod val="25000"/>
                <a:alpha val="40000"/>
              </a:schemeClr>
            </a:glow>
          </a:effectLst>
        </p:spPr>
      </p:pic>
      <p:pic>
        <p:nvPicPr>
          <p:cNvPr id="7" name="Picture 6">
            <a:extLst>
              <a:ext uri="{FF2B5EF4-FFF2-40B4-BE49-F238E27FC236}">
                <a16:creationId xmlns:a16="http://schemas.microsoft.com/office/drawing/2014/main" id="{7AD61F69-6F3E-347F-4FE4-B11E8145CF66}"/>
              </a:ext>
            </a:extLst>
          </p:cNvPr>
          <p:cNvPicPr>
            <a:picLocks noChangeAspect="1"/>
          </p:cNvPicPr>
          <p:nvPr/>
        </p:nvPicPr>
        <p:blipFill>
          <a:blip r:embed="rId3"/>
          <a:stretch>
            <a:fillRect/>
          </a:stretch>
        </p:blipFill>
        <p:spPr>
          <a:xfrm>
            <a:off x="6605880" y="2990111"/>
            <a:ext cx="3377260" cy="2573150"/>
          </a:xfrm>
          <a:prstGeom prst="rect">
            <a:avLst/>
          </a:prstGeom>
          <a:effectLst>
            <a:glow rad="139700">
              <a:schemeClr val="bg2">
                <a:lumMod val="25000"/>
                <a:alpha val="40000"/>
              </a:schemeClr>
            </a:glow>
          </a:effectLst>
        </p:spPr>
      </p:pic>
      <p:pic>
        <p:nvPicPr>
          <p:cNvPr id="6" name="Picture 5">
            <a:extLst>
              <a:ext uri="{FF2B5EF4-FFF2-40B4-BE49-F238E27FC236}">
                <a16:creationId xmlns:a16="http://schemas.microsoft.com/office/drawing/2014/main" id="{B0CDEC4F-D173-6A4B-4BB8-A18063AA384A}"/>
              </a:ext>
            </a:extLst>
          </p:cNvPr>
          <p:cNvPicPr>
            <a:picLocks noChangeAspect="1"/>
          </p:cNvPicPr>
          <p:nvPr/>
        </p:nvPicPr>
        <p:blipFill>
          <a:blip r:embed="rId4"/>
          <a:stretch>
            <a:fillRect/>
          </a:stretch>
        </p:blipFill>
        <p:spPr>
          <a:xfrm>
            <a:off x="5477467" y="6051923"/>
            <a:ext cx="1430571" cy="1144457"/>
          </a:xfrm>
          <a:prstGeom prst="rect">
            <a:avLst/>
          </a:prstGeom>
        </p:spPr>
      </p:pic>
    </p:spTree>
    <p:extLst>
      <p:ext uri="{BB962C8B-B14F-4D97-AF65-F5344CB8AC3E}">
        <p14:creationId xmlns:p14="http://schemas.microsoft.com/office/powerpoint/2010/main" val="1424707338"/>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EEBE1"/>
        </a:solidFill>
        <a:effectLst/>
      </p:bgPr>
    </p:bg>
    <p:spTree>
      <p:nvGrpSpPr>
        <p:cNvPr id="1" name="">
          <a:extLst>
            <a:ext uri="{FF2B5EF4-FFF2-40B4-BE49-F238E27FC236}">
              <a16:creationId xmlns:a16="http://schemas.microsoft.com/office/drawing/2014/main" id="{5FD01288-C8AC-E56D-6E95-080AF2FB7FB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658E702-6065-2088-4DCF-480DA3B72C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567DD233-E251-9951-A6AA-E06239491B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724342FE-F4EE-C4E4-E5A1-78EBE6688F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872CDEC-3D5F-535A-32A4-8958694E86D1}"/>
              </a:ext>
            </a:extLst>
          </p:cNvPr>
          <p:cNvSpPr>
            <a:spLocks noGrp="1"/>
          </p:cNvSpPr>
          <p:nvPr>
            <p:ph type="title"/>
          </p:nvPr>
        </p:nvSpPr>
        <p:spPr>
          <a:xfrm>
            <a:off x="371094" y="848332"/>
            <a:ext cx="4075435" cy="1512329"/>
          </a:xfrm>
        </p:spPr>
        <p:txBody>
          <a:bodyPr anchor="ctr">
            <a:noAutofit/>
          </a:bodyPr>
          <a:lstStyle/>
          <a:p>
            <a:r>
              <a:rPr lang="en-IN" sz="2400" dirty="0">
                <a:latin typeface="Aptos" panose="020B0004020202020204" pitchFamily="34" charset="0"/>
              </a:rPr>
              <a:t>Objective: What is the room revenue trend (including running total and MoM/WoW growth)?</a:t>
            </a:r>
            <a:endParaRPr lang="en-IN" sz="2400" dirty="0">
              <a:solidFill>
                <a:srgbClr val="080808"/>
              </a:solidFill>
              <a:latin typeface="Aptos" panose="020B00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3AC885F4-A71A-5DC5-B862-DF8DB8C2A2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CA2FBD90-5EB6-15EE-C6C2-629AD20FB0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D7A7A8B0-5D63-2160-8B59-249A693C536B}"/>
              </a:ext>
            </a:extLst>
          </p:cNvPr>
          <p:cNvSpPr>
            <a:spLocks noGrp="1"/>
          </p:cNvSpPr>
          <p:nvPr>
            <p:ph idx="1"/>
          </p:nvPr>
        </p:nvSpPr>
        <p:spPr>
          <a:xfrm>
            <a:off x="371094" y="2718054"/>
            <a:ext cx="3438906" cy="4139946"/>
          </a:xfrm>
        </p:spPr>
        <p:txBody>
          <a:bodyPr anchor="t">
            <a:normAutofit/>
          </a:bodyPr>
          <a:lstStyle/>
          <a:p>
            <a:pPr marL="0" lvl="0" indent="0">
              <a:buNone/>
            </a:pPr>
            <a:r>
              <a:rPr lang="en-IN" sz="1800" dirty="0">
                <a:latin typeface="Aptos" panose="020B0004020202020204" pitchFamily="34" charset="0"/>
              </a:rPr>
              <a:t>Solution: </a:t>
            </a:r>
            <a:endParaRPr lang="en-IN" sz="1800" dirty="0">
              <a:solidFill>
                <a:srgbClr val="000000">
                  <a:alpha val="60000"/>
                </a:srgbClr>
              </a:solidFill>
              <a:latin typeface="Aptos" panose="020B0004020202020204" pitchFamily="34" charset="0"/>
            </a:endParaRPr>
          </a:p>
          <a:p>
            <a:pPr marL="0" lvl="0" indent="0">
              <a:buNone/>
            </a:pPr>
            <a:r>
              <a:rPr lang="en-IN" sz="1800" dirty="0">
                <a:latin typeface="Aptos" panose="020B0004020202020204" pitchFamily="34" charset="0"/>
              </a:rPr>
              <a:t>MoM: </a:t>
            </a:r>
          </a:p>
          <a:p>
            <a:pPr marL="0" lvl="0" indent="0">
              <a:buNone/>
            </a:pPr>
            <a:r>
              <a:rPr lang="en-US" sz="1800" b="1" dirty="0">
                <a:latin typeface="Aptos" panose="020B0004020202020204" pitchFamily="34" charset="0"/>
              </a:rPr>
              <a:t>VAR </a:t>
            </a:r>
            <a:r>
              <a:rPr lang="en-US" sz="1800" b="1" dirty="0" err="1">
                <a:latin typeface="Aptos" panose="020B0004020202020204" pitchFamily="34" charset="0"/>
              </a:rPr>
              <a:t>prev_month</a:t>
            </a:r>
            <a:r>
              <a:rPr lang="en-US" sz="1800" dirty="0">
                <a:latin typeface="Aptos" panose="020B0004020202020204" pitchFamily="34" charset="0"/>
              </a:rPr>
              <a:t>: Retrieves revenue from the same date context, but shifted back by 1 month using DATEADD.</a:t>
            </a:r>
          </a:p>
          <a:p>
            <a:pPr marL="0" lvl="0" indent="0">
              <a:buNone/>
            </a:pPr>
            <a:r>
              <a:rPr lang="en-US" sz="1800" b="1" dirty="0">
                <a:latin typeface="Aptos" panose="020B0004020202020204" pitchFamily="34" charset="0"/>
              </a:rPr>
              <a:t>RETURN DIVIDE(): </a:t>
            </a:r>
            <a:r>
              <a:rPr lang="en-US" sz="1800" dirty="0">
                <a:latin typeface="Aptos" panose="020B0004020202020204" pitchFamily="34" charset="0"/>
              </a:rPr>
              <a:t>Calculates the difference between current and previous month's revenue. Divides the difference by the previous month's revenue. Used DIVIDE(_, _, 0) to avoid errors from division by zero — returns 0 instead</a:t>
            </a:r>
            <a:r>
              <a:rPr lang="en-US" sz="1800" dirty="0"/>
              <a:t>.</a:t>
            </a:r>
            <a:endParaRPr lang="en-IN" sz="1800" dirty="0">
              <a:latin typeface="Aptos" panose="020B0004020202020204" pitchFamily="34" charset="0"/>
            </a:endParaRPr>
          </a:p>
        </p:txBody>
      </p:sp>
      <p:sp>
        <p:nvSpPr>
          <p:cNvPr id="4" name="TextBox 3">
            <a:extLst>
              <a:ext uri="{FF2B5EF4-FFF2-40B4-BE49-F238E27FC236}">
                <a16:creationId xmlns:a16="http://schemas.microsoft.com/office/drawing/2014/main" id="{B979FE31-290B-BEEB-6DC6-947D5936A396}"/>
              </a:ext>
            </a:extLst>
          </p:cNvPr>
          <p:cNvSpPr txBox="1"/>
          <p:nvPr/>
        </p:nvSpPr>
        <p:spPr>
          <a:xfrm>
            <a:off x="1897626" y="68826"/>
            <a:ext cx="8318090" cy="523220"/>
          </a:xfrm>
          <a:prstGeom prst="rect">
            <a:avLst/>
          </a:prstGeom>
          <a:noFill/>
        </p:spPr>
        <p:txBody>
          <a:bodyPr wrap="square" rtlCol="0">
            <a:spAutoFit/>
          </a:bodyPr>
          <a:lstStyle/>
          <a:p>
            <a:pPr algn="ctr"/>
            <a:r>
              <a:rPr lang="en-IN" sz="2800" b="1" dirty="0">
                <a:latin typeface="Aptos" panose="020B0004020202020204" pitchFamily="34" charset="0"/>
                <a:cs typeface="Arial" panose="020B0604020202020204" pitchFamily="34" charset="0"/>
              </a:rPr>
              <a:t>Room Category Performance &amp; Booking Insights</a:t>
            </a:r>
            <a:endParaRPr lang="en-IN" sz="2800" b="1" dirty="0"/>
          </a:p>
        </p:txBody>
      </p:sp>
      <p:pic>
        <p:nvPicPr>
          <p:cNvPr id="6" name="Picture 5">
            <a:extLst>
              <a:ext uri="{FF2B5EF4-FFF2-40B4-BE49-F238E27FC236}">
                <a16:creationId xmlns:a16="http://schemas.microsoft.com/office/drawing/2014/main" id="{25208528-8D15-9D9D-349C-38FD6F9CBAE4}"/>
              </a:ext>
            </a:extLst>
          </p:cNvPr>
          <p:cNvPicPr>
            <a:picLocks noChangeAspect="1"/>
          </p:cNvPicPr>
          <p:nvPr/>
        </p:nvPicPr>
        <p:blipFill>
          <a:blip r:embed="rId2"/>
          <a:stretch>
            <a:fillRect/>
          </a:stretch>
        </p:blipFill>
        <p:spPr>
          <a:xfrm>
            <a:off x="4880507" y="2213127"/>
            <a:ext cx="7039154" cy="702705"/>
          </a:xfrm>
          <a:prstGeom prst="rect">
            <a:avLst/>
          </a:prstGeom>
          <a:effectLst>
            <a:glow rad="139700">
              <a:schemeClr val="bg2">
                <a:lumMod val="25000"/>
                <a:alpha val="40000"/>
              </a:schemeClr>
            </a:glow>
          </a:effectLst>
        </p:spPr>
      </p:pic>
      <p:pic>
        <p:nvPicPr>
          <p:cNvPr id="8" name="Picture 7">
            <a:extLst>
              <a:ext uri="{FF2B5EF4-FFF2-40B4-BE49-F238E27FC236}">
                <a16:creationId xmlns:a16="http://schemas.microsoft.com/office/drawing/2014/main" id="{28D51DB5-BABB-1947-F180-742582D1951F}"/>
              </a:ext>
            </a:extLst>
          </p:cNvPr>
          <p:cNvPicPr>
            <a:picLocks noChangeAspect="1"/>
          </p:cNvPicPr>
          <p:nvPr/>
        </p:nvPicPr>
        <p:blipFill>
          <a:blip r:embed="rId3"/>
          <a:stretch>
            <a:fillRect/>
          </a:stretch>
        </p:blipFill>
        <p:spPr>
          <a:xfrm>
            <a:off x="6361113" y="3865915"/>
            <a:ext cx="4553639" cy="1844223"/>
          </a:xfrm>
          <a:prstGeom prst="rect">
            <a:avLst/>
          </a:prstGeom>
          <a:effectLst>
            <a:glow rad="139700">
              <a:schemeClr val="tx1">
                <a:lumMod val="85000"/>
                <a:lumOff val="15000"/>
                <a:alpha val="40000"/>
              </a:schemeClr>
            </a:glow>
          </a:effectLst>
        </p:spPr>
      </p:pic>
      <p:pic>
        <p:nvPicPr>
          <p:cNvPr id="5" name="Picture 4">
            <a:extLst>
              <a:ext uri="{FF2B5EF4-FFF2-40B4-BE49-F238E27FC236}">
                <a16:creationId xmlns:a16="http://schemas.microsoft.com/office/drawing/2014/main" id="{57641E09-05E0-1C5B-5097-A008FA55ABE2}"/>
              </a:ext>
            </a:extLst>
          </p:cNvPr>
          <p:cNvPicPr>
            <a:picLocks noChangeAspect="1"/>
          </p:cNvPicPr>
          <p:nvPr/>
        </p:nvPicPr>
        <p:blipFill>
          <a:blip r:embed="rId4"/>
          <a:stretch>
            <a:fillRect/>
          </a:stretch>
        </p:blipFill>
        <p:spPr>
          <a:xfrm>
            <a:off x="5477467" y="6051923"/>
            <a:ext cx="1430571" cy="1144457"/>
          </a:xfrm>
          <a:prstGeom prst="rect">
            <a:avLst/>
          </a:prstGeom>
        </p:spPr>
      </p:pic>
    </p:spTree>
    <p:extLst>
      <p:ext uri="{BB962C8B-B14F-4D97-AF65-F5344CB8AC3E}">
        <p14:creationId xmlns:p14="http://schemas.microsoft.com/office/powerpoint/2010/main" val="3233709841"/>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EEBE1"/>
        </a:solidFill>
        <a:effectLst/>
      </p:bgPr>
    </p:bg>
    <p:spTree>
      <p:nvGrpSpPr>
        <p:cNvPr id="1" name="">
          <a:extLst>
            <a:ext uri="{FF2B5EF4-FFF2-40B4-BE49-F238E27FC236}">
              <a16:creationId xmlns:a16="http://schemas.microsoft.com/office/drawing/2014/main" id="{FFCBABA5-1583-E83F-3A99-988AA2A522D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256530B-51E3-CB1F-6D65-3E8865001D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8F1B5720-AABA-96B9-A143-2B63F62D5B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E2195959-5942-43EF-B029-6A54F1D1F9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E1B523C-56F5-8B06-DB8A-B7B17B52D828}"/>
              </a:ext>
            </a:extLst>
          </p:cNvPr>
          <p:cNvSpPr>
            <a:spLocks noGrp="1"/>
          </p:cNvSpPr>
          <p:nvPr>
            <p:ph type="title"/>
          </p:nvPr>
        </p:nvSpPr>
        <p:spPr>
          <a:xfrm>
            <a:off x="371094" y="848332"/>
            <a:ext cx="4075435" cy="1512329"/>
          </a:xfrm>
        </p:spPr>
        <p:txBody>
          <a:bodyPr anchor="ctr">
            <a:noAutofit/>
          </a:bodyPr>
          <a:lstStyle/>
          <a:p>
            <a:r>
              <a:rPr lang="en-IN" sz="2400" dirty="0">
                <a:latin typeface="Aptos" panose="020B0004020202020204" pitchFamily="34" charset="0"/>
              </a:rPr>
              <a:t>Objective: What is the room revenue trend (including running total and MoM/WoW growth)?</a:t>
            </a:r>
            <a:endParaRPr lang="en-IN" sz="2400" dirty="0">
              <a:solidFill>
                <a:srgbClr val="080808"/>
              </a:solidFill>
              <a:latin typeface="Aptos" panose="020B00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D7E2125F-8F4D-B919-A51A-FF5459E759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AE328632-E123-1EA5-9137-2EA2E4A0AF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21F8B201-0BDA-4347-E1AA-300A91F784FF}"/>
              </a:ext>
            </a:extLst>
          </p:cNvPr>
          <p:cNvSpPr>
            <a:spLocks noGrp="1"/>
          </p:cNvSpPr>
          <p:nvPr>
            <p:ph idx="1"/>
          </p:nvPr>
        </p:nvSpPr>
        <p:spPr>
          <a:xfrm>
            <a:off x="371094" y="2718054"/>
            <a:ext cx="3438906" cy="4139946"/>
          </a:xfrm>
        </p:spPr>
        <p:txBody>
          <a:bodyPr anchor="t">
            <a:normAutofit lnSpcReduction="10000"/>
          </a:bodyPr>
          <a:lstStyle/>
          <a:p>
            <a:pPr marL="0" lvl="0" indent="0">
              <a:buNone/>
            </a:pPr>
            <a:r>
              <a:rPr lang="en-IN" sz="1800" dirty="0">
                <a:latin typeface="Aptos" panose="020B0004020202020204" pitchFamily="34" charset="0"/>
              </a:rPr>
              <a:t>Solution: </a:t>
            </a:r>
            <a:endParaRPr lang="en-IN" sz="1800" dirty="0">
              <a:solidFill>
                <a:srgbClr val="000000">
                  <a:alpha val="60000"/>
                </a:srgbClr>
              </a:solidFill>
              <a:latin typeface="Aptos" panose="020B0004020202020204" pitchFamily="34" charset="0"/>
            </a:endParaRPr>
          </a:p>
          <a:p>
            <a:pPr marL="0" lvl="0" indent="0">
              <a:buNone/>
            </a:pPr>
            <a:r>
              <a:rPr lang="en-US" sz="1800" dirty="0">
                <a:latin typeface="Aptos" panose="020B0004020202020204" pitchFamily="34" charset="0"/>
              </a:rPr>
              <a:t>WoW:</a:t>
            </a:r>
          </a:p>
          <a:p>
            <a:pPr marL="0" lvl="0" indent="0">
              <a:buNone/>
            </a:pPr>
            <a:r>
              <a:rPr lang="en-US" sz="1800" b="1" dirty="0">
                <a:latin typeface="Aptos" panose="020B0004020202020204" pitchFamily="34" charset="0"/>
              </a:rPr>
              <a:t>VAR </a:t>
            </a:r>
            <a:r>
              <a:rPr lang="en-US" sz="1800" b="1" dirty="0" err="1">
                <a:latin typeface="Aptos" panose="020B0004020202020204" pitchFamily="34" charset="0"/>
              </a:rPr>
              <a:t>prev_week</a:t>
            </a:r>
            <a:r>
              <a:rPr lang="en-US" sz="1800" b="1" dirty="0">
                <a:latin typeface="Aptos" panose="020B0004020202020204" pitchFamily="34" charset="0"/>
              </a:rPr>
              <a:t>: </a:t>
            </a:r>
            <a:r>
              <a:rPr lang="en-US" sz="1800" dirty="0">
                <a:latin typeface="Aptos" panose="020B0004020202020204" pitchFamily="34" charset="0"/>
              </a:rPr>
              <a:t>Retrieves the revenue total from the previous week. Used FILTER(ALL()) to ignore current filters and find the exact previous week using </a:t>
            </a:r>
            <a:r>
              <a:rPr lang="en-US" sz="1800" dirty="0" err="1">
                <a:latin typeface="Aptos" panose="020B0004020202020204" pitchFamily="34" charset="0"/>
              </a:rPr>
              <a:t>weeknum</a:t>
            </a:r>
            <a:r>
              <a:rPr lang="en-US" sz="1800" dirty="0">
                <a:latin typeface="Aptos" panose="020B0004020202020204" pitchFamily="34" charset="0"/>
              </a:rPr>
              <a:t>.</a:t>
            </a:r>
          </a:p>
          <a:p>
            <a:pPr marL="0" lvl="0" indent="0">
              <a:buNone/>
            </a:pPr>
            <a:r>
              <a:rPr lang="en-US" sz="1800" b="1" dirty="0">
                <a:latin typeface="Aptos" panose="020B0004020202020204" pitchFamily="34" charset="0"/>
              </a:rPr>
              <a:t>RETURN DIVIDE():</a:t>
            </a:r>
            <a:r>
              <a:rPr lang="en-US" sz="1800" dirty="0">
                <a:latin typeface="Aptos" panose="020B0004020202020204" pitchFamily="34" charset="0"/>
              </a:rPr>
              <a:t>Computes the difference between current and previous week's revenue. Divided by the previous week’s revenue to get a percentage. Returns 0 if the previous week’s revenue is zero (to avoid divide-by-zero errors).</a:t>
            </a:r>
            <a:endParaRPr lang="en-IN" sz="1800" dirty="0">
              <a:latin typeface="Aptos" panose="020B0004020202020204" pitchFamily="34" charset="0"/>
            </a:endParaRPr>
          </a:p>
        </p:txBody>
      </p:sp>
      <p:sp>
        <p:nvSpPr>
          <p:cNvPr id="4" name="TextBox 3">
            <a:extLst>
              <a:ext uri="{FF2B5EF4-FFF2-40B4-BE49-F238E27FC236}">
                <a16:creationId xmlns:a16="http://schemas.microsoft.com/office/drawing/2014/main" id="{4185A639-228C-40A4-F9A9-39F193340C10}"/>
              </a:ext>
            </a:extLst>
          </p:cNvPr>
          <p:cNvSpPr txBox="1"/>
          <p:nvPr/>
        </p:nvSpPr>
        <p:spPr>
          <a:xfrm>
            <a:off x="1897626" y="68826"/>
            <a:ext cx="8318090" cy="523220"/>
          </a:xfrm>
          <a:prstGeom prst="rect">
            <a:avLst/>
          </a:prstGeom>
          <a:noFill/>
        </p:spPr>
        <p:txBody>
          <a:bodyPr wrap="square" rtlCol="0">
            <a:spAutoFit/>
          </a:bodyPr>
          <a:lstStyle/>
          <a:p>
            <a:pPr algn="ctr"/>
            <a:r>
              <a:rPr lang="en-IN" sz="2800" b="1" dirty="0">
                <a:latin typeface="Aptos" panose="020B0004020202020204" pitchFamily="34" charset="0"/>
                <a:cs typeface="Arial" panose="020B0604020202020204" pitchFamily="34" charset="0"/>
              </a:rPr>
              <a:t>Room Category Performance &amp; Booking Insights</a:t>
            </a:r>
            <a:endParaRPr lang="en-IN" sz="2800" b="1" dirty="0"/>
          </a:p>
        </p:txBody>
      </p:sp>
      <p:pic>
        <p:nvPicPr>
          <p:cNvPr id="5" name="Picture 4">
            <a:extLst>
              <a:ext uri="{FF2B5EF4-FFF2-40B4-BE49-F238E27FC236}">
                <a16:creationId xmlns:a16="http://schemas.microsoft.com/office/drawing/2014/main" id="{5686A928-C1E0-A025-7879-9C7C269537DF}"/>
              </a:ext>
            </a:extLst>
          </p:cNvPr>
          <p:cNvPicPr>
            <a:picLocks noChangeAspect="1"/>
          </p:cNvPicPr>
          <p:nvPr/>
        </p:nvPicPr>
        <p:blipFill>
          <a:blip r:embed="rId2"/>
          <a:stretch>
            <a:fillRect/>
          </a:stretch>
        </p:blipFill>
        <p:spPr>
          <a:xfrm>
            <a:off x="4851565" y="2105956"/>
            <a:ext cx="7053072" cy="564245"/>
          </a:xfrm>
          <a:prstGeom prst="rect">
            <a:avLst/>
          </a:prstGeom>
          <a:effectLst>
            <a:glow rad="139700">
              <a:schemeClr val="tx1">
                <a:lumMod val="85000"/>
                <a:lumOff val="15000"/>
                <a:alpha val="40000"/>
              </a:schemeClr>
            </a:glow>
          </a:effectLst>
        </p:spPr>
      </p:pic>
      <p:pic>
        <p:nvPicPr>
          <p:cNvPr id="7" name="Picture 6">
            <a:extLst>
              <a:ext uri="{FF2B5EF4-FFF2-40B4-BE49-F238E27FC236}">
                <a16:creationId xmlns:a16="http://schemas.microsoft.com/office/drawing/2014/main" id="{0A2E80AB-5808-58FD-8B34-C829ED79A6E9}"/>
              </a:ext>
            </a:extLst>
          </p:cNvPr>
          <p:cNvPicPr>
            <a:picLocks noChangeAspect="1"/>
          </p:cNvPicPr>
          <p:nvPr/>
        </p:nvPicPr>
        <p:blipFill>
          <a:blip r:embed="rId3"/>
          <a:stretch>
            <a:fillRect/>
          </a:stretch>
        </p:blipFill>
        <p:spPr>
          <a:xfrm>
            <a:off x="6056671" y="3622834"/>
            <a:ext cx="5135719" cy="2054288"/>
          </a:xfrm>
          <a:prstGeom prst="rect">
            <a:avLst/>
          </a:prstGeom>
          <a:effectLst>
            <a:glow rad="139700">
              <a:schemeClr val="tx1">
                <a:lumMod val="85000"/>
                <a:lumOff val="15000"/>
                <a:alpha val="40000"/>
              </a:schemeClr>
            </a:glow>
          </a:effectLst>
        </p:spPr>
      </p:pic>
      <p:pic>
        <p:nvPicPr>
          <p:cNvPr id="6" name="Picture 5">
            <a:extLst>
              <a:ext uri="{FF2B5EF4-FFF2-40B4-BE49-F238E27FC236}">
                <a16:creationId xmlns:a16="http://schemas.microsoft.com/office/drawing/2014/main" id="{E01373ED-E605-0911-E852-4D69815C09EC}"/>
              </a:ext>
            </a:extLst>
          </p:cNvPr>
          <p:cNvPicPr>
            <a:picLocks noChangeAspect="1"/>
          </p:cNvPicPr>
          <p:nvPr/>
        </p:nvPicPr>
        <p:blipFill>
          <a:blip r:embed="rId4"/>
          <a:stretch>
            <a:fillRect/>
          </a:stretch>
        </p:blipFill>
        <p:spPr>
          <a:xfrm>
            <a:off x="5477467" y="6051923"/>
            <a:ext cx="1430571" cy="1144457"/>
          </a:xfrm>
          <a:prstGeom prst="rect">
            <a:avLst/>
          </a:prstGeom>
        </p:spPr>
      </p:pic>
    </p:spTree>
    <p:extLst>
      <p:ext uri="{BB962C8B-B14F-4D97-AF65-F5344CB8AC3E}">
        <p14:creationId xmlns:p14="http://schemas.microsoft.com/office/powerpoint/2010/main" val="4260458095"/>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EEBE1"/>
        </a:solidFill>
        <a:effectLst/>
      </p:bgPr>
    </p:bg>
    <p:spTree>
      <p:nvGrpSpPr>
        <p:cNvPr id="1" name="">
          <a:extLst>
            <a:ext uri="{FF2B5EF4-FFF2-40B4-BE49-F238E27FC236}">
              <a16:creationId xmlns:a16="http://schemas.microsoft.com/office/drawing/2014/main" id="{324454A1-BBA1-403F-780B-58307B908FF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FB2BA2B-40C2-24F2-E8B8-DAAFD9EA3E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2" name="Freeform: Shape 11">
            <a:extLst>
              <a:ext uri="{FF2B5EF4-FFF2-40B4-BE49-F238E27FC236}">
                <a16:creationId xmlns:a16="http://schemas.microsoft.com/office/drawing/2014/main" id="{24F490BC-4134-5F9D-FFE0-4670FE454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94657871-3F18-A3FC-9F46-56ADE94778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02C3A5AE-1894-2FB3-8903-D4D68FF355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8" name="Rectangle 17">
            <a:extLst>
              <a:ext uri="{FF2B5EF4-FFF2-40B4-BE49-F238E27FC236}">
                <a16:creationId xmlns:a16="http://schemas.microsoft.com/office/drawing/2014/main" id="{6E102AA5-9947-1574-C265-FB27E6BED8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D8A89FDF-8074-73F6-B199-785DFD15B95A}"/>
              </a:ext>
            </a:extLst>
          </p:cNvPr>
          <p:cNvPicPr>
            <a:picLocks noChangeAspect="1"/>
          </p:cNvPicPr>
          <p:nvPr/>
        </p:nvPicPr>
        <p:blipFill>
          <a:blip r:embed="rId2"/>
          <a:stretch>
            <a:fillRect/>
          </a:stretch>
        </p:blipFill>
        <p:spPr>
          <a:xfrm>
            <a:off x="-3" y="-1"/>
            <a:ext cx="12168939" cy="6857999"/>
          </a:xfrm>
          <a:prstGeom prst="rect">
            <a:avLst/>
          </a:prstGeom>
        </p:spPr>
      </p:pic>
    </p:spTree>
    <p:extLst>
      <p:ext uri="{BB962C8B-B14F-4D97-AF65-F5344CB8AC3E}">
        <p14:creationId xmlns:p14="http://schemas.microsoft.com/office/powerpoint/2010/main" val="2210433510"/>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EEBE1"/>
        </a:solidFill>
        <a:effectLst/>
      </p:bgPr>
    </p:bg>
    <p:spTree>
      <p:nvGrpSpPr>
        <p:cNvPr id="1" name="">
          <a:extLst>
            <a:ext uri="{FF2B5EF4-FFF2-40B4-BE49-F238E27FC236}">
              <a16:creationId xmlns:a16="http://schemas.microsoft.com/office/drawing/2014/main" id="{F302FCC7-B977-A8BB-5B37-64B224D19735}"/>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DC469EF-985C-1C07-3299-FC18AD2258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2" name="Freeform: Shape 11">
            <a:extLst>
              <a:ext uri="{FF2B5EF4-FFF2-40B4-BE49-F238E27FC236}">
                <a16:creationId xmlns:a16="http://schemas.microsoft.com/office/drawing/2014/main" id="{CF9CD0E4-4125-FE12-65AC-2B5DE3143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8FCBBA9F-6690-0185-74DB-749CB21A5A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9CD540D-42F9-6415-799E-12DB2E1ECD3A}"/>
              </a:ext>
            </a:extLst>
          </p:cNvPr>
          <p:cNvSpPr>
            <a:spLocks noGrp="1"/>
          </p:cNvSpPr>
          <p:nvPr>
            <p:ph type="title"/>
          </p:nvPr>
        </p:nvSpPr>
        <p:spPr>
          <a:xfrm>
            <a:off x="436417" y="3111191"/>
            <a:ext cx="3715085" cy="635617"/>
          </a:xfrm>
        </p:spPr>
        <p:txBody>
          <a:bodyPr anchor="ctr">
            <a:noAutofit/>
          </a:bodyPr>
          <a:lstStyle/>
          <a:p>
            <a:pPr algn="ctr"/>
            <a:r>
              <a:rPr lang="en-IN" sz="3200" b="1" dirty="0">
                <a:latin typeface="Aptos" panose="020B0004020202020204" pitchFamily="34" charset="0"/>
              </a:rPr>
              <a:t>Key insights</a:t>
            </a:r>
            <a:br>
              <a:rPr lang="en-IN" sz="2400" dirty="0">
                <a:solidFill>
                  <a:srgbClr val="080808"/>
                </a:solidFill>
                <a:latin typeface="Aptos" panose="020B0004020202020204" pitchFamily="34" charset="0"/>
              </a:rPr>
            </a:br>
            <a:endParaRPr lang="en-IN" sz="2400" dirty="0">
              <a:solidFill>
                <a:srgbClr val="080808"/>
              </a:solidFill>
              <a:latin typeface="Aptos" panose="020B00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7BFED0B7-6C95-2E90-1FE0-38B1E504D2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8" name="Rectangle 17">
            <a:extLst>
              <a:ext uri="{FF2B5EF4-FFF2-40B4-BE49-F238E27FC236}">
                <a16:creationId xmlns:a16="http://schemas.microsoft.com/office/drawing/2014/main" id="{45B0B898-5816-E4E7-3B1B-F396BEFFBF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75650CCE-92DB-019F-7FCC-151DB2F966E6}"/>
              </a:ext>
            </a:extLst>
          </p:cNvPr>
          <p:cNvSpPr>
            <a:spLocks noGrp="1"/>
          </p:cNvSpPr>
          <p:nvPr>
            <p:ph idx="1"/>
          </p:nvPr>
        </p:nvSpPr>
        <p:spPr>
          <a:xfrm>
            <a:off x="5067784" y="1426545"/>
            <a:ext cx="6434951" cy="4943081"/>
          </a:xfrm>
        </p:spPr>
        <p:txBody>
          <a:bodyPr anchor="t">
            <a:normAutofit fontScale="40000" lnSpcReduction="20000"/>
          </a:bodyPr>
          <a:lstStyle/>
          <a:p>
            <a:pPr marL="0" indent="0">
              <a:lnSpc>
                <a:spcPct val="120000"/>
              </a:lnSpc>
              <a:spcBef>
                <a:spcPts val="600"/>
              </a:spcBef>
              <a:buNone/>
              <a:tabLst>
                <a:tab pos="360000" algn="l"/>
              </a:tabLst>
            </a:pPr>
            <a:r>
              <a:rPr lang="en-US" b="1" dirty="0"/>
              <a:t>🔸 Revenue and Booking Behavior</a:t>
            </a:r>
          </a:p>
          <a:p>
            <a:pPr marL="0" indent="0">
              <a:lnSpc>
                <a:spcPct val="120000"/>
              </a:lnSpc>
              <a:spcBef>
                <a:spcPts val="600"/>
              </a:spcBef>
              <a:buNone/>
              <a:tabLst>
                <a:tab pos="360000" algn="l"/>
              </a:tabLst>
            </a:pPr>
            <a:r>
              <a:rPr lang="en-US" b="1" dirty="0"/>
              <a:t>Most bookings are made with short lead times (under 5 days), and these contribute the most to revenue and occupancy.</a:t>
            </a:r>
          </a:p>
          <a:p>
            <a:pPr marL="0" indent="0">
              <a:lnSpc>
                <a:spcPct val="120000"/>
              </a:lnSpc>
              <a:spcBef>
                <a:spcPts val="600"/>
              </a:spcBef>
              <a:buNone/>
              <a:tabLst>
                <a:tab pos="360000" algn="l"/>
              </a:tabLst>
            </a:pPr>
            <a:r>
              <a:rPr lang="en-US" b="1" dirty="0"/>
              <a:t>Sharp drop in both revenue and occupancy when lead time exceeds 10 days.</a:t>
            </a:r>
          </a:p>
          <a:p>
            <a:pPr marL="0" indent="0">
              <a:lnSpc>
                <a:spcPct val="120000"/>
              </a:lnSpc>
              <a:spcBef>
                <a:spcPts val="600"/>
              </a:spcBef>
              <a:buNone/>
              <a:tabLst>
                <a:tab pos="360000" algn="l"/>
              </a:tabLst>
            </a:pPr>
            <a:r>
              <a:rPr lang="en-US" b="1" dirty="0"/>
              <a:t>🔸 ALOS by Room Category</a:t>
            </a:r>
          </a:p>
          <a:p>
            <a:pPr marL="0" indent="0">
              <a:lnSpc>
                <a:spcPct val="120000"/>
              </a:lnSpc>
              <a:spcBef>
                <a:spcPts val="600"/>
              </a:spcBef>
              <a:buNone/>
              <a:tabLst>
                <a:tab pos="360000" algn="l"/>
              </a:tabLst>
            </a:pPr>
            <a:r>
              <a:rPr lang="en-US" b="1" dirty="0"/>
              <a:t>Highest ALOS: Presidential (2.41 days)</a:t>
            </a:r>
          </a:p>
          <a:p>
            <a:pPr marL="0" indent="0">
              <a:lnSpc>
                <a:spcPct val="120000"/>
              </a:lnSpc>
              <a:spcBef>
                <a:spcPts val="600"/>
              </a:spcBef>
              <a:buNone/>
              <a:tabLst>
                <a:tab pos="360000" algn="l"/>
              </a:tabLst>
            </a:pPr>
            <a:r>
              <a:rPr lang="en-US" b="1" dirty="0"/>
              <a:t>Lowest ALOS: Elite (2.31 days)</a:t>
            </a:r>
          </a:p>
          <a:p>
            <a:pPr marL="0" indent="0">
              <a:lnSpc>
                <a:spcPct val="120000"/>
              </a:lnSpc>
              <a:spcBef>
                <a:spcPts val="600"/>
              </a:spcBef>
              <a:buNone/>
              <a:tabLst>
                <a:tab pos="360000" algn="l"/>
              </a:tabLst>
            </a:pPr>
            <a:r>
              <a:rPr lang="en-US" b="1" dirty="0"/>
              <a:t>ALOS is fairly consistent across categories (2.31–2.41 days), indicating short stays dominate across the board.</a:t>
            </a:r>
          </a:p>
          <a:p>
            <a:pPr marL="0" indent="0">
              <a:lnSpc>
                <a:spcPct val="120000"/>
              </a:lnSpc>
              <a:spcBef>
                <a:spcPts val="600"/>
              </a:spcBef>
              <a:buNone/>
              <a:tabLst>
                <a:tab pos="360000" algn="l"/>
              </a:tabLst>
            </a:pPr>
            <a:r>
              <a:rPr lang="en-US" b="1" dirty="0"/>
              <a:t>🔸 Month-over-Month Revenue Growth (by Room Category)</a:t>
            </a:r>
          </a:p>
          <a:p>
            <a:pPr marL="0" indent="0">
              <a:lnSpc>
                <a:spcPct val="120000"/>
              </a:lnSpc>
              <a:spcBef>
                <a:spcPts val="600"/>
              </a:spcBef>
              <a:buNone/>
              <a:tabLst>
                <a:tab pos="360000" algn="l"/>
              </a:tabLst>
            </a:pPr>
            <a:r>
              <a:rPr lang="en-US" b="1" dirty="0"/>
              <a:t>June shows a significant dip across most categories.</a:t>
            </a:r>
          </a:p>
          <a:p>
            <a:pPr marL="0" indent="0">
              <a:lnSpc>
                <a:spcPct val="120000"/>
              </a:lnSpc>
              <a:spcBef>
                <a:spcPts val="600"/>
              </a:spcBef>
              <a:buNone/>
              <a:tabLst>
                <a:tab pos="360000" algn="l"/>
              </a:tabLst>
            </a:pPr>
            <a:r>
              <a:rPr lang="en-US" b="1" dirty="0"/>
              <a:t>July shows recovery, especially in Elite and Presidential categories.</a:t>
            </a:r>
          </a:p>
          <a:p>
            <a:pPr marL="0" indent="0">
              <a:lnSpc>
                <a:spcPct val="120000"/>
              </a:lnSpc>
              <a:spcBef>
                <a:spcPts val="600"/>
              </a:spcBef>
              <a:buNone/>
              <a:tabLst>
                <a:tab pos="360000" algn="l"/>
              </a:tabLst>
            </a:pPr>
            <a:r>
              <a:rPr lang="en-US" b="1" dirty="0"/>
              <a:t>🔸 Week-over-Week Revenue Growth (by Room Category)</a:t>
            </a:r>
          </a:p>
          <a:p>
            <a:pPr marL="0" indent="0">
              <a:lnSpc>
                <a:spcPct val="120000"/>
              </a:lnSpc>
              <a:spcBef>
                <a:spcPts val="600"/>
              </a:spcBef>
              <a:buNone/>
              <a:tabLst>
                <a:tab pos="360000" algn="l"/>
              </a:tabLst>
            </a:pPr>
            <a:r>
              <a:rPr lang="en-US" b="1" dirty="0"/>
              <a:t>High volatility with a sharp peak around Week 19 (400%+ growth), then a flat and stable trend afterward.</a:t>
            </a:r>
          </a:p>
          <a:p>
            <a:pPr marL="0" indent="0">
              <a:lnSpc>
                <a:spcPct val="120000"/>
              </a:lnSpc>
              <a:spcBef>
                <a:spcPts val="600"/>
              </a:spcBef>
              <a:buNone/>
              <a:tabLst>
                <a:tab pos="360000" algn="l"/>
              </a:tabLst>
            </a:pPr>
            <a:r>
              <a:rPr lang="en-US" b="1" dirty="0"/>
              <a:t>🔸 Total Revenue by Room Category</a:t>
            </a:r>
          </a:p>
          <a:p>
            <a:pPr marL="0" indent="0">
              <a:lnSpc>
                <a:spcPct val="120000"/>
              </a:lnSpc>
              <a:spcBef>
                <a:spcPts val="600"/>
              </a:spcBef>
              <a:buNone/>
              <a:tabLst>
                <a:tab pos="360000" algn="l"/>
              </a:tabLst>
            </a:pPr>
            <a:r>
              <a:rPr lang="en-US" b="1" dirty="0"/>
              <a:t>Elite leads with ₹560M</a:t>
            </a:r>
          </a:p>
          <a:p>
            <a:pPr marL="0" indent="0">
              <a:lnSpc>
                <a:spcPct val="120000"/>
              </a:lnSpc>
              <a:spcBef>
                <a:spcPts val="600"/>
              </a:spcBef>
              <a:buNone/>
              <a:tabLst>
                <a:tab pos="360000" algn="l"/>
              </a:tabLst>
            </a:pPr>
            <a:r>
              <a:rPr lang="en-US" b="1" dirty="0"/>
              <a:t>Followed by:</a:t>
            </a:r>
          </a:p>
          <a:p>
            <a:pPr marL="0" indent="0">
              <a:lnSpc>
                <a:spcPct val="120000"/>
              </a:lnSpc>
              <a:spcBef>
                <a:spcPts val="600"/>
              </a:spcBef>
              <a:buNone/>
              <a:tabLst>
                <a:tab pos="360000" algn="l"/>
              </a:tabLst>
            </a:pPr>
            <a:r>
              <a:rPr lang="en-US" b="1" dirty="0"/>
              <a:t>Premium: ₹462M</a:t>
            </a:r>
          </a:p>
          <a:p>
            <a:pPr marL="0" indent="0">
              <a:lnSpc>
                <a:spcPct val="120000"/>
              </a:lnSpc>
              <a:spcBef>
                <a:spcPts val="600"/>
              </a:spcBef>
              <a:buNone/>
              <a:tabLst>
                <a:tab pos="360000" algn="l"/>
              </a:tabLst>
            </a:pPr>
            <a:r>
              <a:rPr lang="en-US" b="1" dirty="0"/>
              <a:t>Presidential: ₹377M</a:t>
            </a:r>
          </a:p>
          <a:p>
            <a:pPr marL="0" indent="0">
              <a:lnSpc>
                <a:spcPct val="120000"/>
              </a:lnSpc>
              <a:spcBef>
                <a:spcPts val="600"/>
              </a:spcBef>
              <a:buNone/>
              <a:tabLst>
                <a:tab pos="360000" algn="l"/>
              </a:tabLst>
            </a:pPr>
            <a:r>
              <a:rPr lang="en-US" b="1" dirty="0"/>
              <a:t>Standard: ₹310M</a:t>
            </a:r>
            <a:endParaRPr lang="en-US" dirty="0"/>
          </a:p>
        </p:txBody>
      </p:sp>
      <p:sp>
        <p:nvSpPr>
          <p:cNvPr id="4" name="TextBox 3">
            <a:extLst>
              <a:ext uri="{FF2B5EF4-FFF2-40B4-BE49-F238E27FC236}">
                <a16:creationId xmlns:a16="http://schemas.microsoft.com/office/drawing/2014/main" id="{77F08891-478B-B2EF-4046-3B46302F37B6}"/>
              </a:ext>
            </a:extLst>
          </p:cNvPr>
          <p:cNvSpPr txBox="1"/>
          <p:nvPr/>
        </p:nvSpPr>
        <p:spPr>
          <a:xfrm>
            <a:off x="1897626" y="68826"/>
            <a:ext cx="8318090" cy="523220"/>
          </a:xfrm>
          <a:prstGeom prst="rect">
            <a:avLst/>
          </a:prstGeom>
          <a:noFill/>
        </p:spPr>
        <p:txBody>
          <a:bodyPr wrap="square" rtlCol="0">
            <a:spAutoFit/>
          </a:bodyPr>
          <a:lstStyle/>
          <a:p>
            <a:pPr algn="ctr"/>
            <a:r>
              <a:rPr lang="en-IN" sz="2800" b="1" dirty="0">
                <a:latin typeface="Aptos" panose="020B0004020202020204" pitchFamily="34" charset="0"/>
                <a:cs typeface="Arial" panose="020B0604020202020204" pitchFamily="34" charset="0"/>
              </a:rPr>
              <a:t>Room Category Performance &amp; Booking Insights</a:t>
            </a:r>
            <a:endParaRPr lang="en-IN" sz="2800" b="1" dirty="0"/>
          </a:p>
        </p:txBody>
      </p:sp>
      <p:pic>
        <p:nvPicPr>
          <p:cNvPr id="5" name="Picture 4">
            <a:extLst>
              <a:ext uri="{FF2B5EF4-FFF2-40B4-BE49-F238E27FC236}">
                <a16:creationId xmlns:a16="http://schemas.microsoft.com/office/drawing/2014/main" id="{9ECEA93E-F071-E1F3-53DB-F017FEF077A9}"/>
              </a:ext>
            </a:extLst>
          </p:cNvPr>
          <p:cNvPicPr>
            <a:picLocks noChangeAspect="1"/>
          </p:cNvPicPr>
          <p:nvPr/>
        </p:nvPicPr>
        <p:blipFill>
          <a:blip r:embed="rId2"/>
          <a:stretch>
            <a:fillRect/>
          </a:stretch>
        </p:blipFill>
        <p:spPr>
          <a:xfrm>
            <a:off x="5477467" y="6051923"/>
            <a:ext cx="1430571" cy="1144457"/>
          </a:xfrm>
          <a:prstGeom prst="rect">
            <a:avLst/>
          </a:prstGeom>
        </p:spPr>
      </p:pic>
    </p:spTree>
    <p:extLst>
      <p:ext uri="{BB962C8B-B14F-4D97-AF65-F5344CB8AC3E}">
        <p14:creationId xmlns:p14="http://schemas.microsoft.com/office/powerpoint/2010/main" val="1954250053"/>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EEBE1"/>
        </a:solidFill>
        <a:effectLst/>
      </p:bgPr>
    </p:bg>
    <p:spTree>
      <p:nvGrpSpPr>
        <p:cNvPr id="1" name="">
          <a:extLst>
            <a:ext uri="{FF2B5EF4-FFF2-40B4-BE49-F238E27FC236}">
              <a16:creationId xmlns:a16="http://schemas.microsoft.com/office/drawing/2014/main" id="{DD354286-B8D3-E6EE-9046-15E4AE506DE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FCCAD16-A095-AC96-8B3D-93AD349EE1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2" name="Freeform: Shape 11">
            <a:extLst>
              <a:ext uri="{FF2B5EF4-FFF2-40B4-BE49-F238E27FC236}">
                <a16:creationId xmlns:a16="http://schemas.microsoft.com/office/drawing/2014/main" id="{F1BF99C3-9D17-90C6-8FA7-73A8B11832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4369D9B0-8298-BE89-7107-31E26E8986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CBD31C7-56E1-81FB-3F3D-0258541EFF0E}"/>
              </a:ext>
            </a:extLst>
          </p:cNvPr>
          <p:cNvSpPr>
            <a:spLocks noGrp="1"/>
          </p:cNvSpPr>
          <p:nvPr>
            <p:ph type="title"/>
          </p:nvPr>
        </p:nvSpPr>
        <p:spPr>
          <a:xfrm>
            <a:off x="436417" y="3111191"/>
            <a:ext cx="3715085" cy="635617"/>
          </a:xfrm>
        </p:spPr>
        <p:txBody>
          <a:bodyPr anchor="ctr">
            <a:noAutofit/>
          </a:bodyPr>
          <a:lstStyle/>
          <a:p>
            <a:pPr algn="ctr"/>
            <a:r>
              <a:rPr lang="en-US" sz="3200" b="1" dirty="0">
                <a:latin typeface="Aptos" panose="020B0004020202020204" pitchFamily="34" charset="0"/>
              </a:rPr>
              <a:t>Conclusions</a:t>
            </a:r>
            <a:endParaRPr lang="en-IN" sz="2400" dirty="0">
              <a:solidFill>
                <a:srgbClr val="080808"/>
              </a:solidFill>
              <a:latin typeface="Aptos" panose="020B00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127F3C96-4CD9-C02B-E8B5-95B1EE069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8" name="Rectangle 17">
            <a:extLst>
              <a:ext uri="{FF2B5EF4-FFF2-40B4-BE49-F238E27FC236}">
                <a16:creationId xmlns:a16="http://schemas.microsoft.com/office/drawing/2014/main" id="{83CA0F18-6F3E-2777-75F8-034C5016D3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9FDBCEC9-3009-422F-3259-3CD2E722C23F}"/>
              </a:ext>
            </a:extLst>
          </p:cNvPr>
          <p:cNvSpPr>
            <a:spLocks noGrp="1"/>
          </p:cNvSpPr>
          <p:nvPr>
            <p:ph idx="1"/>
          </p:nvPr>
        </p:nvSpPr>
        <p:spPr>
          <a:xfrm>
            <a:off x="5067784" y="1426545"/>
            <a:ext cx="6434951" cy="4943081"/>
          </a:xfrm>
        </p:spPr>
        <p:txBody>
          <a:bodyPr anchor="t">
            <a:normAutofit lnSpcReduction="10000"/>
          </a:bodyPr>
          <a:lstStyle/>
          <a:p>
            <a:pPr marL="0" indent="0">
              <a:lnSpc>
                <a:spcPct val="100000"/>
              </a:lnSpc>
              <a:spcBef>
                <a:spcPts val="600"/>
              </a:spcBef>
              <a:buNone/>
              <a:tabLst>
                <a:tab pos="360000" algn="l"/>
              </a:tabLst>
            </a:pPr>
            <a:r>
              <a:rPr lang="en-US" sz="1800" dirty="0">
                <a:latin typeface="Aptos" panose="020B0004020202020204" pitchFamily="34" charset="0"/>
              </a:rPr>
              <a:t>1.	Booking Behavior is Short-Term:</a:t>
            </a:r>
          </a:p>
          <a:p>
            <a:r>
              <a:rPr lang="en-US" sz="1800" dirty="0">
                <a:latin typeface="Aptos" panose="020B0004020202020204" pitchFamily="34" charset="0"/>
              </a:rPr>
              <a:t>Customers book close to the date of stay, indicating spontaneous or last-minute travel behavior.</a:t>
            </a:r>
          </a:p>
          <a:p>
            <a:pPr marL="0" indent="0">
              <a:lnSpc>
                <a:spcPct val="110000"/>
              </a:lnSpc>
              <a:spcBef>
                <a:spcPts val="600"/>
              </a:spcBef>
              <a:buNone/>
              <a:tabLst>
                <a:tab pos="360000" algn="l"/>
              </a:tabLst>
            </a:pPr>
            <a:r>
              <a:rPr lang="en-US" sz="1800" dirty="0">
                <a:latin typeface="Aptos" panose="020B0004020202020204" pitchFamily="34" charset="0"/>
              </a:rPr>
              <a:t>2.	Short Stay Duration is Standard:</a:t>
            </a:r>
          </a:p>
          <a:p>
            <a:r>
              <a:rPr lang="en-US" sz="1800" dirty="0">
                <a:latin typeface="Aptos" panose="020B0004020202020204" pitchFamily="34" charset="0"/>
              </a:rPr>
              <a:t>With an average of ~2.37 days, this suggests the portfolio is mostly targeting transient travelers rather than long-stay or extended vacationers.</a:t>
            </a:r>
          </a:p>
          <a:p>
            <a:pPr marL="0" indent="0">
              <a:spcBef>
                <a:spcPts val="600"/>
              </a:spcBef>
              <a:buNone/>
              <a:tabLst>
                <a:tab pos="360000" algn="l"/>
              </a:tabLst>
            </a:pPr>
            <a:r>
              <a:rPr lang="en-US" sz="1800" dirty="0">
                <a:latin typeface="Aptos" panose="020B0004020202020204" pitchFamily="34" charset="0"/>
              </a:rPr>
              <a:t>3.	Revenue Concentrated in Elite &amp; Premium Segments:</a:t>
            </a:r>
          </a:p>
          <a:p>
            <a:r>
              <a:rPr lang="en-US" sz="1800" dirty="0">
                <a:latin typeface="Aptos" panose="020B0004020202020204" pitchFamily="34" charset="0"/>
              </a:rPr>
              <a:t>These segments contribute the majority of revenue, indicating strong demand for high-end offerings.</a:t>
            </a:r>
          </a:p>
          <a:p>
            <a:pPr marL="0" indent="0">
              <a:lnSpc>
                <a:spcPct val="120000"/>
              </a:lnSpc>
              <a:spcBef>
                <a:spcPts val="600"/>
              </a:spcBef>
              <a:buNone/>
              <a:tabLst>
                <a:tab pos="360000" algn="l"/>
              </a:tabLst>
            </a:pPr>
            <a:r>
              <a:rPr lang="en-US" sz="1800" dirty="0">
                <a:latin typeface="Aptos" panose="020B0004020202020204" pitchFamily="34" charset="0"/>
              </a:rPr>
              <a:t>4.	July Recovery After June Dip:</a:t>
            </a:r>
          </a:p>
          <a:p>
            <a:r>
              <a:rPr lang="en-US" sz="1800" dirty="0">
                <a:latin typeface="Aptos" panose="020B0004020202020204" pitchFamily="34" charset="0"/>
              </a:rPr>
              <a:t>Likely seasonal or promotion-based impact; July shows strong bounce-back especially for high-end rooms.</a:t>
            </a:r>
          </a:p>
          <a:p>
            <a:pPr marL="0" indent="0">
              <a:lnSpc>
                <a:spcPct val="110000"/>
              </a:lnSpc>
              <a:spcBef>
                <a:spcPts val="600"/>
              </a:spcBef>
              <a:buNone/>
              <a:tabLst>
                <a:tab pos="360000" algn="l"/>
              </a:tabLst>
            </a:pPr>
            <a:r>
              <a:rPr lang="en-US" sz="1800" dirty="0">
                <a:latin typeface="Aptos" panose="020B0004020202020204" pitchFamily="34" charset="0"/>
              </a:rPr>
              <a:t>5.	Week 19 Spike is an Outlier:</a:t>
            </a:r>
          </a:p>
          <a:p>
            <a:r>
              <a:rPr lang="en-US" sz="1800" dirty="0">
                <a:latin typeface="Aptos" panose="020B0004020202020204" pitchFamily="34" charset="0"/>
              </a:rPr>
              <a:t>Possibly driven by a special event, campaign, or anomaly.</a:t>
            </a:r>
            <a:endParaRPr lang="en-US" sz="1800" dirty="0"/>
          </a:p>
        </p:txBody>
      </p:sp>
      <p:sp>
        <p:nvSpPr>
          <p:cNvPr id="4" name="TextBox 3">
            <a:extLst>
              <a:ext uri="{FF2B5EF4-FFF2-40B4-BE49-F238E27FC236}">
                <a16:creationId xmlns:a16="http://schemas.microsoft.com/office/drawing/2014/main" id="{4D339CB6-B001-E1B8-0102-7EEC812008F7}"/>
              </a:ext>
            </a:extLst>
          </p:cNvPr>
          <p:cNvSpPr txBox="1"/>
          <p:nvPr/>
        </p:nvSpPr>
        <p:spPr>
          <a:xfrm>
            <a:off x="1897626" y="68826"/>
            <a:ext cx="8318090" cy="523220"/>
          </a:xfrm>
          <a:prstGeom prst="rect">
            <a:avLst/>
          </a:prstGeom>
          <a:noFill/>
        </p:spPr>
        <p:txBody>
          <a:bodyPr wrap="square" rtlCol="0">
            <a:spAutoFit/>
          </a:bodyPr>
          <a:lstStyle/>
          <a:p>
            <a:pPr algn="ctr"/>
            <a:r>
              <a:rPr lang="en-IN" sz="2800" b="1" dirty="0">
                <a:latin typeface="Aptos" panose="020B0004020202020204" pitchFamily="34" charset="0"/>
                <a:cs typeface="Arial" panose="020B0604020202020204" pitchFamily="34" charset="0"/>
              </a:rPr>
              <a:t>Room Category Performance &amp; Booking Insights</a:t>
            </a:r>
            <a:endParaRPr lang="en-IN" sz="2800" b="1" dirty="0"/>
          </a:p>
        </p:txBody>
      </p:sp>
      <p:pic>
        <p:nvPicPr>
          <p:cNvPr id="5" name="Picture 4">
            <a:extLst>
              <a:ext uri="{FF2B5EF4-FFF2-40B4-BE49-F238E27FC236}">
                <a16:creationId xmlns:a16="http://schemas.microsoft.com/office/drawing/2014/main" id="{350A47F6-5B60-51C0-A12F-C5F079505A54}"/>
              </a:ext>
            </a:extLst>
          </p:cNvPr>
          <p:cNvPicPr>
            <a:picLocks noChangeAspect="1"/>
          </p:cNvPicPr>
          <p:nvPr/>
        </p:nvPicPr>
        <p:blipFill>
          <a:blip r:embed="rId2"/>
          <a:stretch>
            <a:fillRect/>
          </a:stretch>
        </p:blipFill>
        <p:spPr>
          <a:xfrm>
            <a:off x="5477467" y="6051923"/>
            <a:ext cx="1430571" cy="1144457"/>
          </a:xfrm>
          <a:prstGeom prst="rect">
            <a:avLst/>
          </a:prstGeom>
        </p:spPr>
      </p:pic>
    </p:spTree>
    <p:extLst>
      <p:ext uri="{BB962C8B-B14F-4D97-AF65-F5344CB8AC3E}">
        <p14:creationId xmlns:p14="http://schemas.microsoft.com/office/powerpoint/2010/main" val="482799223"/>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EEBE1"/>
        </a:solidFill>
        <a:effectLst/>
      </p:bgPr>
    </p:bg>
    <p:spTree>
      <p:nvGrpSpPr>
        <p:cNvPr id="1" name="">
          <a:extLst>
            <a:ext uri="{FF2B5EF4-FFF2-40B4-BE49-F238E27FC236}">
              <a16:creationId xmlns:a16="http://schemas.microsoft.com/office/drawing/2014/main" id="{929D355B-E97A-92B2-E6D5-ABA4AC92E70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30F543F-7187-4E7C-B98C-1F65D954B7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2" name="Freeform: Shape 11">
            <a:extLst>
              <a:ext uri="{FF2B5EF4-FFF2-40B4-BE49-F238E27FC236}">
                <a16:creationId xmlns:a16="http://schemas.microsoft.com/office/drawing/2014/main" id="{605ED870-5384-0676-5A91-FEB4092A11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1C9D4237-F59E-059A-BDF9-AC9E74CF76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4AFD528-D915-9DAF-DC09-E1EDF219CCDE}"/>
              </a:ext>
            </a:extLst>
          </p:cNvPr>
          <p:cNvSpPr>
            <a:spLocks noGrp="1"/>
          </p:cNvSpPr>
          <p:nvPr>
            <p:ph type="title"/>
          </p:nvPr>
        </p:nvSpPr>
        <p:spPr>
          <a:xfrm>
            <a:off x="436417" y="3111191"/>
            <a:ext cx="3715085" cy="635617"/>
          </a:xfrm>
        </p:spPr>
        <p:txBody>
          <a:bodyPr anchor="ctr">
            <a:noAutofit/>
          </a:bodyPr>
          <a:lstStyle/>
          <a:p>
            <a:pPr algn="ctr"/>
            <a:r>
              <a:rPr lang="en-US" sz="3200" b="1" dirty="0">
                <a:latin typeface="Aptos" panose="020B0004020202020204" pitchFamily="34" charset="0"/>
              </a:rPr>
              <a:t>Suggestion</a:t>
            </a:r>
            <a:endParaRPr lang="en-IN" sz="2400" dirty="0">
              <a:solidFill>
                <a:srgbClr val="080808"/>
              </a:solidFill>
              <a:latin typeface="Aptos" panose="020B00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2100876B-2FAF-0928-927A-9F79593107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8" name="Rectangle 17">
            <a:extLst>
              <a:ext uri="{FF2B5EF4-FFF2-40B4-BE49-F238E27FC236}">
                <a16:creationId xmlns:a16="http://schemas.microsoft.com/office/drawing/2014/main" id="{C24B2A63-8231-EA86-8681-170D93764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B1301FED-F178-9DBF-D225-3E342C14F3F9}"/>
              </a:ext>
            </a:extLst>
          </p:cNvPr>
          <p:cNvSpPr>
            <a:spLocks noGrp="1"/>
          </p:cNvSpPr>
          <p:nvPr>
            <p:ph idx="1"/>
          </p:nvPr>
        </p:nvSpPr>
        <p:spPr>
          <a:xfrm>
            <a:off x="5106360" y="1287646"/>
            <a:ext cx="6434951" cy="5081981"/>
          </a:xfrm>
        </p:spPr>
        <p:txBody>
          <a:bodyPr anchor="t">
            <a:normAutofit fontScale="47500" lnSpcReduction="20000"/>
          </a:bodyPr>
          <a:lstStyle/>
          <a:p>
            <a:pPr>
              <a:buFont typeface="Wingdings" panose="05000000000000000000" pitchFamily="2" charset="2"/>
              <a:buChar char="q"/>
            </a:pPr>
            <a:r>
              <a:rPr lang="en-US" b="1" dirty="0"/>
              <a:t>Optimize Booking Window Strategy</a:t>
            </a:r>
          </a:p>
          <a:p>
            <a:r>
              <a:rPr lang="en-US" dirty="0"/>
              <a:t>Target users booking within </a:t>
            </a:r>
            <a:r>
              <a:rPr lang="en-US" b="1" dirty="0"/>
              <a:t>3–5 days</a:t>
            </a:r>
            <a:r>
              <a:rPr lang="en-US" dirty="0"/>
              <a:t> with </a:t>
            </a:r>
            <a:r>
              <a:rPr lang="en-US" b="1" dirty="0"/>
              <a:t>dynamic pricing</a:t>
            </a:r>
            <a:r>
              <a:rPr lang="en-US" dirty="0"/>
              <a:t> and </a:t>
            </a:r>
            <a:r>
              <a:rPr lang="en-US" b="1" dirty="0"/>
              <a:t>last-minute offers</a:t>
            </a:r>
            <a:r>
              <a:rPr lang="en-US" dirty="0"/>
              <a:t>.</a:t>
            </a:r>
          </a:p>
          <a:p>
            <a:r>
              <a:rPr lang="en-US" dirty="0"/>
              <a:t>Consider </a:t>
            </a:r>
            <a:r>
              <a:rPr lang="en-US" b="1" dirty="0"/>
              <a:t>push marketing (SMS/app)</a:t>
            </a:r>
            <a:r>
              <a:rPr lang="en-US" dirty="0"/>
              <a:t> for flash deals around this short booking window.</a:t>
            </a:r>
            <a:br>
              <a:rPr lang="en-US" dirty="0"/>
            </a:br>
            <a:endParaRPr lang="en-US" dirty="0"/>
          </a:p>
          <a:p>
            <a:pPr>
              <a:buFont typeface="Wingdings" panose="05000000000000000000" pitchFamily="2" charset="2"/>
              <a:buChar char="q"/>
            </a:pPr>
            <a:r>
              <a:rPr lang="en-US" b="1" dirty="0"/>
              <a:t>🏷️ Enhance High-Performing Segments</a:t>
            </a:r>
          </a:p>
          <a:p>
            <a:r>
              <a:rPr lang="en-US" dirty="0"/>
              <a:t>Double down on </a:t>
            </a:r>
            <a:r>
              <a:rPr lang="en-US" b="1" dirty="0"/>
              <a:t>Elite and Premium</a:t>
            </a:r>
            <a:r>
              <a:rPr lang="en-US" dirty="0"/>
              <a:t> offerings:</a:t>
            </a:r>
          </a:p>
          <a:p>
            <a:pPr lvl="1"/>
            <a:r>
              <a:rPr lang="en-US" dirty="0"/>
              <a:t>Upsell with value-add services (late checkout, meals, airport transfer).</a:t>
            </a:r>
          </a:p>
          <a:p>
            <a:pPr lvl="1"/>
            <a:r>
              <a:rPr lang="en-US" dirty="0"/>
              <a:t>Highlight them in campaigns during peak demand months (e.g., July).</a:t>
            </a:r>
            <a:br>
              <a:rPr lang="en-US" dirty="0"/>
            </a:br>
            <a:endParaRPr lang="en-US" dirty="0"/>
          </a:p>
          <a:p>
            <a:pPr>
              <a:buFont typeface="Wingdings" panose="05000000000000000000" pitchFamily="2" charset="2"/>
              <a:buChar char="q"/>
            </a:pPr>
            <a:r>
              <a:rPr lang="en-US" b="1" dirty="0"/>
              <a:t>📉 Address June Dip</a:t>
            </a:r>
          </a:p>
          <a:p>
            <a:r>
              <a:rPr lang="en-US" dirty="0"/>
              <a:t>Investigate causes for </a:t>
            </a:r>
            <a:r>
              <a:rPr lang="en-US" b="1" dirty="0"/>
              <a:t>June revenue drop</a:t>
            </a:r>
            <a:r>
              <a:rPr lang="en-US" dirty="0"/>
              <a:t> (e.g., price changes, external events, seasonality).</a:t>
            </a:r>
          </a:p>
          <a:p>
            <a:r>
              <a:rPr lang="en-US" dirty="0"/>
              <a:t>Introduce </a:t>
            </a:r>
            <a:r>
              <a:rPr lang="en-US" b="1" dirty="0"/>
              <a:t>early-bird campaigns</a:t>
            </a:r>
            <a:r>
              <a:rPr lang="en-US" dirty="0"/>
              <a:t> in May to lock in June stays.</a:t>
            </a:r>
            <a:br>
              <a:rPr lang="en-US" dirty="0"/>
            </a:br>
            <a:endParaRPr lang="en-US" dirty="0"/>
          </a:p>
          <a:p>
            <a:pPr>
              <a:buFont typeface="Wingdings" panose="05000000000000000000" pitchFamily="2" charset="2"/>
              <a:buChar char="q"/>
            </a:pPr>
            <a:r>
              <a:rPr lang="en-US" b="1" dirty="0"/>
              <a:t>🧭 Explore Longer-Stay Incentives</a:t>
            </a:r>
          </a:p>
          <a:p>
            <a:r>
              <a:rPr lang="en-US" dirty="0"/>
              <a:t>Average stay is low; consider promotions for </a:t>
            </a:r>
            <a:r>
              <a:rPr lang="en-US" b="1" dirty="0"/>
              <a:t>extended stays</a:t>
            </a:r>
            <a:r>
              <a:rPr lang="en-US" dirty="0"/>
              <a:t> (e.g., “Stay 3 nights, get 4th free”).</a:t>
            </a:r>
          </a:p>
          <a:p>
            <a:r>
              <a:rPr lang="en-US" dirty="0"/>
              <a:t>Target business travelers who might be open to </a:t>
            </a:r>
            <a:r>
              <a:rPr lang="en-US" b="1" dirty="0"/>
              <a:t>bundled longer stays</a:t>
            </a:r>
            <a:r>
              <a:rPr lang="en-US" dirty="0"/>
              <a:t>.</a:t>
            </a:r>
          </a:p>
          <a:p>
            <a:pPr>
              <a:buFont typeface="Wingdings" panose="05000000000000000000" pitchFamily="2" charset="2"/>
              <a:buChar char="q"/>
            </a:pPr>
            <a:r>
              <a:rPr lang="en-US" b="1" dirty="0"/>
              <a:t>📈 Analyze Week 19 Peak</a:t>
            </a:r>
          </a:p>
          <a:p>
            <a:r>
              <a:rPr lang="en-US" dirty="0"/>
              <a:t>Understand what drove the massive Week 19 growth:</a:t>
            </a:r>
          </a:p>
          <a:p>
            <a:pPr lvl="1"/>
            <a:r>
              <a:rPr lang="en-US" dirty="0"/>
              <a:t>Was there a </a:t>
            </a:r>
            <a:r>
              <a:rPr lang="en-US" b="1" dirty="0"/>
              <a:t>major holiday, event, or promotion</a:t>
            </a:r>
            <a:r>
              <a:rPr lang="en-US" dirty="0"/>
              <a:t>?</a:t>
            </a:r>
          </a:p>
          <a:p>
            <a:pPr lvl="1"/>
            <a:r>
              <a:rPr lang="en-US" dirty="0"/>
              <a:t>Replicate the strategy if possible.</a:t>
            </a:r>
          </a:p>
          <a:p>
            <a:pPr marL="0" indent="0">
              <a:buNone/>
            </a:pPr>
            <a:endParaRPr lang="en-US" sz="1800" dirty="0"/>
          </a:p>
        </p:txBody>
      </p:sp>
      <p:sp>
        <p:nvSpPr>
          <p:cNvPr id="4" name="TextBox 3">
            <a:extLst>
              <a:ext uri="{FF2B5EF4-FFF2-40B4-BE49-F238E27FC236}">
                <a16:creationId xmlns:a16="http://schemas.microsoft.com/office/drawing/2014/main" id="{1B5EDE2B-DFEC-798A-2B78-DEFCC0B031B6}"/>
              </a:ext>
            </a:extLst>
          </p:cNvPr>
          <p:cNvSpPr txBox="1"/>
          <p:nvPr/>
        </p:nvSpPr>
        <p:spPr>
          <a:xfrm>
            <a:off x="1897626" y="68826"/>
            <a:ext cx="8318090" cy="523220"/>
          </a:xfrm>
          <a:prstGeom prst="rect">
            <a:avLst/>
          </a:prstGeom>
          <a:noFill/>
        </p:spPr>
        <p:txBody>
          <a:bodyPr wrap="square" rtlCol="0">
            <a:spAutoFit/>
          </a:bodyPr>
          <a:lstStyle/>
          <a:p>
            <a:pPr algn="ctr"/>
            <a:r>
              <a:rPr lang="en-IN" sz="2800" b="1" dirty="0">
                <a:latin typeface="Aptos" panose="020B0004020202020204" pitchFamily="34" charset="0"/>
                <a:cs typeface="Arial" panose="020B0604020202020204" pitchFamily="34" charset="0"/>
              </a:rPr>
              <a:t>Room Category Performance &amp; Booking Insights</a:t>
            </a:r>
            <a:endParaRPr lang="en-IN" sz="2800" b="1" dirty="0"/>
          </a:p>
        </p:txBody>
      </p:sp>
      <p:pic>
        <p:nvPicPr>
          <p:cNvPr id="5" name="Picture 4">
            <a:extLst>
              <a:ext uri="{FF2B5EF4-FFF2-40B4-BE49-F238E27FC236}">
                <a16:creationId xmlns:a16="http://schemas.microsoft.com/office/drawing/2014/main" id="{205E5108-3B52-861A-B5CE-04E2BDBC7246}"/>
              </a:ext>
            </a:extLst>
          </p:cNvPr>
          <p:cNvPicPr>
            <a:picLocks noChangeAspect="1"/>
          </p:cNvPicPr>
          <p:nvPr/>
        </p:nvPicPr>
        <p:blipFill>
          <a:blip r:embed="rId2"/>
          <a:stretch>
            <a:fillRect/>
          </a:stretch>
        </p:blipFill>
        <p:spPr>
          <a:xfrm>
            <a:off x="5477467" y="6051923"/>
            <a:ext cx="1430571" cy="1144457"/>
          </a:xfrm>
          <a:prstGeom prst="rect">
            <a:avLst/>
          </a:prstGeom>
        </p:spPr>
      </p:pic>
    </p:spTree>
    <p:extLst>
      <p:ext uri="{BB962C8B-B14F-4D97-AF65-F5344CB8AC3E}">
        <p14:creationId xmlns:p14="http://schemas.microsoft.com/office/powerpoint/2010/main" val="875203872"/>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EEEBE1"/>
        </a:solidFill>
        <a:effectLst/>
      </p:bgPr>
    </p:bg>
    <p:spTree>
      <p:nvGrpSpPr>
        <p:cNvPr id="1" name="">
          <a:extLst>
            <a:ext uri="{FF2B5EF4-FFF2-40B4-BE49-F238E27FC236}">
              <a16:creationId xmlns:a16="http://schemas.microsoft.com/office/drawing/2014/main" id="{F9227B69-077C-AAA7-31DB-EF47D879D75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371C51E-B304-4C30-0C41-83A282C016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2" name="Freeform: Shape 11">
            <a:extLst>
              <a:ext uri="{FF2B5EF4-FFF2-40B4-BE49-F238E27FC236}">
                <a16:creationId xmlns:a16="http://schemas.microsoft.com/office/drawing/2014/main" id="{A1E8EEC5-7A5D-EFD7-55F9-7581302B64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A0ED04CB-7B1C-A9AB-F454-F4FA890638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32269D2-1729-7F21-7039-7F05F8A6BD49}"/>
              </a:ext>
            </a:extLst>
          </p:cNvPr>
          <p:cNvSpPr>
            <a:spLocks noGrp="1"/>
          </p:cNvSpPr>
          <p:nvPr>
            <p:ph type="title"/>
          </p:nvPr>
        </p:nvSpPr>
        <p:spPr>
          <a:xfrm>
            <a:off x="371094" y="848332"/>
            <a:ext cx="4075435" cy="1512329"/>
          </a:xfrm>
        </p:spPr>
        <p:txBody>
          <a:bodyPr anchor="ctr">
            <a:noAutofit/>
          </a:bodyPr>
          <a:lstStyle/>
          <a:p>
            <a:r>
              <a:rPr lang="en-IN" sz="2400" dirty="0">
                <a:latin typeface="Aptos" panose="020B0004020202020204" pitchFamily="34" charset="0"/>
              </a:rPr>
              <a:t>Objective: What is the cancellation rate for each hotel and room category?</a:t>
            </a:r>
            <a:endParaRPr lang="en-IN" sz="2400" dirty="0">
              <a:solidFill>
                <a:srgbClr val="080808"/>
              </a:solidFill>
              <a:latin typeface="Aptos" panose="020B00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CD154D95-87DC-97F5-BD4A-AEBF47B915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8" name="Rectangle 17">
            <a:extLst>
              <a:ext uri="{FF2B5EF4-FFF2-40B4-BE49-F238E27FC236}">
                <a16:creationId xmlns:a16="http://schemas.microsoft.com/office/drawing/2014/main" id="{3829F715-1E4D-010E-1588-88E3A5A2EC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7D8ACC43-6260-D947-1D48-9133939CD281}"/>
              </a:ext>
            </a:extLst>
          </p:cNvPr>
          <p:cNvSpPr>
            <a:spLocks noGrp="1"/>
          </p:cNvSpPr>
          <p:nvPr>
            <p:ph idx="1"/>
          </p:nvPr>
        </p:nvSpPr>
        <p:spPr>
          <a:xfrm>
            <a:off x="371094" y="2718054"/>
            <a:ext cx="3438906" cy="4139946"/>
          </a:xfrm>
        </p:spPr>
        <p:txBody>
          <a:bodyPr anchor="t">
            <a:normAutofit/>
          </a:bodyPr>
          <a:lstStyle/>
          <a:p>
            <a:pPr marL="0" lvl="0" indent="0">
              <a:buNone/>
            </a:pPr>
            <a:r>
              <a:rPr lang="en-IN" sz="1800" dirty="0">
                <a:latin typeface="Aptos" panose="020B0004020202020204" pitchFamily="34" charset="0"/>
              </a:rPr>
              <a:t>Solution: </a:t>
            </a:r>
            <a:endParaRPr lang="en-IN" sz="1800" dirty="0">
              <a:solidFill>
                <a:srgbClr val="000000">
                  <a:alpha val="60000"/>
                </a:srgbClr>
              </a:solidFill>
              <a:latin typeface="Aptos" panose="020B0004020202020204" pitchFamily="34" charset="0"/>
            </a:endParaRPr>
          </a:p>
          <a:p>
            <a:pPr marL="0" lvl="0" indent="0">
              <a:buNone/>
            </a:pPr>
            <a:r>
              <a:rPr lang="en-US" sz="1800" dirty="0">
                <a:latin typeface="Aptos" panose="020B0004020202020204" pitchFamily="34" charset="0"/>
              </a:rPr>
              <a:t>To find out the Cancellation rate we have divided cancelled booking to the total bookings</a:t>
            </a:r>
            <a:r>
              <a:rPr lang="en-US" sz="1800" dirty="0"/>
              <a:t>.</a:t>
            </a:r>
            <a:endParaRPr lang="en-IN" sz="1800" dirty="0"/>
          </a:p>
        </p:txBody>
      </p:sp>
      <p:sp>
        <p:nvSpPr>
          <p:cNvPr id="4" name="TextBox 3">
            <a:extLst>
              <a:ext uri="{FF2B5EF4-FFF2-40B4-BE49-F238E27FC236}">
                <a16:creationId xmlns:a16="http://schemas.microsoft.com/office/drawing/2014/main" id="{468B6722-F0C0-7376-08ED-874CFC2F288D}"/>
              </a:ext>
            </a:extLst>
          </p:cNvPr>
          <p:cNvSpPr txBox="1"/>
          <p:nvPr/>
        </p:nvSpPr>
        <p:spPr>
          <a:xfrm>
            <a:off x="1897626" y="68826"/>
            <a:ext cx="8318090" cy="523220"/>
          </a:xfrm>
          <a:prstGeom prst="rect">
            <a:avLst/>
          </a:prstGeom>
          <a:noFill/>
        </p:spPr>
        <p:txBody>
          <a:bodyPr wrap="square" rtlCol="0">
            <a:spAutoFit/>
          </a:bodyPr>
          <a:lstStyle/>
          <a:p>
            <a:pPr algn="ctr"/>
            <a:r>
              <a:rPr lang="en-IN" sz="2800" b="1" dirty="0"/>
              <a:t>Cancellations &amp; Lost Revenue Analysis</a:t>
            </a:r>
          </a:p>
        </p:txBody>
      </p:sp>
      <p:pic>
        <p:nvPicPr>
          <p:cNvPr id="6" name="Picture 5">
            <a:extLst>
              <a:ext uri="{FF2B5EF4-FFF2-40B4-BE49-F238E27FC236}">
                <a16:creationId xmlns:a16="http://schemas.microsoft.com/office/drawing/2014/main" id="{2B4C4559-1D7D-1B6E-BC35-53B8F2AFB2EA}"/>
              </a:ext>
            </a:extLst>
          </p:cNvPr>
          <p:cNvPicPr>
            <a:picLocks noChangeAspect="1"/>
          </p:cNvPicPr>
          <p:nvPr/>
        </p:nvPicPr>
        <p:blipFill>
          <a:blip r:embed="rId2"/>
          <a:stretch>
            <a:fillRect/>
          </a:stretch>
        </p:blipFill>
        <p:spPr>
          <a:xfrm>
            <a:off x="4945567" y="2099051"/>
            <a:ext cx="6850540" cy="523220"/>
          </a:xfrm>
          <a:prstGeom prst="rect">
            <a:avLst/>
          </a:prstGeom>
          <a:effectLst>
            <a:glow rad="139700">
              <a:schemeClr val="tx1">
                <a:lumMod val="85000"/>
                <a:lumOff val="15000"/>
                <a:alpha val="40000"/>
              </a:schemeClr>
            </a:glow>
          </a:effectLst>
        </p:spPr>
      </p:pic>
      <p:pic>
        <p:nvPicPr>
          <p:cNvPr id="9" name="Picture 8">
            <a:extLst>
              <a:ext uri="{FF2B5EF4-FFF2-40B4-BE49-F238E27FC236}">
                <a16:creationId xmlns:a16="http://schemas.microsoft.com/office/drawing/2014/main" id="{0E4C3DFB-E12A-C130-6ACC-9C339B486C65}"/>
              </a:ext>
            </a:extLst>
          </p:cNvPr>
          <p:cNvPicPr>
            <a:picLocks noChangeAspect="1"/>
          </p:cNvPicPr>
          <p:nvPr/>
        </p:nvPicPr>
        <p:blipFill>
          <a:blip r:embed="rId3"/>
          <a:stretch>
            <a:fillRect/>
          </a:stretch>
        </p:blipFill>
        <p:spPr>
          <a:xfrm>
            <a:off x="6975307" y="3788569"/>
            <a:ext cx="2085166" cy="930304"/>
          </a:xfrm>
          <a:prstGeom prst="rect">
            <a:avLst/>
          </a:prstGeom>
          <a:effectLst>
            <a:glow rad="139700">
              <a:schemeClr val="tx1">
                <a:lumMod val="85000"/>
                <a:lumOff val="15000"/>
                <a:alpha val="40000"/>
              </a:schemeClr>
            </a:glow>
          </a:effectLst>
        </p:spPr>
      </p:pic>
      <p:pic>
        <p:nvPicPr>
          <p:cNvPr id="5" name="Picture 4">
            <a:extLst>
              <a:ext uri="{FF2B5EF4-FFF2-40B4-BE49-F238E27FC236}">
                <a16:creationId xmlns:a16="http://schemas.microsoft.com/office/drawing/2014/main" id="{9FE372C7-89AE-54EE-1FF8-15A03AE717DE}"/>
              </a:ext>
            </a:extLst>
          </p:cNvPr>
          <p:cNvPicPr>
            <a:picLocks noChangeAspect="1"/>
          </p:cNvPicPr>
          <p:nvPr/>
        </p:nvPicPr>
        <p:blipFill>
          <a:blip r:embed="rId4"/>
          <a:stretch>
            <a:fillRect/>
          </a:stretch>
        </p:blipFill>
        <p:spPr>
          <a:xfrm>
            <a:off x="5477467" y="6051923"/>
            <a:ext cx="1430571" cy="1144457"/>
          </a:xfrm>
          <a:prstGeom prst="rect">
            <a:avLst/>
          </a:prstGeom>
        </p:spPr>
      </p:pic>
    </p:spTree>
    <p:extLst>
      <p:ext uri="{BB962C8B-B14F-4D97-AF65-F5344CB8AC3E}">
        <p14:creationId xmlns:p14="http://schemas.microsoft.com/office/powerpoint/2010/main" val="3148697838"/>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EEEBE1"/>
        </a:solidFill>
        <a:effectLst/>
      </p:bgPr>
    </p:bg>
    <p:spTree>
      <p:nvGrpSpPr>
        <p:cNvPr id="1" name="">
          <a:extLst>
            <a:ext uri="{FF2B5EF4-FFF2-40B4-BE49-F238E27FC236}">
              <a16:creationId xmlns:a16="http://schemas.microsoft.com/office/drawing/2014/main" id="{8FB9E880-564A-CBEC-3F8A-E02751DF052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3B64202-1F0D-5778-B202-437865898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2" name="Freeform: Shape 11">
            <a:extLst>
              <a:ext uri="{FF2B5EF4-FFF2-40B4-BE49-F238E27FC236}">
                <a16:creationId xmlns:a16="http://schemas.microsoft.com/office/drawing/2014/main" id="{E1D2992B-7FF2-9DA1-65F2-C0C5FCCD59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3A2B1389-0E6C-4E1A-CE31-9190247DE0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7DFF3B1-AA49-1297-D0F0-F53A604B46F6}"/>
              </a:ext>
            </a:extLst>
          </p:cNvPr>
          <p:cNvSpPr>
            <a:spLocks noGrp="1"/>
          </p:cNvSpPr>
          <p:nvPr>
            <p:ph type="title"/>
          </p:nvPr>
        </p:nvSpPr>
        <p:spPr>
          <a:xfrm>
            <a:off x="371094" y="848332"/>
            <a:ext cx="4075435" cy="1512329"/>
          </a:xfrm>
        </p:spPr>
        <p:txBody>
          <a:bodyPr anchor="ctr">
            <a:noAutofit/>
          </a:bodyPr>
          <a:lstStyle/>
          <a:p>
            <a:r>
              <a:rPr lang="en-IN" sz="2400" dirty="0">
                <a:latin typeface="Aptos" panose="020B0004020202020204" pitchFamily="34" charset="0"/>
              </a:rPr>
              <a:t>Objective: How have cancellation trends changed over time (MoM/WoW)? </a:t>
            </a:r>
            <a:endParaRPr lang="en-IN" sz="2400" dirty="0">
              <a:solidFill>
                <a:srgbClr val="080808"/>
              </a:solidFill>
              <a:latin typeface="Aptos" panose="020B00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A8C6ECBC-B251-025E-C558-1C6881EEC0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8" name="Rectangle 17">
            <a:extLst>
              <a:ext uri="{FF2B5EF4-FFF2-40B4-BE49-F238E27FC236}">
                <a16:creationId xmlns:a16="http://schemas.microsoft.com/office/drawing/2014/main" id="{FE048595-9975-B3B6-FF4A-41BFAC6F48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A8314C07-3D9A-11FB-D2DB-9AA6D5177496}"/>
              </a:ext>
            </a:extLst>
          </p:cNvPr>
          <p:cNvSpPr>
            <a:spLocks noGrp="1"/>
          </p:cNvSpPr>
          <p:nvPr>
            <p:ph idx="1"/>
          </p:nvPr>
        </p:nvSpPr>
        <p:spPr>
          <a:xfrm>
            <a:off x="371094" y="2718054"/>
            <a:ext cx="3438906" cy="4139946"/>
          </a:xfrm>
        </p:spPr>
        <p:txBody>
          <a:bodyPr anchor="t">
            <a:normAutofit fontScale="92500" lnSpcReduction="20000"/>
          </a:bodyPr>
          <a:lstStyle/>
          <a:p>
            <a:pPr marL="0" lvl="0" indent="0">
              <a:buNone/>
            </a:pPr>
            <a:r>
              <a:rPr lang="en-IN" sz="1800" dirty="0">
                <a:latin typeface="Aptos" panose="020B0004020202020204" pitchFamily="34" charset="0"/>
              </a:rPr>
              <a:t>Solution: </a:t>
            </a:r>
            <a:endParaRPr lang="en-IN" sz="1800" dirty="0">
              <a:solidFill>
                <a:srgbClr val="000000">
                  <a:alpha val="60000"/>
                </a:srgbClr>
              </a:solidFill>
              <a:latin typeface="Aptos" panose="020B0004020202020204" pitchFamily="34" charset="0"/>
            </a:endParaRPr>
          </a:p>
          <a:p>
            <a:pPr marL="0" lvl="0" indent="0">
              <a:buNone/>
            </a:pPr>
            <a:r>
              <a:rPr lang="en-IN" sz="1800" dirty="0">
                <a:latin typeface="Aptos" panose="020B0004020202020204" pitchFamily="34" charset="0"/>
              </a:rPr>
              <a:t>Calculate MOM using below measure and then used waterfall chart to display the Cancellation trends</a:t>
            </a:r>
          </a:p>
          <a:p>
            <a:pPr marL="0" lvl="0" indent="0">
              <a:buNone/>
            </a:pPr>
            <a:r>
              <a:rPr lang="en-IN" sz="1800" dirty="0">
                <a:latin typeface="Aptos" panose="020B0004020202020204" pitchFamily="34" charset="0"/>
              </a:rPr>
              <a:t>MoM: </a:t>
            </a:r>
          </a:p>
          <a:p>
            <a:pPr marL="0" lvl="0" indent="0">
              <a:buNone/>
            </a:pPr>
            <a:r>
              <a:rPr lang="en-US" sz="1800" b="1" dirty="0">
                <a:latin typeface="Aptos" panose="020B0004020202020204" pitchFamily="34" charset="0"/>
              </a:rPr>
              <a:t>VAR </a:t>
            </a:r>
            <a:r>
              <a:rPr lang="en-US" sz="1800" b="1" dirty="0" err="1">
                <a:latin typeface="Aptos" panose="020B0004020202020204" pitchFamily="34" charset="0"/>
              </a:rPr>
              <a:t>prev_month</a:t>
            </a:r>
            <a:r>
              <a:rPr lang="en-US" sz="1800" dirty="0">
                <a:latin typeface="Aptos" panose="020B0004020202020204" pitchFamily="34" charset="0"/>
              </a:rPr>
              <a:t>: Retrieves </a:t>
            </a:r>
            <a:r>
              <a:rPr lang="en-IN" sz="1800" dirty="0">
                <a:latin typeface="Aptos" panose="020B0004020202020204" pitchFamily="34" charset="0"/>
              </a:rPr>
              <a:t>cancellation</a:t>
            </a:r>
            <a:r>
              <a:rPr lang="en-US" sz="1800" dirty="0">
                <a:latin typeface="Aptos" panose="020B0004020202020204" pitchFamily="34" charset="0"/>
              </a:rPr>
              <a:t> rate from the same date context, but shifted back by 1 month using DATEADD.</a:t>
            </a:r>
          </a:p>
          <a:p>
            <a:pPr marL="0" lvl="0" indent="0">
              <a:buNone/>
            </a:pPr>
            <a:r>
              <a:rPr lang="en-US" sz="1800" b="1" dirty="0">
                <a:latin typeface="Aptos" panose="020B0004020202020204" pitchFamily="34" charset="0"/>
              </a:rPr>
              <a:t>RETURN DIVIDE(): </a:t>
            </a:r>
            <a:r>
              <a:rPr lang="en-US" sz="1800" dirty="0">
                <a:latin typeface="Aptos" panose="020B0004020202020204" pitchFamily="34" charset="0"/>
              </a:rPr>
              <a:t>Calculates the difference between current and previous month's </a:t>
            </a:r>
            <a:r>
              <a:rPr lang="en-IN" sz="1800" dirty="0">
                <a:latin typeface="Aptos" panose="020B0004020202020204" pitchFamily="34" charset="0"/>
              </a:rPr>
              <a:t>cancellation</a:t>
            </a:r>
            <a:r>
              <a:rPr lang="en-US" sz="1800" dirty="0">
                <a:latin typeface="Aptos" panose="020B0004020202020204" pitchFamily="34" charset="0"/>
              </a:rPr>
              <a:t> rate. Divides the difference by the previous month's </a:t>
            </a:r>
            <a:r>
              <a:rPr lang="en-IN" sz="1800" dirty="0">
                <a:latin typeface="Aptos" panose="020B0004020202020204" pitchFamily="34" charset="0"/>
              </a:rPr>
              <a:t>cancellation</a:t>
            </a:r>
            <a:r>
              <a:rPr lang="en-US" sz="1800" dirty="0">
                <a:latin typeface="Aptos" panose="020B0004020202020204" pitchFamily="34" charset="0"/>
              </a:rPr>
              <a:t> rate. Used DIVIDE(_, _, 0) to avoid errors from division by zero — returns 0 instead.</a:t>
            </a:r>
          </a:p>
        </p:txBody>
      </p:sp>
      <p:sp>
        <p:nvSpPr>
          <p:cNvPr id="4" name="TextBox 3">
            <a:extLst>
              <a:ext uri="{FF2B5EF4-FFF2-40B4-BE49-F238E27FC236}">
                <a16:creationId xmlns:a16="http://schemas.microsoft.com/office/drawing/2014/main" id="{B9BDDEA4-4010-C39E-AFBF-434CEE4FCE66}"/>
              </a:ext>
            </a:extLst>
          </p:cNvPr>
          <p:cNvSpPr txBox="1"/>
          <p:nvPr/>
        </p:nvSpPr>
        <p:spPr>
          <a:xfrm>
            <a:off x="1897626" y="68826"/>
            <a:ext cx="8318090" cy="523220"/>
          </a:xfrm>
          <a:prstGeom prst="rect">
            <a:avLst/>
          </a:prstGeom>
          <a:noFill/>
        </p:spPr>
        <p:txBody>
          <a:bodyPr wrap="square" rtlCol="0">
            <a:spAutoFit/>
          </a:bodyPr>
          <a:lstStyle/>
          <a:p>
            <a:pPr algn="ctr"/>
            <a:r>
              <a:rPr lang="en-IN" sz="2800" b="1" dirty="0"/>
              <a:t>Cancellations &amp; Lost Revenue Analysis</a:t>
            </a:r>
          </a:p>
        </p:txBody>
      </p:sp>
      <p:pic>
        <p:nvPicPr>
          <p:cNvPr id="5" name="Picture 4">
            <a:extLst>
              <a:ext uri="{FF2B5EF4-FFF2-40B4-BE49-F238E27FC236}">
                <a16:creationId xmlns:a16="http://schemas.microsoft.com/office/drawing/2014/main" id="{1AED2994-92EA-4B7A-3199-6182EA4686D9}"/>
              </a:ext>
            </a:extLst>
          </p:cNvPr>
          <p:cNvPicPr>
            <a:picLocks noChangeAspect="1"/>
          </p:cNvPicPr>
          <p:nvPr/>
        </p:nvPicPr>
        <p:blipFill>
          <a:blip r:embed="rId2"/>
          <a:stretch>
            <a:fillRect/>
          </a:stretch>
        </p:blipFill>
        <p:spPr>
          <a:xfrm>
            <a:off x="5096759" y="1873741"/>
            <a:ext cx="6029847" cy="633133"/>
          </a:xfrm>
          <a:prstGeom prst="rect">
            <a:avLst/>
          </a:prstGeom>
          <a:effectLst>
            <a:glow rad="139700">
              <a:schemeClr val="tx1">
                <a:lumMod val="85000"/>
                <a:lumOff val="15000"/>
                <a:alpha val="40000"/>
              </a:schemeClr>
            </a:glow>
          </a:effectLst>
        </p:spPr>
      </p:pic>
      <p:pic>
        <p:nvPicPr>
          <p:cNvPr id="7" name="Picture 6">
            <a:extLst>
              <a:ext uri="{FF2B5EF4-FFF2-40B4-BE49-F238E27FC236}">
                <a16:creationId xmlns:a16="http://schemas.microsoft.com/office/drawing/2014/main" id="{E51000A0-1610-3BC2-F88D-CC4D6A5A689B}"/>
              </a:ext>
            </a:extLst>
          </p:cNvPr>
          <p:cNvPicPr>
            <a:picLocks noChangeAspect="1"/>
          </p:cNvPicPr>
          <p:nvPr/>
        </p:nvPicPr>
        <p:blipFill>
          <a:blip r:embed="rId3"/>
          <a:stretch>
            <a:fillRect/>
          </a:stretch>
        </p:blipFill>
        <p:spPr>
          <a:xfrm>
            <a:off x="6243888" y="3429000"/>
            <a:ext cx="4159896" cy="1904531"/>
          </a:xfrm>
          <a:prstGeom prst="rect">
            <a:avLst/>
          </a:prstGeom>
          <a:effectLst>
            <a:glow rad="139700">
              <a:schemeClr val="tx1">
                <a:lumMod val="85000"/>
                <a:lumOff val="15000"/>
                <a:alpha val="40000"/>
              </a:schemeClr>
            </a:glow>
          </a:effectLst>
        </p:spPr>
      </p:pic>
      <p:pic>
        <p:nvPicPr>
          <p:cNvPr id="6" name="Picture 5">
            <a:extLst>
              <a:ext uri="{FF2B5EF4-FFF2-40B4-BE49-F238E27FC236}">
                <a16:creationId xmlns:a16="http://schemas.microsoft.com/office/drawing/2014/main" id="{C7FB6C6E-4C97-8D7B-CFF5-BA7353FF4445}"/>
              </a:ext>
            </a:extLst>
          </p:cNvPr>
          <p:cNvPicPr>
            <a:picLocks noChangeAspect="1"/>
          </p:cNvPicPr>
          <p:nvPr/>
        </p:nvPicPr>
        <p:blipFill>
          <a:blip r:embed="rId4"/>
          <a:stretch>
            <a:fillRect/>
          </a:stretch>
        </p:blipFill>
        <p:spPr>
          <a:xfrm>
            <a:off x="5477467" y="6051923"/>
            <a:ext cx="1430571" cy="1144457"/>
          </a:xfrm>
          <a:prstGeom prst="rect">
            <a:avLst/>
          </a:prstGeom>
        </p:spPr>
      </p:pic>
    </p:spTree>
    <p:extLst>
      <p:ext uri="{BB962C8B-B14F-4D97-AF65-F5344CB8AC3E}">
        <p14:creationId xmlns:p14="http://schemas.microsoft.com/office/powerpoint/2010/main" val="431570970"/>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EEEBE1"/>
        </a:solidFill>
        <a:effectLst/>
      </p:bgPr>
    </p:bg>
    <p:spTree>
      <p:nvGrpSpPr>
        <p:cNvPr id="1" name="">
          <a:extLst>
            <a:ext uri="{FF2B5EF4-FFF2-40B4-BE49-F238E27FC236}">
              <a16:creationId xmlns:a16="http://schemas.microsoft.com/office/drawing/2014/main" id="{06430F07-BE1F-3EA9-C338-A4B8CF7F84B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D76CBA7-C762-D409-5B9E-6B089878B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579CA7C0-C893-9C87-378E-435AAEBDAB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D50595C0-FB07-2040-A5BA-45D3916D9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BB2244D-351D-4953-095F-A3CB346E2ABF}"/>
              </a:ext>
            </a:extLst>
          </p:cNvPr>
          <p:cNvSpPr>
            <a:spLocks noGrp="1"/>
          </p:cNvSpPr>
          <p:nvPr>
            <p:ph type="title"/>
          </p:nvPr>
        </p:nvSpPr>
        <p:spPr>
          <a:xfrm>
            <a:off x="371094" y="848332"/>
            <a:ext cx="4075435" cy="1512329"/>
          </a:xfrm>
        </p:spPr>
        <p:txBody>
          <a:bodyPr anchor="ctr">
            <a:noAutofit/>
          </a:bodyPr>
          <a:lstStyle/>
          <a:p>
            <a:r>
              <a:rPr lang="en-IN" sz="2400" dirty="0">
                <a:latin typeface="Aptos" panose="020B0004020202020204" pitchFamily="34" charset="0"/>
              </a:rPr>
              <a:t>Objective: How have cancellation trends changed over time (MoM/WoW)? </a:t>
            </a:r>
            <a:endParaRPr lang="en-IN" sz="2400" dirty="0">
              <a:solidFill>
                <a:srgbClr val="080808"/>
              </a:solidFill>
              <a:latin typeface="Aptos" panose="020B00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46B00C32-8ED5-B506-6902-AACE1B73CA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80698FF4-C0DF-2091-5F3C-3AA0C4807C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46B1CDCD-3A48-1739-6671-D89CFB712953}"/>
              </a:ext>
            </a:extLst>
          </p:cNvPr>
          <p:cNvSpPr>
            <a:spLocks noGrp="1"/>
          </p:cNvSpPr>
          <p:nvPr>
            <p:ph idx="1"/>
          </p:nvPr>
        </p:nvSpPr>
        <p:spPr>
          <a:xfrm>
            <a:off x="371094" y="2718054"/>
            <a:ext cx="3438906" cy="4139946"/>
          </a:xfrm>
        </p:spPr>
        <p:txBody>
          <a:bodyPr anchor="t">
            <a:normAutofit fontScale="85000" lnSpcReduction="10000"/>
          </a:bodyPr>
          <a:lstStyle/>
          <a:p>
            <a:pPr marL="0" lvl="0" indent="0">
              <a:buNone/>
            </a:pPr>
            <a:r>
              <a:rPr lang="en-IN" sz="1800" dirty="0">
                <a:latin typeface="Aptos" panose="020B0004020202020204" pitchFamily="34" charset="0"/>
              </a:rPr>
              <a:t>Solution: </a:t>
            </a:r>
            <a:endParaRPr lang="en-IN" sz="1800" dirty="0">
              <a:solidFill>
                <a:srgbClr val="000000">
                  <a:alpha val="60000"/>
                </a:srgbClr>
              </a:solidFill>
              <a:latin typeface="Aptos" panose="020B0004020202020204" pitchFamily="34" charset="0"/>
            </a:endParaRPr>
          </a:p>
          <a:p>
            <a:pPr marL="0" lvl="0" indent="0">
              <a:buNone/>
            </a:pPr>
            <a:r>
              <a:rPr lang="en-IN" sz="1800" dirty="0">
                <a:latin typeface="Aptos" panose="020B0004020202020204" pitchFamily="34" charset="0"/>
              </a:rPr>
              <a:t>Calculate WOW using below measure and then used waterfall chart to display the cancellation rate</a:t>
            </a:r>
          </a:p>
          <a:p>
            <a:pPr marL="0" lvl="0" indent="0">
              <a:buNone/>
            </a:pPr>
            <a:r>
              <a:rPr lang="en-US" sz="1800" dirty="0">
                <a:latin typeface="Aptos" panose="020B0004020202020204" pitchFamily="34" charset="0"/>
              </a:rPr>
              <a:t>WoW:</a:t>
            </a:r>
          </a:p>
          <a:p>
            <a:pPr marL="0" lvl="0" indent="0">
              <a:buNone/>
            </a:pPr>
            <a:r>
              <a:rPr lang="en-US" sz="1800" b="1" dirty="0">
                <a:latin typeface="Aptos" panose="020B0004020202020204" pitchFamily="34" charset="0"/>
              </a:rPr>
              <a:t>VAR </a:t>
            </a:r>
            <a:r>
              <a:rPr lang="en-US" sz="1800" b="1" dirty="0" err="1">
                <a:latin typeface="Aptos" panose="020B0004020202020204" pitchFamily="34" charset="0"/>
              </a:rPr>
              <a:t>prev_week</a:t>
            </a:r>
            <a:r>
              <a:rPr lang="en-US" sz="1800" b="1" dirty="0">
                <a:latin typeface="Aptos" panose="020B0004020202020204" pitchFamily="34" charset="0"/>
              </a:rPr>
              <a:t>: </a:t>
            </a:r>
            <a:r>
              <a:rPr lang="en-US" sz="1800" dirty="0">
                <a:latin typeface="Aptos" panose="020B0004020202020204" pitchFamily="34" charset="0"/>
              </a:rPr>
              <a:t>Retrieves the </a:t>
            </a:r>
            <a:r>
              <a:rPr lang="en-IN" sz="1800" dirty="0">
                <a:latin typeface="Aptos" panose="020B0004020202020204" pitchFamily="34" charset="0"/>
              </a:rPr>
              <a:t>cancellation</a:t>
            </a:r>
            <a:r>
              <a:rPr lang="en-US" sz="1800" dirty="0">
                <a:latin typeface="Aptos" panose="020B0004020202020204" pitchFamily="34" charset="0"/>
              </a:rPr>
              <a:t> rate total from the previous week. Used FILTER(ALL()) to ignore current filters and find the exact previous week using </a:t>
            </a:r>
            <a:r>
              <a:rPr lang="en-US" sz="1800" dirty="0" err="1">
                <a:latin typeface="Aptos" panose="020B0004020202020204" pitchFamily="34" charset="0"/>
              </a:rPr>
              <a:t>weeknum</a:t>
            </a:r>
            <a:r>
              <a:rPr lang="en-US" sz="1800" dirty="0">
                <a:latin typeface="Aptos" panose="020B0004020202020204" pitchFamily="34" charset="0"/>
              </a:rPr>
              <a:t>.</a:t>
            </a:r>
          </a:p>
          <a:p>
            <a:pPr marL="0" lvl="0" indent="0">
              <a:buNone/>
            </a:pPr>
            <a:r>
              <a:rPr lang="en-US" sz="1800" b="1" dirty="0">
                <a:latin typeface="Aptos" panose="020B0004020202020204" pitchFamily="34" charset="0"/>
              </a:rPr>
              <a:t>RETURN DIVIDE():</a:t>
            </a:r>
            <a:r>
              <a:rPr lang="en-US" sz="1800" dirty="0">
                <a:latin typeface="Aptos" panose="020B0004020202020204" pitchFamily="34" charset="0"/>
              </a:rPr>
              <a:t>Computes the difference between current and previous week's </a:t>
            </a:r>
            <a:r>
              <a:rPr lang="en-IN" sz="1800" dirty="0">
                <a:latin typeface="Aptos" panose="020B0004020202020204" pitchFamily="34" charset="0"/>
              </a:rPr>
              <a:t>cancellation</a:t>
            </a:r>
            <a:r>
              <a:rPr lang="en-US" sz="1800" dirty="0">
                <a:latin typeface="Aptos" panose="020B0004020202020204" pitchFamily="34" charset="0"/>
              </a:rPr>
              <a:t> rate. Divided by the previous week’s </a:t>
            </a:r>
            <a:r>
              <a:rPr lang="en-IN" sz="1800" dirty="0">
                <a:latin typeface="Aptos" panose="020B0004020202020204" pitchFamily="34" charset="0"/>
              </a:rPr>
              <a:t>cancellation</a:t>
            </a:r>
            <a:r>
              <a:rPr lang="en-US" sz="1800" dirty="0">
                <a:latin typeface="Aptos" panose="020B0004020202020204" pitchFamily="34" charset="0"/>
              </a:rPr>
              <a:t> rate to get a percentage. Returns 0 if the previous week’s </a:t>
            </a:r>
            <a:r>
              <a:rPr lang="en-IN" sz="1800" dirty="0">
                <a:latin typeface="Aptos" panose="020B0004020202020204" pitchFamily="34" charset="0"/>
              </a:rPr>
              <a:t>cancellation</a:t>
            </a:r>
            <a:r>
              <a:rPr lang="en-US" sz="1800" dirty="0">
                <a:latin typeface="Aptos" panose="020B0004020202020204" pitchFamily="34" charset="0"/>
              </a:rPr>
              <a:t> rate is zero (to avoid divide-by-zero errors).</a:t>
            </a:r>
            <a:endParaRPr lang="en-IN" sz="1800" dirty="0">
              <a:latin typeface="Aptos" panose="020B0004020202020204" pitchFamily="34" charset="0"/>
            </a:endParaRPr>
          </a:p>
        </p:txBody>
      </p:sp>
      <p:sp>
        <p:nvSpPr>
          <p:cNvPr id="4" name="TextBox 3">
            <a:extLst>
              <a:ext uri="{FF2B5EF4-FFF2-40B4-BE49-F238E27FC236}">
                <a16:creationId xmlns:a16="http://schemas.microsoft.com/office/drawing/2014/main" id="{7F6991E4-508A-1BD2-DD84-85FC414009AF}"/>
              </a:ext>
            </a:extLst>
          </p:cNvPr>
          <p:cNvSpPr txBox="1"/>
          <p:nvPr/>
        </p:nvSpPr>
        <p:spPr>
          <a:xfrm>
            <a:off x="1897626" y="68826"/>
            <a:ext cx="8318090" cy="523220"/>
          </a:xfrm>
          <a:prstGeom prst="rect">
            <a:avLst/>
          </a:prstGeom>
          <a:noFill/>
        </p:spPr>
        <p:txBody>
          <a:bodyPr wrap="square" rtlCol="0">
            <a:spAutoFit/>
          </a:bodyPr>
          <a:lstStyle/>
          <a:p>
            <a:pPr algn="ctr"/>
            <a:r>
              <a:rPr lang="en-IN" sz="2800" b="1" dirty="0"/>
              <a:t>Cancellations &amp; Lost Revenue Analysis</a:t>
            </a:r>
          </a:p>
        </p:txBody>
      </p:sp>
      <p:pic>
        <p:nvPicPr>
          <p:cNvPr id="6" name="Picture 5">
            <a:extLst>
              <a:ext uri="{FF2B5EF4-FFF2-40B4-BE49-F238E27FC236}">
                <a16:creationId xmlns:a16="http://schemas.microsoft.com/office/drawing/2014/main" id="{8B869D90-4FBE-21AA-E1D0-C5F6E1965F2B}"/>
              </a:ext>
            </a:extLst>
          </p:cNvPr>
          <p:cNvPicPr>
            <a:picLocks noChangeAspect="1"/>
          </p:cNvPicPr>
          <p:nvPr/>
        </p:nvPicPr>
        <p:blipFill>
          <a:blip r:embed="rId2"/>
          <a:stretch>
            <a:fillRect/>
          </a:stretch>
        </p:blipFill>
        <p:spPr>
          <a:xfrm>
            <a:off x="4766229" y="1477280"/>
            <a:ext cx="7150467" cy="768674"/>
          </a:xfrm>
          <a:prstGeom prst="rect">
            <a:avLst/>
          </a:prstGeom>
          <a:effectLst>
            <a:glow rad="139700">
              <a:schemeClr val="tx1">
                <a:lumMod val="85000"/>
                <a:lumOff val="15000"/>
                <a:alpha val="40000"/>
              </a:schemeClr>
            </a:glow>
          </a:effectLst>
        </p:spPr>
      </p:pic>
      <p:pic>
        <p:nvPicPr>
          <p:cNvPr id="9" name="Picture 8">
            <a:extLst>
              <a:ext uri="{FF2B5EF4-FFF2-40B4-BE49-F238E27FC236}">
                <a16:creationId xmlns:a16="http://schemas.microsoft.com/office/drawing/2014/main" id="{2419BF2F-15C9-9F51-1CCD-D43F4E45AACE}"/>
              </a:ext>
            </a:extLst>
          </p:cNvPr>
          <p:cNvPicPr>
            <a:picLocks noChangeAspect="1"/>
          </p:cNvPicPr>
          <p:nvPr/>
        </p:nvPicPr>
        <p:blipFill>
          <a:blip r:embed="rId3"/>
          <a:stretch>
            <a:fillRect/>
          </a:stretch>
        </p:blipFill>
        <p:spPr>
          <a:xfrm>
            <a:off x="6096000" y="3131188"/>
            <a:ext cx="5138928" cy="2325365"/>
          </a:xfrm>
          <a:prstGeom prst="rect">
            <a:avLst/>
          </a:prstGeom>
          <a:effectLst>
            <a:glow rad="139700">
              <a:schemeClr val="tx1">
                <a:lumMod val="85000"/>
                <a:lumOff val="15000"/>
                <a:alpha val="40000"/>
              </a:schemeClr>
            </a:glow>
          </a:effectLst>
        </p:spPr>
      </p:pic>
      <p:pic>
        <p:nvPicPr>
          <p:cNvPr id="5" name="Picture 4">
            <a:extLst>
              <a:ext uri="{FF2B5EF4-FFF2-40B4-BE49-F238E27FC236}">
                <a16:creationId xmlns:a16="http://schemas.microsoft.com/office/drawing/2014/main" id="{308DF3A0-B5D3-8FFB-7405-62FCD976F2AD}"/>
              </a:ext>
            </a:extLst>
          </p:cNvPr>
          <p:cNvPicPr>
            <a:picLocks noChangeAspect="1"/>
          </p:cNvPicPr>
          <p:nvPr/>
        </p:nvPicPr>
        <p:blipFill>
          <a:blip r:embed="rId4"/>
          <a:stretch>
            <a:fillRect/>
          </a:stretch>
        </p:blipFill>
        <p:spPr>
          <a:xfrm>
            <a:off x="5477467" y="6051923"/>
            <a:ext cx="1430571" cy="1144457"/>
          </a:xfrm>
          <a:prstGeom prst="rect">
            <a:avLst/>
          </a:prstGeom>
        </p:spPr>
      </p:pic>
    </p:spTree>
    <p:extLst>
      <p:ext uri="{BB962C8B-B14F-4D97-AF65-F5344CB8AC3E}">
        <p14:creationId xmlns:p14="http://schemas.microsoft.com/office/powerpoint/2010/main" val="3411988067"/>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EEEBE1"/>
        </a:solidFill>
        <a:effectLst/>
      </p:bgPr>
    </p:bg>
    <p:spTree>
      <p:nvGrpSpPr>
        <p:cNvPr id="1" name="">
          <a:extLst>
            <a:ext uri="{FF2B5EF4-FFF2-40B4-BE49-F238E27FC236}">
              <a16:creationId xmlns:a16="http://schemas.microsoft.com/office/drawing/2014/main" id="{59F011A9-47FE-4591-EBBB-3EE5F1DD4F7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A0DF866-8092-9272-5585-3CA1609D17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DF17FF9A-DED3-059D-CFCA-32627AEF29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A203B22A-4F59-6084-5C0B-63F22365B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5541B5A-C894-085C-16B3-EFCDFD603150}"/>
              </a:ext>
            </a:extLst>
          </p:cNvPr>
          <p:cNvSpPr>
            <a:spLocks noGrp="1"/>
          </p:cNvSpPr>
          <p:nvPr>
            <p:ph type="title"/>
          </p:nvPr>
        </p:nvSpPr>
        <p:spPr>
          <a:xfrm>
            <a:off x="371094" y="848332"/>
            <a:ext cx="4075435" cy="1512329"/>
          </a:xfrm>
        </p:spPr>
        <p:txBody>
          <a:bodyPr anchor="ctr">
            <a:noAutofit/>
          </a:bodyPr>
          <a:lstStyle/>
          <a:p>
            <a:r>
              <a:rPr lang="en-IN" sz="2400" dirty="0">
                <a:latin typeface="Aptos" panose="020B0004020202020204" pitchFamily="34" charset="0"/>
              </a:rPr>
              <a:t>Objective: What is the lost revenue due to cancellations? </a:t>
            </a:r>
            <a:endParaRPr lang="en-IN" sz="2400" dirty="0">
              <a:solidFill>
                <a:srgbClr val="080808"/>
              </a:solidFill>
              <a:latin typeface="Aptos" panose="020B00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366706FF-65FE-4FE6-1C3A-1EEED744A5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044EA3E0-7B03-2144-6388-8134ABE1DA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38724163-27B3-1725-7F89-D96FDC230D3A}"/>
              </a:ext>
            </a:extLst>
          </p:cNvPr>
          <p:cNvSpPr>
            <a:spLocks noGrp="1"/>
          </p:cNvSpPr>
          <p:nvPr>
            <p:ph idx="1"/>
          </p:nvPr>
        </p:nvSpPr>
        <p:spPr>
          <a:xfrm>
            <a:off x="371094" y="2718054"/>
            <a:ext cx="3438906" cy="4139946"/>
          </a:xfrm>
        </p:spPr>
        <p:txBody>
          <a:bodyPr anchor="t">
            <a:normAutofit/>
          </a:bodyPr>
          <a:lstStyle/>
          <a:p>
            <a:pPr marL="0" lvl="0" indent="0">
              <a:buNone/>
            </a:pPr>
            <a:r>
              <a:rPr lang="en-IN" sz="1800" dirty="0">
                <a:latin typeface="Aptos" panose="020B0004020202020204" pitchFamily="34" charset="0"/>
              </a:rPr>
              <a:t>Solution: </a:t>
            </a:r>
            <a:endParaRPr lang="en-IN" sz="1800" dirty="0">
              <a:solidFill>
                <a:srgbClr val="000000">
                  <a:alpha val="60000"/>
                </a:srgbClr>
              </a:solidFill>
              <a:latin typeface="Aptos" panose="020B0004020202020204" pitchFamily="34" charset="0"/>
            </a:endParaRPr>
          </a:p>
          <a:p>
            <a:pPr marL="0" lvl="0" indent="0">
              <a:buNone/>
            </a:pPr>
            <a:r>
              <a:rPr lang="en-IN" sz="1800" dirty="0">
                <a:latin typeface="Aptos" panose="020B0004020202020204" pitchFamily="34" charset="0"/>
              </a:rPr>
              <a:t>To calculate the lost revenue from cancellation, we have used the calculate function where we have count the total of revenue generated from booking table by applying the filter where booking status is cancelled.</a:t>
            </a:r>
          </a:p>
        </p:txBody>
      </p:sp>
      <p:sp>
        <p:nvSpPr>
          <p:cNvPr id="4" name="TextBox 3">
            <a:extLst>
              <a:ext uri="{FF2B5EF4-FFF2-40B4-BE49-F238E27FC236}">
                <a16:creationId xmlns:a16="http://schemas.microsoft.com/office/drawing/2014/main" id="{4E201A78-AB20-4FA7-5B14-32FCB30287DF}"/>
              </a:ext>
            </a:extLst>
          </p:cNvPr>
          <p:cNvSpPr txBox="1"/>
          <p:nvPr/>
        </p:nvSpPr>
        <p:spPr>
          <a:xfrm>
            <a:off x="1897626" y="68826"/>
            <a:ext cx="8318090" cy="523220"/>
          </a:xfrm>
          <a:prstGeom prst="rect">
            <a:avLst/>
          </a:prstGeom>
          <a:noFill/>
        </p:spPr>
        <p:txBody>
          <a:bodyPr wrap="square" rtlCol="0">
            <a:spAutoFit/>
          </a:bodyPr>
          <a:lstStyle/>
          <a:p>
            <a:pPr algn="ctr"/>
            <a:r>
              <a:rPr lang="en-IN" sz="2800" b="1" dirty="0"/>
              <a:t>Cancellations &amp; Lost Revenue Analysis</a:t>
            </a:r>
          </a:p>
        </p:txBody>
      </p:sp>
      <p:pic>
        <p:nvPicPr>
          <p:cNvPr id="7" name="Picture 6">
            <a:extLst>
              <a:ext uri="{FF2B5EF4-FFF2-40B4-BE49-F238E27FC236}">
                <a16:creationId xmlns:a16="http://schemas.microsoft.com/office/drawing/2014/main" id="{B414EAC2-42CB-240D-9E8A-9A70ECC91D34}"/>
              </a:ext>
            </a:extLst>
          </p:cNvPr>
          <p:cNvPicPr>
            <a:picLocks noChangeAspect="1"/>
          </p:cNvPicPr>
          <p:nvPr/>
        </p:nvPicPr>
        <p:blipFill>
          <a:blip r:embed="rId2"/>
          <a:stretch>
            <a:fillRect/>
          </a:stretch>
        </p:blipFill>
        <p:spPr>
          <a:xfrm>
            <a:off x="6444371" y="1332930"/>
            <a:ext cx="3771345" cy="1211235"/>
          </a:xfrm>
          <a:prstGeom prst="rect">
            <a:avLst/>
          </a:prstGeom>
          <a:effectLst>
            <a:glow rad="139700">
              <a:schemeClr val="tx1">
                <a:lumMod val="85000"/>
                <a:lumOff val="15000"/>
                <a:alpha val="40000"/>
              </a:schemeClr>
            </a:glow>
          </a:effectLst>
        </p:spPr>
      </p:pic>
      <p:pic>
        <p:nvPicPr>
          <p:cNvPr id="11" name="Picture 10">
            <a:extLst>
              <a:ext uri="{FF2B5EF4-FFF2-40B4-BE49-F238E27FC236}">
                <a16:creationId xmlns:a16="http://schemas.microsoft.com/office/drawing/2014/main" id="{4702F2EC-5134-B59E-2C7E-324C57CE4EDC}"/>
              </a:ext>
            </a:extLst>
          </p:cNvPr>
          <p:cNvPicPr>
            <a:picLocks noChangeAspect="1"/>
          </p:cNvPicPr>
          <p:nvPr/>
        </p:nvPicPr>
        <p:blipFill>
          <a:blip r:embed="rId3"/>
          <a:stretch>
            <a:fillRect/>
          </a:stretch>
        </p:blipFill>
        <p:spPr>
          <a:xfrm>
            <a:off x="7023841" y="3568583"/>
            <a:ext cx="2660910" cy="1138499"/>
          </a:xfrm>
          <a:prstGeom prst="rect">
            <a:avLst/>
          </a:prstGeom>
          <a:effectLst>
            <a:glow rad="139700">
              <a:schemeClr val="tx1">
                <a:lumMod val="85000"/>
                <a:lumOff val="15000"/>
                <a:alpha val="40000"/>
              </a:schemeClr>
            </a:glow>
          </a:effectLst>
        </p:spPr>
      </p:pic>
      <p:pic>
        <p:nvPicPr>
          <p:cNvPr id="5" name="Picture 4">
            <a:extLst>
              <a:ext uri="{FF2B5EF4-FFF2-40B4-BE49-F238E27FC236}">
                <a16:creationId xmlns:a16="http://schemas.microsoft.com/office/drawing/2014/main" id="{3E3F03B2-7DAF-44E0-C1BC-BCA47601C8D8}"/>
              </a:ext>
            </a:extLst>
          </p:cNvPr>
          <p:cNvPicPr>
            <a:picLocks noChangeAspect="1"/>
          </p:cNvPicPr>
          <p:nvPr/>
        </p:nvPicPr>
        <p:blipFill>
          <a:blip r:embed="rId4"/>
          <a:stretch>
            <a:fillRect/>
          </a:stretch>
        </p:blipFill>
        <p:spPr>
          <a:xfrm>
            <a:off x="5477467" y="6051923"/>
            <a:ext cx="1430571" cy="1144457"/>
          </a:xfrm>
          <a:prstGeom prst="rect">
            <a:avLst/>
          </a:prstGeom>
        </p:spPr>
      </p:pic>
    </p:spTree>
    <p:extLst>
      <p:ext uri="{BB962C8B-B14F-4D97-AF65-F5344CB8AC3E}">
        <p14:creationId xmlns:p14="http://schemas.microsoft.com/office/powerpoint/2010/main" val="4277702571"/>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EEEBE1"/>
        </a:solidFill>
        <a:effectLst/>
      </p:bgPr>
    </p:bg>
    <p:spTree>
      <p:nvGrpSpPr>
        <p:cNvPr id="1" name="">
          <a:extLst>
            <a:ext uri="{FF2B5EF4-FFF2-40B4-BE49-F238E27FC236}">
              <a16:creationId xmlns:a16="http://schemas.microsoft.com/office/drawing/2014/main" id="{FC584741-E597-E038-8338-ABFD82593E8C}"/>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Freeform: Shape 12">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Freeform: Shape 14">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80BDBB8-C9E5-B809-338A-AAFA91308296}"/>
              </a:ext>
            </a:extLst>
          </p:cNvPr>
          <p:cNvSpPr>
            <a:spLocks noGrp="1"/>
          </p:cNvSpPr>
          <p:nvPr>
            <p:ph type="title"/>
          </p:nvPr>
        </p:nvSpPr>
        <p:spPr>
          <a:xfrm>
            <a:off x="368808" y="848332"/>
            <a:ext cx="3682082" cy="1570482"/>
          </a:xfrm>
        </p:spPr>
        <p:txBody>
          <a:bodyPr anchor="ctr">
            <a:normAutofit fontScale="90000"/>
          </a:bodyPr>
          <a:lstStyle/>
          <a:p>
            <a:r>
              <a:rPr lang="en-IN" sz="2600" dirty="0">
                <a:latin typeface="Aptos" panose="020B0004020202020204" pitchFamily="34" charset="0"/>
                <a:cs typeface="Arial" panose="020B0604020202020204" pitchFamily="34" charset="0"/>
              </a:rPr>
              <a:t>Objectives: </a:t>
            </a:r>
            <a:r>
              <a:rPr lang="en-IN" sz="2800" dirty="0">
                <a:latin typeface="Aptos" panose="020B0004020202020204" pitchFamily="34" charset="0"/>
              </a:rPr>
              <a:t>Are there any patterns in cancellations (e.g., specific room types, time of year)?</a:t>
            </a:r>
            <a:endParaRPr lang="en-IN" sz="2600" dirty="0">
              <a:latin typeface="Aptos" panose="020B00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48F494EA-5B92-B46B-1721-E2A75DF5A343}"/>
              </a:ext>
            </a:extLst>
          </p:cNvPr>
          <p:cNvSpPr>
            <a:spLocks noGrp="1"/>
          </p:cNvSpPr>
          <p:nvPr>
            <p:ph idx="1"/>
          </p:nvPr>
        </p:nvSpPr>
        <p:spPr>
          <a:xfrm>
            <a:off x="371094" y="2718054"/>
            <a:ext cx="3438906" cy="3207258"/>
          </a:xfrm>
        </p:spPr>
        <p:txBody>
          <a:bodyPr anchor="t">
            <a:normAutofit/>
          </a:bodyPr>
          <a:lstStyle/>
          <a:p>
            <a:pPr marL="0" lvl="0" indent="0">
              <a:buNone/>
            </a:pPr>
            <a:r>
              <a:rPr lang="en-IN" sz="1700" dirty="0">
                <a:latin typeface="Aptos" panose="020B0004020202020204" pitchFamily="34" charset="0"/>
              </a:rPr>
              <a:t>Solutions: </a:t>
            </a:r>
            <a:r>
              <a:rPr lang="en-US" sz="1700" dirty="0">
                <a:latin typeface="Aptos" panose="020B0004020202020204" pitchFamily="34" charset="0"/>
              </a:rPr>
              <a:t>To display the patterns in cancellation we have used line chart with days and date and provided filters to view it for specific room type or hotel.</a:t>
            </a:r>
            <a:endParaRPr lang="en-IN" sz="1700" dirty="0">
              <a:latin typeface="Aptos" panose="020B0004020202020204" pitchFamily="34" charset="0"/>
            </a:endParaRPr>
          </a:p>
        </p:txBody>
      </p:sp>
      <p:pic>
        <p:nvPicPr>
          <p:cNvPr id="6" name="Picture 5">
            <a:extLst>
              <a:ext uri="{FF2B5EF4-FFF2-40B4-BE49-F238E27FC236}">
                <a16:creationId xmlns:a16="http://schemas.microsoft.com/office/drawing/2014/main" id="{455C48AD-27AF-1198-48E3-5F340496BEB7}"/>
              </a:ext>
            </a:extLst>
          </p:cNvPr>
          <p:cNvPicPr>
            <a:picLocks noChangeAspect="1"/>
          </p:cNvPicPr>
          <p:nvPr/>
        </p:nvPicPr>
        <p:blipFill>
          <a:blip r:embed="rId2"/>
          <a:stretch>
            <a:fillRect/>
          </a:stretch>
        </p:blipFill>
        <p:spPr>
          <a:xfrm>
            <a:off x="4901184" y="2094890"/>
            <a:ext cx="6922008" cy="2768804"/>
          </a:xfrm>
          <a:prstGeom prst="rect">
            <a:avLst/>
          </a:prstGeom>
          <a:effectLst>
            <a:glow rad="139700">
              <a:schemeClr val="tx1">
                <a:lumMod val="85000"/>
                <a:lumOff val="15000"/>
                <a:alpha val="40000"/>
              </a:schemeClr>
            </a:glow>
          </a:effectLst>
        </p:spPr>
      </p:pic>
      <p:sp>
        <p:nvSpPr>
          <p:cNvPr id="4" name="TextBox 3">
            <a:extLst>
              <a:ext uri="{FF2B5EF4-FFF2-40B4-BE49-F238E27FC236}">
                <a16:creationId xmlns:a16="http://schemas.microsoft.com/office/drawing/2014/main" id="{EF236125-66FF-EE81-404A-BB60903517DE}"/>
              </a:ext>
            </a:extLst>
          </p:cNvPr>
          <p:cNvSpPr txBox="1"/>
          <p:nvPr/>
        </p:nvSpPr>
        <p:spPr>
          <a:xfrm>
            <a:off x="1897626" y="68826"/>
            <a:ext cx="8318090" cy="523220"/>
          </a:xfrm>
          <a:prstGeom prst="rect">
            <a:avLst/>
          </a:prstGeom>
          <a:noFill/>
        </p:spPr>
        <p:txBody>
          <a:bodyPr wrap="square" rtlCol="0">
            <a:spAutoFit/>
          </a:bodyPr>
          <a:lstStyle/>
          <a:p>
            <a:pPr algn="ctr"/>
            <a:r>
              <a:rPr lang="en-IN" sz="2800" b="1" dirty="0"/>
              <a:t>Cancellations &amp; Lost Revenue Analysis</a:t>
            </a:r>
          </a:p>
        </p:txBody>
      </p:sp>
      <p:pic>
        <p:nvPicPr>
          <p:cNvPr id="5" name="Picture 4">
            <a:extLst>
              <a:ext uri="{FF2B5EF4-FFF2-40B4-BE49-F238E27FC236}">
                <a16:creationId xmlns:a16="http://schemas.microsoft.com/office/drawing/2014/main" id="{300F7EEF-C75B-3961-F238-36819CED8EF4}"/>
              </a:ext>
            </a:extLst>
          </p:cNvPr>
          <p:cNvPicPr>
            <a:picLocks noChangeAspect="1"/>
          </p:cNvPicPr>
          <p:nvPr/>
        </p:nvPicPr>
        <p:blipFill>
          <a:blip r:embed="rId3"/>
          <a:stretch>
            <a:fillRect/>
          </a:stretch>
        </p:blipFill>
        <p:spPr>
          <a:xfrm>
            <a:off x="5477467" y="6051923"/>
            <a:ext cx="1430571" cy="1144457"/>
          </a:xfrm>
          <a:prstGeom prst="rect">
            <a:avLst/>
          </a:prstGeom>
        </p:spPr>
      </p:pic>
    </p:spTree>
    <p:extLst>
      <p:ext uri="{BB962C8B-B14F-4D97-AF65-F5344CB8AC3E}">
        <p14:creationId xmlns:p14="http://schemas.microsoft.com/office/powerpoint/2010/main" val="3225538061"/>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EEEBE1"/>
        </a:solidFill>
        <a:effectLst/>
      </p:bgPr>
    </p:bg>
    <p:spTree>
      <p:nvGrpSpPr>
        <p:cNvPr id="1" name="">
          <a:extLst>
            <a:ext uri="{FF2B5EF4-FFF2-40B4-BE49-F238E27FC236}">
              <a16:creationId xmlns:a16="http://schemas.microsoft.com/office/drawing/2014/main" id="{7AB6B401-F44B-3CE6-994F-12BBA3313CD3}"/>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1A1E25E-BCE5-2FAE-E9F2-C1AFFE880C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286787E5-DCB6-82E4-811E-0635A45D8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4E7E4855-1384-C814-0730-775AB22C6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09C71B70-3317-06F8-1E8B-D5D7ED8B8F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80F4BBB3-7B80-1B6B-AC9C-EB45F206DD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F73C96F7-2DF0-4BF8-7AA8-49BDB53C4424}"/>
              </a:ext>
            </a:extLst>
          </p:cNvPr>
          <p:cNvPicPr>
            <a:picLocks noChangeAspect="1"/>
          </p:cNvPicPr>
          <p:nvPr/>
        </p:nvPicPr>
        <p:blipFill>
          <a:blip r:embed="rId2"/>
          <a:stretch>
            <a:fillRect/>
          </a:stretch>
        </p:blipFill>
        <p:spPr>
          <a:xfrm>
            <a:off x="-9144" y="-1"/>
            <a:ext cx="12225539" cy="6857999"/>
          </a:xfrm>
          <a:prstGeom prst="rect">
            <a:avLst/>
          </a:prstGeom>
        </p:spPr>
      </p:pic>
    </p:spTree>
    <p:extLst>
      <p:ext uri="{BB962C8B-B14F-4D97-AF65-F5344CB8AC3E}">
        <p14:creationId xmlns:p14="http://schemas.microsoft.com/office/powerpoint/2010/main" val="2210053699"/>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EEEBE1"/>
        </a:solidFill>
        <a:effectLst/>
      </p:bgPr>
    </p:bg>
    <p:spTree>
      <p:nvGrpSpPr>
        <p:cNvPr id="1" name="">
          <a:extLst>
            <a:ext uri="{FF2B5EF4-FFF2-40B4-BE49-F238E27FC236}">
              <a16:creationId xmlns:a16="http://schemas.microsoft.com/office/drawing/2014/main" id="{88DEDC42-8C4C-1A4B-D5B3-AD665ADB98E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A248A68-7967-E7CB-7B36-ED7DDE85A0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C091CC4B-C17A-88A4-EF44-DBF9CBF05B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3F2EE4C1-2A16-9B12-F3A9-D2A9F174D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933EE5-17FE-D5AD-E818-81C2CE1116D7}"/>
              </a:ext>
            </a:extLst>
          </p:cNvPr>
          <p:cNvSpPr>
            <a:spLocks noGrp="1"/>
          </p:cNvSpPr>
          <p:nvPr>
            <p:ph type="title"/>
          </p:nvPr>
        </p:nvSpPr>
        <p:spPr>
          <a:xfrm>
            <a:off x="436417" y="3111191"/>
            <a:ext cx="3715085" cy="635617"/>
          </a:xfrm>
        </p:spPr>
        <p:txBody>
          <a:bodyPr anchor="ctr">
            <a:noAutofit/>
          </a:bodyPr>
          <a:lstStyle/>
          <a:p>
            <a:pPr algn="ctr"/>
            <a:r>
              <a:rPr lang="en-IN" sz="3200" b="1" dirty="0">
                <a:latin typeface="Aptos" panose="020B0004020202020204" pitchFamily="34" charset="0"/>
              </a:rPr>
              <a:t>Key insights</a:t>
            </a:r>
            <a:br>
              <a:rPr lang="en-IN" sz="2400" dirty="0">
                <a:solidFill>
                  <a:srgbClr val="080808"/>
                </a:solidFill>
                <a:latin typeface="Aptos" panose="020B0004020202020204" pitchFamily="34" charset="0"/>
              </a:rPr>
            </a:br>
            <a:endParaRPr lang="en-IN" sz="2400" dirty="0">
              <a:solidFill>
                <a:srgbClr val="080808"/>
              </a:solidFill>
              <a:latin typeface="Aptos" panose="020B00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0DC06BD5-AF49-79FC-B7EB-5F12ED20CC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433E8DE0-3F92-6D5D-B591-793BAEBDF6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F8781BF1-B03D-3218-2E61-0EAADA07A821}"/>
              </a:ext>
            </a:extLst>
          </p:cNvPr>
          <p:cNvSpPr>
            <a:spLocks noGrp="1"/>
          </p:cNvSpPr>
          <p:nvPr>
            <p:ph idx="1"/>
          </p:nvPr>
        </p:nvSpPr>
        <p:spPr>
          <a:xfrm>
            <a:off x="4892089" y="695036"/>
            <a:ext cx="7005502" cy="5934364"/>
          </a:xfrm>
        </p:spPr>
        <p:txBody>
          <a:bodyPr anchor="t">
            <a:normAutofit fontScale="47500" lnSpcReduction="20000"/>
          </a:bodyPr>
          <a:lstStyle/>
          <a:p>
            <a:pPr marL="0" indent="0">
              <a:lnSpc>
                <a:spcPct val="120000"/>
              </a:lnSpc>
              <a:spcBef>
                <a:spcPts val="0"/>
              </a:spcBef>
              <a:buNone/>
              <a:tabLst>
                <a:tab pos="360000" algn="l"/>
              </a:tabLst>
            </a:pPr>
            <a:r>
              <a:rPr lang="en-US" b="1" dirty="0"/>
              <a:t>🔸 High-Level Metrics</a:t>
            </a:r>
          </a:p>
          <a:p>
            <a:pPr>
              <a:lnSpc>
                <a:spcPct val="120000"/>
              </a:lnSpc>
              <a:spcBef>
                <a:spcPts val="0"/>
              </a:spcBef>
              <a:tabLst>
                <a:tab pos="360000" algn="l"/>
              </a:tabLst>
            </a:pPr>
            <a:r>
              <a:rPr lang="en-US" b="1" dirty="0"/>
              <a:t>Cancellation Rate: 24.83%</a:t>
            </a:r>
          </a:p>
          <a:p>
            <a:pPr>
              <a:lnSpc>
                <a:spcPct val="120000"/>
              </a:lnSpc>
              <a:spcBef>
                <a:spcPts val="0"/>
              </a:spcBef>
              <a:tabLst>
                <a:tab pos="360000" algn="l"/>
              </a:tabLst>
            </a:pPr>
            <a:r>
              <a:rPr lang="en-US" b="1" dirty="0"/>
              <a:t>Lost Revenue from no show : 100.47M</a:t>
            </a:r>
          </a:p>
          <a:p>
            <a:pPr>
              <a:lnSpc>
                <a:spcPct val="120000"/>
              </a:lnSpc>
              <a:spcBef>
                <a:spcPts val="0"/>
              </a:spcBef>
              <a:tabLst>
                <a:tab pos="360000" algn="l"/>
              </a:tabLst>
            </a:pPr>
            <a:r>
              <a:rPr lang="en-US" b="1" dirty="0"/>
              <a:t>Revenue Lost Due to Cancellations: 199.18M</a:t>
            </a:r>
          </a:p>
          <a:p>
            <a:pPr marL="0" indent="0">
              <a:lnSpc>
                <a:spcPct val="120000"/>
              </a:lnSpc>
              <a:spcBef>
                <a:spcPts val="0"/>
              </a:spcBef>
              <a:buNone/>
              <a:tabLst>
                <a:tab pos="360000" algn="l"/>
              </a:tabLst>
            </a:pPr>
            <a:r>
              <a:rPr lang="en-US" b="1" dirty="0"/>
              <a:t>🔸 Cancellation Rate by Property</a:t>
            </a:r>
          </a:p>
          <a:p>
            <a:pPr marL="0" indent="0">
              <a:lnSpc>
                <a:spcPct val="120000"/>
              </a:lnSpc>
              <a:spcBef>
                <a:spcPts val="0"/>
              </a:spcBef>
              <a:buNone/>
              <a:tabLst>
                <a:tab pos="360000" algn="l"/>
              </a:tabLst>
            </a:pPr>
            <a:r>
              <a:rPr lang="en-US" b="1" dirty="0"/>
              <a:t>Cancellation rates are fairly consistent across top properties:</a:t>
            </a:r>
          </a:p>
          <a:p>
            <a:pPr marL="0" indent="0">
              <a:lnSpc>
                <a:spcPct val="120000"/>
              </a:lnSpc>
              <a:spcBef>
                <a:spcPts val="0"/>
              </a:spcBef>
              <a:buNone/>
              <a:tabLst>
                <a:tab pos="360000" algn="l"/>
              </a:tabLst>
            </a:pPr>
            <a:r>
              <a:rPr lang="en-US" b="1" dirty="0"/>
              <a:t>Ranging from 24.37% (ITC Blu) to 25.18% (ITC Palace)</a:t>
            </a:r>
          </a:p>
          <a:p>
            <a:pPr marL="0" indent="0">
              <a:lnSpc>
                <a:spcPct val="120000"/>
              </a:lnSpc>
              <a:spcBef>
                <a:spcPts val="0"/>
              </a:spcBef>
              <a:buNone/>
              <a:tabLst>
                <a:tab pos="360000" algn="l"/>
              </a:tabLst>
            </a:pPr>
            <a:r>
              <a:rPr lang="en-US" b="1" dirty="0"/>
              <a:t>No property stands out with abnormally high or low rates — indicates a systemic issue rather than location-specific.</a:t>
            </a:r>
          </a:p>
          <a:p>
            <a:pPr marL="0" indent="0">
              <a:lnSpc>
                <a:spcPct val="120000"/>
              </a:lnSpc>
              <a:spcBef>
                <a:spcPts val="0"/>
              </a:spcBef>
              <a:buNone/>
              <a:tabLst>
                <a:tab pos="360000" algn="l"/>
              </a:tabLst>
            </a:pPr>
            <a:r>
              <a:rPr lang="en-US" b="1" dirty="0"/>
              <a:t>🔸 Cancellation Trends by Date and Month</a:t>
            </a:r>
          </a:p>
          <a:p>
            <a:pPr marL="0" indent="0">
              <a:lnSpc>
                <a:spcPct val="120000"/>
              </a:lnSpc>
              <a:spcBef>
                <a:spcPts val="0"/>
              </a:spcBef>
              <a:buNone/>
              <a:tabLst>
                <a:tab pos="360000" algn="l"/>
              </a:tabLst>
            </a:pPr>
            <a:r>
              <a:rPr lang="en-US" b="1" dirty="0"/>
              <a:t>Date Trend (May to July 2022):</a:t>
            </a:r>
          </a:p>
          <a:p>
            <a:pPr marL="0" indent="0">
              <a:lnSpc>
                <a:spcPct val="120000"/>
              </a:lnSpc>
              <a:spcBef>
                <a:spcPts val="0"/>
              </a:spcBef>
              <a:buNone/>
              <a:tabLst>
                <a:tab pos="360000" algn="l"/>
              </a:tabLst>
            </a:pPr>
            <a:r>
              <a:rPr lang="en-US" b="1" dirty="0"/>
              <a:t>Fluctuates between 22% and 28%</a:t>
            </a:r>
          </a:p>
          <a:p>
            <a:pPr marL="0" indent="0">
              <a:lnSpc>
                <a:spcPct val="120000"/>
              </a:lnSpc>
              <a:spcBef>
                <a:spcPts val="0"/>
              </a:spcBef>
              <a:buNone/>
              <a:tabLst>
                <a:tab pos="360000" algn="l"/>
              </a:tabLst>
            </a:pPr>
            <a:r>
              <a:rPr lang="en-US" b="1" dirty="0"/>
              <a:t>Shows high variability, particularly in June</a:t>
            </a:r>
          </a:p>
          <a:p>
            <a:pPr marL="0" indent="0">
              <a:lnSpc>
                <a:spcPct val="120000"/>
              </a:lnSpc>
              <a:spcBef>
                <a:spcPts val="0"/>
              </a:spcBef>
              <a:buNone/>
              <a:tabLst>
                <a:tab pos="360000" algn="l"/>
              </a:tabLst>
            </a:pPr>
            <a:r>
              <a:rPr lang="en-US" b="1" dirty="0"/>
              <a:t>Month-over-Month Change:</a:t>
            </a:r>
          </a:p>
          <a:p>
            <a:pPr marL="0" indent="0">
              <a:lnSpc>
                <a:spcPct val="120000"/>
              </a:lnSpc>
              <a:spcBef>
                <a:spcPts val="0"/>
              </a:spcBef>
              <a:buNone/>
              <a:tabLst>
                <a:tab pos="360000" algn="l"/>
              </a:tabLst>
            </a:pPr>
            <a:r>
              <a:rPr lang="en-US" b="1" dirty="0"/>
              <a:t>June saw a slight increase (+0.57%)</a:t>
            </a:r>
          </a:p>
          <a:p>
            <a:pPr marL="0" indent="0">
              <a:lnSpc>
                <a:spcPct val="120000"/>
              </a:lnSpc>
              <a:spcBef>
                <a:spcPts val="0"/>
              </a:spcBef>
              <a:buNone/>
              <a:tabLst>
                <a:tab pos="360000" algn="l"/>
              </a:tabLst>
            </a:pPr>
            <a:r>
              <a:rPr lang="en-US" b="1" dirty="0"/>
              <a:t>July experienced a notable decrease (-2.51%), indicating possible stabilization</a:t>
            </a:r>
          </a:p>
          <a:p>
            <a:pPr marL="0" indent="0">
              <a:lnSpc>
                <a:spcPct val="120000"/>
              </a:lnSpc>
              <a:spcBef>
                <a:spcPts val="0"/>
              </a:spcBef>
              <a:buNone/>
              <a:tabLst>
                <a:tab pos="360000" algn="l"/>
              </a:tabLst>
            </a:pPr>
            <a:r>
              <a:rPr lang="en-US" b="1" dirty="0"/>
              <a:t>🔸 Week-over-Week Cancellation Growth</a:t>
            </a:r>
          </a:p>
          <a:p>
            <a:pPr marL="0" indent="0">
              <a:lnSpc>
                <a:spcPct val="120000"/>
              </a:lnSpc>
              <a:spcBef>
                <a:spcPts val="0"/>
              </a:spcBef>
              <a:buNone/>
              <a:tabLst>
                <a:tab pos="360000" algn="l"/>
              </a:tabLst>
            </a:pPr>
            <a:r>
              <a:rPr lang="en-US" b="1" dirty="0"/>
              <a:t>Cancellation rate spiked in Week 23 (3.38%)</a:t>
            </a:r>
          </a:p>
          <a:p>
            <a:pPr marL="0" indent="0">
              <a:lnSpc>
                <a:spcPct val="120000"/>
              </a:lnSpc>
              <a:spcBef>
                <a:spcPts val="0"/>
              </a:spcBef>
              <a:buNone/>
              <a:tabLst>
                <a:tab pos="360000" algn="l"/>
              </a:tabLst>
            </a:pPr>
            <a:r>
              <a:rPr lang="en-US" b="1" dirty="0"/>
              <a:t>Followed by slight increases/decreases, with some weeks showing recovery (e.g., Week 24 and Week 30)</a:t>
            </a:r>
          </a:p>
          <a:p>
            <a:pPr marL="0" indent="0">
              <a:lnSpc>
                <a:spcPct val="120000"/>
              </a:lnSpc>
              <a:spcBef>
                <a:spcPts val="0"/>
              </a:spcBef>
              <a:buNone/>
              <a:tabLst>
                <a:tab pos="360000" algn="l"/>
              </a:tabLst>
            </a:pPr>
            <a:r>
              <a:rPr lang="en-US" b="1" dirty="0"/>
              <a:t>Volatile pattern, especially around Weeks 22–25</a:t>
            </a:r>
          </a:p>
          <a:p>
            <a:pPr marL="0" indent="0">
              <a:lnSpc>
                <a:spcPct val="120000"/>
              </a:lnSpc>
              <a:spcBef>
                <a:spcPts val="0"/>
              </a:spcBef>
              <a:buNone/>
              <a:tabLst>
                <a:tab pos="360000" algn="l"/>
              </a:tabLst>
            </a:pPr>
            <a:r>
              <a:rPr lang="en-US" b="1" dirty="0"/>
              <a:t>🔸 Cancellation by Room Category</a:t>
            </a:r>
          </a:p>
          <a:p>
            <a:pPr marL="0" indent="0">
              <a:lnSpc>
                <a:spcPct val="120000"/>
              </a:lnSpc>
              <a:spcBef>
                <a:spcPts val="0"/>
              </a:spcBef>
              <a:buNone/>
              <a:tabLst>
                <a:tab pos="360000" algn="l"/>
              </a:tabLst>
            </a:pPr>
            <a:r>
              <a:rPr lang="en-US" b="1" dirty="0"/>
              <a:t>Very little variance across room types:</a:t>
            </a:r>
          </a:p>
          <a:p>
            <a:pPr marL="0" indent="0">
              <a:lnSpc>
                <a:spcPct val="120000"/>
              </a:lnSpc>
              <a:spcBef>
                <a:spcPts val="0"/>
              </a:spcBef>
              <a:buNone/>
              <a:tabLst>
                <a:tab pos="360000" algn="l"/>
              </a:tabLst>
            </a:pPr>
            <a:r>
              <a:rPr lang="en-US" b="1" dirty="0"/>
              <a:t>Elite: 12.4k</a:t>
            </a:r>
          </a:p>
          <a:p>
            <a:pPr marL="0" indent="0">
              <a:lnSpc>
                <a:spcPct val="120000"/>
              </a:lnSpc>
              <a:spcBef>
                <a:spcPts val="0"/>
              </a:spcBef>
              <a:buNone/>
              <a:tabLst>
                <a:tab pos="360000" algn="l"/>
              </a:tabLst>
            </a:pPr>
            <a:r>
              <a:rPr lang="en-US" b="1" dirty="0"/>
              <a:t>Standard: 9.5K</a:t>
            </a:r>
          </a:p>
          <a:p>
            <a:pPr marL="0" indent="0">
              <a:lnSpc>
                <a:spcPct val="120000"/>
              </a:lnSpc>
              <a:spcBef>
                <a:spcPts val="0"/>
              </a:spcBef>
              <a:buNone/>
              <a:tabLst>
                <a:tab pos="360000" algn="l"/>
              </a:tabLst>
            </a:pPr>
            <a:r>
              <a:rPr lang="en-US" b="1" dirty="0"/>
              <a:t>Premium: 7.6K</a:t>
            </a:r>
          </a:p>
          <a:p>
            <a:pPr marL="0" indent="0">
              <a:lnSpc>
                <a:spcPct val="120000"/>
              </a:lnSpc>
              <a:spcBef>
                <a:spcPts val="0"/>
              </a:spcBef>
              <a:buNone/>
              <a:tabLst>
                <a:tab pos="360000" algn="l"/>
              </a:tabLst>
            </a:pPr>
            <a:r>
              <a:rPr lang="en-US" b="1" dirty="0"/>
              <a:t>Presidential: 3.9K</a:t>
            </a:r>
          </a:p>
          <a:p>
            <a:pPr marL="0" indent="0">
              <a:lnSpc>
                <a:spcPct val="120000"/>
              </a:lnSpc>
              <a:spcBef>
                <a:spcPts val="0"/>
              </a:spcBef>
              <a:buNone/>
              <a:tabLst>
                <a:tab pos="360000" algn="l"/>
              </a:tabLst>
            </a:pPr>
            <a:r>
              <a:rPr lang="en-US" b="1" dirty="0"/>
              <a:t>Suggests that cancellations are not influenced by room type.</a:t>
            </a:r>
            <a:endParaRPr lang="en-US" dirty="0"/>
          </a:p>
        </p:txBody>
      </p:sp>
      <p:sp>
        <p:nvSpPr>
          <p:cNvPr id="4" name="TextBox 3">
            <a:extLst>
              <a:ext uri="{FF2B5EF4-FFF2-40B4-BE49-F238E27FC236}">
                <a16:creationId xmlns:a16="http://schemas.microsoft.com/office/drawing/2014/main" id="{8EE77BC3-0202-ACB6-D430-0C72AC2370A2}"/>
              </a:ext>
            </a:extLst>
          </p:cNvPr>
          <p:cNvSpPr txBox="1"/>
          <p:nvPr/>
        </p:nvSpPr>
        <p:spPr>
          <a:xfrm>
            <a:off x="1897626" y="68826"/>
            <a:ext cx="8318090" cy="523220"/>
          </a:xfrm>
          <a:prstGeom prst="rect">
            <a:avLst/>
          </a:prstGeom>
          <a:noFill/>
        </p:spPr>
        <p:txBody>
          <a:bodyPr wrap="square" rtlCol="0">
            <a:spAutoFit/>
          </a:bodyPr>
          <a:lstStyle/>
          <a:p>
            <a:pPr algn="ctr"/>
            <a:r>
              <a:rPr lang="en-IN" sz="2800" b="1" dirty="0"/>
              <a:t>Cancellations &amp; Lost Revenue Analysis</a:t>
            </a:r>
          </a:p>
        </p:txBody>
      </p:sp>
      <p:pic>
        <p:nvPicPr>
          <p:cNvPr id="5" name="Picture 4">
            <a:extLst>
              <a:ext uri="{FF2B5EF4-FFF2-40B4-BE49-F238E27FC236}">
                <a16:creationId xmlns:a16="http://schemas.microsoft.com/office/drawing/2014/main" id="{267B727A-2AF0-9B81-8BAE-9152F7A61EB6}"/>
              </a:ext>
            </a:extLst>
          </p:cNvPr>
          <p:cNvPicPr>
            <a:picLocks noChangeAspect="1"/>
          </p:cNvPicPr>
          <p:nvPr/>
        </p:nvPicPr>
        <p:blipFill>
          <a:blip r:embed="rId2"/>
          <a:stretch>
            <a:fillRect/>
          </a:stretch>
        </p:blipFill>
        <p:spPr>
          <a:xfrm>
            <a:off x="5477467" y="6051923"/>
            <a:ext cx="1430571" cy="1144457"/>
          </a:xfrm>
          <a:prstGeom prst="rect">
            <a:avLst/>
          </a:prstGeom>
        </p:spPr>
      </p:pic>
    </p:spTree>
    <p:extLst>
      <p:ext uri="{BB962C8B-B14F-4D97-AF65-F5344CB8AC3E}">
        <p14:creationId xmlns:p14="http://schemas.microsoft.com/office/powerpoint/2010/main" val="1263612729"/>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EEEBE1"/>
        </a:solidFill>
        <a:effectLst/>
      </p:bgPr>
    </p:bg>
    <p:spTree>
      <p:nvGrpSpPr>
        <p:cNvPr id="1" name="">
          <a:extLst>
            <a:ext uri="{FF2B5EF4-FFF2-40B4-BE49-F238E27FC236}">
              <a16:creationId xmlns:a16="http://schemas.microsoft.com/office/drawing/2014/main" id="{D62E4CCD-D544-6A86-549C-A2B94E26056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D1E2C2A-8461-B72E-81C9-FB19F4F465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49094956-17A4-96FC-5C9A-5B00FD86E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ABD79150-0010-8D85-0F12-504B401C7B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301445F-313C-DB96-C98A-F1D828006446}"/>
              </a:ext>
            </a:extLst>
          </p:cNvPr>
          <p:cNvSpPr>
            <a:spLocks noGrp="1"/>
          </p:cNvSpPr>
          <p:nvPr>
            <p:ph type="title"/>
          </p:nvPr>
        </p:nvSpPr>
        <p:spPr>
          <a:xfrm>
            <a:off x="436417" y="3111191"/>
            <a:ext cx="3715085" cy="635617"/>
          </a:xfrm>
        </p:spPr>
        <p:txBody>
          <a:bodyPr anchor="ctr">
            <a:noAutofit/>
          </a:bodyPr>
          <a:lstStyle/>
          <a:p>
            <a:pPr algn="ctr"/>
            <a:r>
              <a:rPr lang="en-US" sz="3200" b="1" dirty="0">
                <a:latin typeface="Aptos" panose="020B0004020202020204" pitchFamily="34" charset="0"/>
              </a:rPr>
              <a:t>Conclusions</a:t>
            </a:r>
            <a:endParaRPr lang="en-IN" sz="2400" dirty="0">
              <a:solidFill>
                <a:srgbClr val="080808"/>
              </a:solidFill>
              <a:latin typeface="Aptos" panose="020B00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1727B19E-A126-AACF-9B98-EEAF647053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87C5A4B7-7D47-F406-FD51-9FE20E9F0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A7918382-39CB-EACF-5758-AB68E13E3061}"/>
              </a:ext>
            </a:extLst>
          </p:cNvPr>
          <p:cNvSpPr>
            <a:spLocks noGrp="1"/>
          </p:cNvSpPr>
          <p:nvPr>
            <p:ph idx="1"/>
          </p:nvPr>
        </p:nvSpPr>
        <p:spPr>
          <a:xfrm>
            <a:off x="5067784" y="1426545"/>
            <a:ext cx="6434951" cy="4943081"/>
          </a:xfrm>
        </p:spPr>
        <p:txBody>
          <a:bodyPr anchor="t">
            <a:normAutofit/>
          </a:bodyPr>
          <a:lstStyle/>
          <a:p>
            <a:pPr marL="0" indent="0">
              <a:lnSpc>
                <a:spcPct val="100000"/>
              </a:lnSpc>
              <a:spcBef>
                <a:spcPts val="600"/>
              </a:spcBef>
              <a:buNone/>
              <a:tabLst>
                <a:tab pos="360000" algn="l"/>
              </a:tabLst>
            </a:pPr>
            <a:r>
              <a:rPr lang="en-US" sz="1800" dirty="0">
                <a:latin typeface="Aptos" panose="020B0004020202020204" pitchFamily="34" charset="0"/>
              </a:rPr>
              <a:t>1.	High Cancellation Rate Impacting Revenue</a:t>
            </a:r>
          </a:p>
          <a:p>
            <a:pPr>
              <a:lnSpc>
                <a:spcPct val="100000"/>
              </a:lnSpc>
              <a:spcBef>
                <a:spcPts val="600"/>
              </a:spcBef>
              <a:tabLst>
                <a:tab pos="360000" algn="l"/>
              </a:tabLst>
            </a:pPr>
            <a:r>
              <a:rPr lang="en-US" sz="1800" dirty="0">
                <a:latin typeface="Aptos" panose="020B0004020202020204" pitchFamily="34" charset="0"/>
              </a:rPr>
              <a:t>A 24.83% cancellation rate resulting in ₹199M in lost revenue is significant, affecting operational planning and financial performance.</a:t>
            </a:r>
          </a:p>
          <a:p>
            <a:pPr marL="0" indent="0">
              <a:lnSpc>
                <a:spcPct val="100000"/>
              </a:lnSpc>
              <a:spcBef>
                <a:spcPts val="600"/>
              </a:spcBef>
              <a:buNone/>
              <a:tabLst>
                <a:tab pos="360000" algn="l"/>
              </a:tabLst>
            </a:pPr>
            <a:r>
              <a:rPr lang="en-US" sz="1800" dirty="0">
                <a:latin typeface="Aptos" panose="020B0004020202020204" pitchFamily="34" charset="0"/>
              </a:rPr>
              <a:t>2.	Issue is System-Wide</a:t>
            </a:r>
          </a:p>
          <a:p>
            <a:pPr>
              <a:lnSpc>
                <a:spcPct val="100000"/>
              </a:lnSpc>
              <a:spcBef>
                <a:spcPts val="600"/>
              </a:spcBef>
              <a:tabLst>
                <a:tab pos="360000" algn="l"/>
              </a:tabLst>
            </a:pPr>
            <a:r>
              <a:rPr lang="en-US" sz="1800" dirty="0">
                <a:latin typeface="Aptos" panose="020B0004020202020204" pitchFamily="34" charset="0"/>
              </a:rPr>
              <a:t>Similar cancellation rates across properties and room categories suggest that the cause is not location- or room-specific.</a:t>
            </a:r>
          </a:p>
          <a:p>
            <a:pPr marL="0" indent="0">
              <a:lnSpc>
                <a:spcPct val="100000"/>
              </a:lnSpc>
              <a:spcBef>
                <a:spcPts val="600"/>
              </a:spcBef>
              <a:buNone/>
              <a:tabLst>
                <a:tab pos="360000" algn="l"/>
              </a:tabLst>
            </a:pPr>
            <a:r>
              <a:rPr lang="en-US" sz="1800" dirty="0">
                <a:latin typeface="Aptos" panose="020B0004020202020204" pitchFamily="34" charset="0"/>
              </a:rPr>
              <a:t>3.	Peak in June Followed by July Recovery</a:t>
            </a:r>
          </a:p>
          <a:p>
            <a:pPr>
              <a:lnSpc>
                <a:spcPct val="100000"/>
              </a:lnSpc>
              <a:spcBef>
                <a:spcPts val="600"/>
              </a:spcBef>
              <a:tabLst>
                <a:tab pos="360000" algn="l"/>
              </a:tabLst>
            </a:pPr>
            <a:r>
              <a:rPr lang="en-US" sz="1800" dirty="0">
                <a:latin typeface="Aptos" panose="020B0004020202020204" pitchFamily="34" charset="0"/>
              </a:rPr>
              <a:t>Indicates potential for corrective measures taken in July that led to a slight drop in cancellations.</a:t>
            </a:r>
          </a:p>
          <a:p>
            <a:pPr marL="0" indent="0">
              <a:lnSpc>
                <a:spcPct val="100000"/>
              </a:lnSpc>
              <a:spcBef>
                <a:spcPts val="600"/>
              </a:spcBef>
              <a:buNone/>
              <a:tabLst>
                <a:tab pos="360000" algn="l"/>
              </a:tabLst>
            </a:pPr>
            <a:r>
              <a:rPr lang="en-US" sz="1800" dirty="0">
                <a:latin typeface="Aptos" panose="020B0004020202020204" pitchFamily="34" charset="0"/>
              </a:rPr>
              <a:t>4.	Recent Volatility Must Be Addressed</a:t>
            </a:r>
          </a:p>
          <a:p>
            <a:pPr>
              <a:lnSpc>
                <a:spcPct val="100000"/>
              </a:lnSpc>
              <a:spcBef>
                <a:spcPts val="600"/>
              </a:spcBef>
              <a:tabLst>
                <a:tab pos="360000" algn="l"/>
              </a:tabLst>
            </a:pPr>
            <a:r>
              <a:rPr lang="en-US" sz="1800" dirty="0">
                <a:latin typeface="Aptos" panose="020B0004020202020204" pitchFamily="34" charset="0"/>
              </a:rPr>
              <a:t>The sharp WoW growth signals an abnormal event or trend that warrants further investigation.</a:t>
            </a:r>
            <a:endParaRPr lang="en-US" sz="1800" dirty="0"/>
          </a:p>
        </p:txBody>
      </p:sp>
      <p:sp>
        <p:nvSpPr>
          <p:cNvPr id="4" name="TextBox 3">
            <a:extLst>
              <a:ext uri="{FF2B5EF4-FFF2-40B4-BE49-F238E27FC236}">
                <a16:creationId xmlns:a16="http://schemas.microsoft.com/office/drawing/2014/main" id="{F77B1CF9-12AC-D8BF-54A1-4DB640BA17FC}"/>
              </a:ext>
            </a:extLst>
          </p:cNvPr>
          <p:cNvSpPr txBox="1"/>
          <p:nvPr/>
        </p:nvSpPr>
        <p:spPr>
          <a:xfrm>
            <a:off x="1897626" y="68826"/>
            <a:ext cx="8318090" cy="523220"/>
          </a:xfrm>
          <a:prstGeom prst="rect">
            <a:avLst/>
          </a:prstGeom>
          <a:noFill/>
        </p:spPr>
        <p:txBody>
          <a:bodyPr wrap="square" rtlCol="0">
            <a:spAutoFit/>
          </a:bodyPr>
          <a:lstStyle/>
          <a:p>
            <a:pPr algn="ctr"/>
            <a:r>
              <a:rPr lang="en-IN" sz="2800" b="1" dirty="0"/>
              <a:t>Cancellations &amp; Lost Revenue Analysis</a:t>
            </a:r>
          </a:p>
        </p:txBody>
      </p:sp>
      <p:pic>
        <p:nvPicPr>
          <p:cNvPr id="5" name="Picture 4">
            <a:extLst>
              <a:ext uri="{FF2B5EF4-FFF2-40B4-BE49-F238E27FC236}">
                <a16:creationId xmlns:a16="http://schemas.microsoft.com/office/drawing/2014/main" id="{ADB8C3D5-7360-04DD-C83A-A907974025EC}"/>
              </a:ext>
            </a:extLst>
          </p:cNvPr>
          <p:cNvPicPr>
            <a:picLocks noChangeAspect="1"/>
          </p:cNvPicPr>
          <p:nvPr/>
        </p:nvPicPr>
        <p:blipFill>
          <a:blip r:embed="rId2"/>
          <a:stretch>
            <a:fillRect/>
          </a:stretch>
        </p:blipFill>
        <p:spPr>
          <a:xfrm>
            <a:off x="5477467" y="6051923"/>
            <a:ext cx="1430571" cy="1144457"/>
          </a:xfrm>
          <a:prstGeom prst="rect">
            <a:avLst/>
          </a:prstGeom>
        </p:spPr>
      </p:pic>
    </p:spTree>
    <p:extLst>
      <p:ext uri="{BB962C8B-B14F-4D97-AF65-F5344CB8AC3E}">
        <p14:creationId xmlns:p14="http://schemas.microsoft.com/office/powerpoint/2010/main" val="670131034"/>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EEEBE1"/>
        </a:solidFill>
        <a:effectLst/>
      </p:bgPr>
    </p:bg>
    <p:spTree>
      <p:nvGrpSpPr>
        <p:cNvPr id="1" name="">
          <a:extLst>
            <a:ext uri="{FF2B5EF4-FFF2-40B4-BE49-F238E27FC236}">
              <a16:creationId xmlns:a16="http://schemas.microsoft.com/office/drawing/2014/main" id="{2C8ED635-D311-F58E-A932-F56C8961695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18DB50D-3224-2DC9-EC11-FC6841F59D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EB4A7E74-8F72-8AA0-2AF1-88A977DD48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8AECA833-A142-8EC5-F464-6BC3220A7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7C90886-D29F-22AD-780F-E5904BE520B9}"/>
              </a:ext>
            </a:extLst>
          </p:cNvPr>
          <p:cNvSpPr>
            <a:spLocks noGrp="1"/>
          </p:cNvSpPr>
          <p:nvPr>
            <p:ph type="title"/>
          </p:nvPr>
        </p:nvSpPr>
        <p:spPr>
          <a:xfrm>
            <a:off x="436417" y="3111191"/>
            <a:ext cx="3715085" cy="635617"/>
          </a:xfrm>
        </p:spPr>
        <p:txBody>
          <a:bodyPr anchor="ctr">
            <a:noAutofit/>
          </a:bodyPr>
          <a:lstStyle/>
          <a:p>
            <a:pPr algn="ctr"/>
            <a:r>
              <a:rPr lang="en-US" sz="3200" b="1" dirty="0">
                <a:latin typeface="Aptos" panose="020B0004020202020204" pitchFamily="34" charset="0"/>
              </a:rPr>
              <a:t>Suggestion</a:t>
            </a:r>
            <a:endParaRPr lang="en-IN" sz="2400" dirty="0">
              <a:solidFill>
                <a:srgbClr val="080808"/>
              </a:solidFill>
              <a:latin typeface="Aptos" panose="020B00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1D0A2612-12AD-B2C2-3B52-6CCB780EB6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F020C7AE-87B0-0CD2-EA86-1CC4C3A1ED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C49B4175-1730-7F6E-AA30-EA245CD2C434}"/>
              </a:ext>
            </a:extLst>
          </p:cNvPr>
          <p:cNvSpPr>
            <a:spLocks noGrp="1"/>
          </p:cNvSpPr>
          <p:nvPr>
            <p:ph idx="1"/>
          </p:nvPr>
        </p:nvSpPr>
        <p:spPr>
          <a:xfrm>
            <a:off x="5042520" y="1044758"/>
            <a:ext cx="6562631" cy="5404099"/>
          </a:xfrm>
        </p:spPr>
        <p:txBody>
          <a:bodyPr anchor="t">
            <a:normAutofit fontScale="47500" lnSpcReduction="20000"/>
          </a:bodyPr>
          <a:lstStyle/>
          <a:p>
            <a:pPr>
              <a:buFont typeface="Wingdings" panose="05000000000000000000" pitchFamily="2" charset="2"/>
              <a:buChar char="q"/>
            </a:pPr>
            <a:r>
              <a:rPr lang="en-US" b="1" dirty="0"/>
              <a:t>Implement Cancellation Policy Adjustments</a:t>
            </a:r>
          </a:p>
          <a:p>
            <a:pPr marL="0" indent="0">
              <a:buNone/>
            </a:pPr>
            <a:r>
              <a:rPr lang="en-US" b="1" dirty="0"/>
              <a:t>Introduce tiered cancellation policies (e.g., non-refundable vs. flexible rates) to manage risk.</a:t>
            </a:r>
          </a:p>
          <a:p>
            <a:pPr marL="0" indent="0">
              <a:buNone/>
            </a:pPr>
            <a:r>
              <a:rPr lang="en-US" b="1" dirty="0"/>
              <a:t>Consider deposit requirements or penalty windows for peak periods.</a:t>
            </a:r>
          </a:p>
          <a:p>
            <a:pPr>
              <a:buFont typeface="Wingdings" panose="05000000000000000000" pitchFamily="2" charset="2"/>
              <a:buChar char="q"/>
            </a:pPr>
            <a:r>
              <a:rPr lang="en-US" b="1" dirty="0"/>
              <a:t>📞 Improve Customer Communication</a:t>
            </a:r>
          </a:p>
          <a:p>
            <a:pPr marL="0" indent="0">
              <a:buNone/>
            </a:pPr>
            <a:r>
              <a:rPr lang="en-US" b="1" dirty="0"/>
              <a:t>Many cancellations stem from lack of clarity or change of plans.</a:t>
            </a:r>
          </a:p>
          <a:p>
            <a:pPr marL="0" indent="0">
              <a:buNone/>
            </a:pPr>
            <a:r>
              <a:rPr lang="en-US" b="1" dirty="0"/>
              <a:t>Ensure automated reminders, cancellation policy visibility, and pre-stay incentives (e.g., discounts for confirmed stays).</a:t>
            </a:r>
          </a:p>
          <a:p>
            <a:pPr>
              <a:buFont typeface="Wingdings" panose="05000000000000000000" pitchFamily="2" charset="2"/>
              <a:buChar char="q"/>
            </a:pPr>
            <a:r>
              <a:rPr lang="en-US" b="1" dirty="0"/>
              <a:t>📉 Analyze High Volatility Weeks (22–25)</a:t>
            </a:r>
          </a:p>
          <a:p>
            <a:pPr marL="0" indent="0">
              <a:buNone/>
            </a:pPr>
            <a:r>
              <a:rPr lang="en-US" b="1" dirty="0"/>
              <a:t>Deep-dive into these weeks:</a:t>
            </a:r>
          </a:p>
          <a:p>
            <a:pPr marL="0" indent="0">
              <a:buNone/>
            </a:pPr>
            <a:r>
              <a:rPr lang="en-US" b="1" dirty="0"/>
              <a:t>Was there a pricing change, weather event, or travel restriction?</a:t>
            </a:r>
          </a:p>
          <a:p>
            <a:pPr marL="0" indent="0">
              <a:buNone/>
            </a:pPr>
            <a:r>
              <a:rPr lang="en-US" b="1" dirty="0"/>
              <a:t>Use learnings to anticipate and mitigate future spikes.</a:t>
            </a:r>
          </a:p>
          <a:p>
            <a:pPr>
              <a:buFont typeface="Wingdings" panose="05000000000000000000" pitchFamily="2" charset="2"/>
              <a:buChar char="q"/>
            </a:pPr>
            <a:r>
              <a:rPr lang="en-US" b="1" dirty="0"/>
              <a:t>🎯 Targeted Interventions in High-Risk Periods</a:t>
            </a:r>
          </a:p>
          <a:p>
            <a:pPr marL="0" indent="0">
              <a:buNone/>
            </a:pPr>
            <a:r>
              <a:rPr lang="en-US" b="1" dirty="0"/>
              <a:t>Run confirmation campaigns 2–3 days before check-in, especially for bookings made far in advance.</a:t>
            </a:r>
          </a:p>
          <a:p>
            <a:pPr marL="0" indent="0">
              <a:buNone/>
            </a:pPr>
            <a:r>
              <a:rPr lang="en-US" b="1" dirty="0"/>
              <a:t>Consider retargeting canceled users with offers for future stays.</a:t>
            </a:r>
          </a:p>
          <a:p>
            <a:pPr marL="0" indent="0">
              <a:buNone/>
            </a:pPr>
            <a:r>
              <a:rPr lang="en-US" b="1" dirty="0"/>
              <a:t>📅 Monitor A/B Tests for July Improvements</a:t>
            </a:r>
          </a:p>
          <a:p>
            <a:pPr marL="0" indent="0">
              <a:buNone/>
            </a:pPr>
            <a:r>
              <a:rPr lang="en-US" b="1" dirty="0"/>
              <a:t>July showed a dip in cancellations. Understand:</a:t>
            </a:r>
          </a:p>
          <a:p>
            <a:pPr marL="0" indent="0">
              <a:buNone/>
            </a:pPr>
            <a:r>
              <a:rPr lang="en-US" b="1" dirty="0"/>
              <a:t>Were there policy changes?</a:t>
            </a:r>
          </a:p>
          <a:p>
            <a:pPr marL="0" indent="0">
              <a:buNone/>
            </a:pPr>
            <a:r>
              <a:rPr lang="en-US" b="1" dirty="0"/>
              <a:t>Were new booking incentives launched?</a:t>
            </a:r>
          </a:p>
          <a:p>
            <a:pPr marL="0" indent="0">
              <a:buNone/>
            </a:pPr>
            <a:r>
              <a:rPr lang="en-US" b="1" dirty="0"/>
              <a:t>Scale what worked in July across other months.</a:t>
            </a:r>
            <a:endParaRPr lang="en-US" sz="1800" dirty="0"/>
          </a:p>
        </p:txBody>
      </p:sp>
      <p:sp>
        <p:nvSpPr>
          <p:cNvPr id="4" name="TextBox 3">
            <a:extLst>
              <a:ext uri="{FF2B5EF4-FFF2-40B4-BE49-F238E27FC236}">
                <a16:creationId xmlns:a16="http://schemas.microsoft.com/office/drawing/2014/main" id="{C5F00BBF-E016-62D5-344D-7BED49D96CA5}"/>
              </a:ext>
            </a:extLst>
          </p:cNvPr>
          <p:cNvSpPr txBox="1"/>
          <p:nvPr/>
        </p:nvSpPr>
        <p:spPr>
          <a:xfrm>
            <a:off x="1897626" y="68826"/>
            <a:ext cx="8318090" cy="523220"/>
          </a:xfrm>
          <a:prstGeom prst="rect">
            <a:avLst/>
          </a:prstGeom>
          <a:noFill/>
        </p:spPr>
        <p:txBody>
          <a:bodyPr wrap="square" rtlCol="0">
            <a:spAutoFit/>
          </a:bodyPr>
          <a:lstStyle/>
          <a:p>
            <a:pPr algn="ctr"/>
            <a:r>
              <a:rPr lang="en-IN" sz="2800" b="1" dirty="0"/>
              <a:t>Cancellations &amp; Lost Revenue Analysis</a:t>
            </a:r>
          </a:p>
        </p:txBody>
      </p:sp>
      <p:pic>
        <p:nvPicPr>
          <p:cNvPr id="5" name="Picture 4">
            <a:extLst>
              <a:ext uri="{FF2B5EF4-FFF2-40B4-BE49-F238E27FC236}">
                <a16:creationId xmlns:a16="http://schemas.microsoft.com/office/drawing/2014/main" id="{1F5357C3-AC4D-0529-1B4F-1E5C01B44132}"/>
              </a:ext>
            </a:extLst>
          </p:cNvPr>
          <p:cNvPicPr>
            <a:picLocks noChangeAspect="1"/>
          </p:cNvPicPr>
          <p:nvPr/>
        </p:nvPicPr>
        <p:blipFill>
          <a:blip r:embed="rId2"/>
          <a:stretch>
            <a:fillRect/>
          </a:stretch>
        </p:blipFill>
        <p:spPr>
          <a:xfrm>
            <a:off x="5477467" y="6051923"/>
            <a:ext cx="1430571" cy="1144457"/>
          </a:xfrm>
          <a:prstGeom prst="rect">
            <a:avLst/>
          </a:prstGeom>
        </p:spPr>
      </p:pic>
    </p:spTree>
    <p:extLst>
      <p:ext uri="{BB962C8B-B14F-4D97-AF65-F5344CB8AC3E}">
        <p14:creationId xmlns:p14="http://schemas.microsoft.com/office/powerpoint/2010/main" val="499884050"/>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7000" b="-7000"/>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AC6D1C0-4A5A-FE38-7BAF-C3AC4763594B}"/>
              </a:ext>
            </a:extLst>
          </p:cNvPr>
          <p:cNvSpPr txBox="1"/>
          <p:nvPr/>
        </p:nvSpPr>
        <p:spPr>
          <a:xfrm>
            <a:off x="4608367" y="3925669"/>
            <a:ext cx="3423805" cy="646331"/>
          </a:xfrm>
          <a:prstGeom prst="rect">
            <a:avLst/>
          </a:prstGeom>
          <a:noFill/>
        </p:spPr>
        <p:txBody>
          <a:bodyPr wrap="square" rtlCol="0">
            <a:spAutoFit/>
          </a:bodyPr>
          <a:lstStyle/>
          <a:p>
            <a:r>
              <a:rPr lang="en-US" dirty="0">
                <a:solidFill>
                  <a:schemeClr val="bg1"/>
                </a:solidFill>
              </a:rPr>
              <a:t>Presented by:  Shivani Awasthi</a:t>
            </a:r>
          </a:p>
          <a:p>
            <a:r>
              <a:rPr lang="en-US" dirty="0">
                <a:solidFill>
                  <a:schemeClr val="bg1"/>
                </a:solidFill>
              </a:rPr>
              <a:t>Mentored by:  Ayushi Jain</a:t>
            </a:r>
            <a:endParaRPr lang="en-IN" dirty="0">
              <a:solidFill>
                <a:schemeClr val="bg1"/>
              </a:solidFill>
            </a:endParaRPr>
          </a:p>
        </p:txBody>
      </p:sp>
      <p:pic>
        <p:nvPicPr>
          <p:cNvPr id="7" name="Picture 6">
            <a:extLst>
              <a:ext uri="{FF2B5EF4-FFF2-40B4-BE49-F238E27FC236}">
                <a16:creationId xmlns:a16="http://schemas.microsoft.com/office/drawing/2014/main" id="{D13674F6-B61B-6F4E-9282-96AA8040BE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08230" y="1205590"/>
            <a:ext cx="2504895" cy="1210171"/>
          </a:xfrm>
          <a:prstGeom prst="rect">
            <a:avLst/>
          </a:prstGeom>
        </p:spPr>
      </p:pic>
    </p:spTree>
    <p:extLst>
      <p:ext uri="{BB962C8B-B14F-4D97-AF65-F5344CB8AC3E}">
        <p14:creationId xmlns:p14="http://schemas.microsoft.com/office/powerpoint/2010/main" val="4281955734"/>
      </p:ext>
    </p:extLst>
  </p:cSld>
  <p:clrMapOvr>
    <a:masterClrMapping/>
  </p:clrMapOvr>
  <mc:AlternateContent xmlns:mc="http://schemas.openxmlformats.org/markup-compatibility/2006" xmlns:p14="http://schemas.microsoft.com/office/powerpoint/2010/main">
    <mc:Choice Requires="p14">
      <p:transition p14:dur="250" advClick="0" advTm="3000"/>
    </mc:Choice>
    <mc:Fallback xmlns="">
      <p:transition advClick="0" advTm="3000"/>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508</TotalTime>
  <Words>3594</Words>
  <Application>Microsoft Office PowerPoint</Application>
  <PresentationFormat>Widescreen</PresentationFormat>
  <Paragraphs>324</Paragraphs>
  <Slides>41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Aptos</vt:lpstr>
      <vt:lpstr>Arial</vt:lpstr>
      <vt:lpstr>Avenir Next LT Pro</vt:lpstr>
      <vt:lpstr>Calibri</vt:lpstr>
      <vt:lpstr>Calibri Light</vt:lpstr>
      <vt:lpstr>Wingdings</vt:lpstr>
      <vt:lpstr>Office Theme</vt:lpstr>
      <vt:lpstr>ITC Hotels Revenue Optimization</vt:lpstr>
      <vt:lpstr>Quick Overview:</vt:lpstr>
      <vt:lpstr>Table of Contents</vt:lpstr>
      <vt:lpstr>Objective: What is the total revenue generated by ITC Hotels, and how does it vary across different hotels and room categories? </vt:lpstr>
      <vt:lpstr>Objective: What is the cumulative revenue growth over time? </vt:lpstr>
      <vt:lpstr>Objective: How has the revenue grown month-over-month (MoM) and week-over-week (WoW)? </vt:lpstr>
      <vt:lpstr>Objective: How has the revenue grown month-over-month (MoM) and week-over-week (WoW)? </vt:lpstr>
      <vt:lpstr>Objective: What are the average daily rate (ADR) and revenue per available room (RevPAR)? </vt:lpstr>
      <vt:lpstr>Objective: What are the average daily rate (ADR) and revenue per available room (RevPAR)? </vt:lpstr>
      <vt:lpstr>PowerPoint Presentation</vt:lpstr>
      <vt:lpstr>Key insights </vt:lpstr>
      <vt:lpstr>Conclusions</vt:lpstr>
      <vt:lpstr>Suggestion</vt:lpstr>
      <vt:lpstr>Objective: What is the occupancy rate for each hotel and room category?</vt:lpstr>
      <vt:lpstr>Objective: How does occupancy fluctuate seasonally or over specific periods (e.g., weekends, holidays)?</vt:lpstr>
      <vt:lpstr>Objective: What is the  occupancy growth (MoM and WoW)?</vt:lpstr>
      <vt:lpstr>Objective: What is the  occupancy growth (MoM and WoW)?</vt:lpstr>
      <vt:lpstr>Objective: How does occupancy correlate with revenue and RevPAR?</vt:lpstr>
      <vt:lpstr>PowerPoint Presentation</vt:lpstr>
      <vt:lpstr>Key insights </vt:lpstr>
      <vt:lpstr>Conclusions</vt:lpstr>
      <vt:lpstr>Suggestion</vt:lpstr>
      <vt:lpstr>Objective: Which room categories generate the most revenue?</vt:lpstr>
      <vt:lpstr>Objective: How do booking patterns (lead time, check-in dates) affect revenue and occupancy?</vt:lpstr>
      <vt:lpstr>Objective: What is the average length of stay (ALOS) for each hotel and room type?</vt:lpstr>
      <vt:lpstr>Objective: What is the room revenue trend (including running total and MoM/WoW growth)?</vt:lpstr>
      <vt:lpstr>Objective: What is the room revenue trend (including running total and MoM/WoW growth)?</vt:lpstr>
      <vt:lpstr>PowerPoint Presentation</vt:lpstr>
      <vt:lpstr>Key insights </vt:lpstr>
      <vt:lpstr>Conclusions</vt:lpstr>
      <vt:lpstr>Suggestion</vt:lpstr>
      <vt:lpstr>Objective: What is the cancellation rate for each hotel and room category?</vt:lpstr>
      <vt:lpstr>Objective: How have cancellation trends changed over time (MoM/WoW)? </vt:lpstr>
      <vt:lpstr>Objective: How have cancellation trends changed over time (MoM/WoW)? </vt:lpstr>
      <vt:lpstr>Objective: What is the lost revenue due to cancellations? </vt:lpstr>
      <vt:lpstr>Objectives: Are there any patterns in cancellations (e.g., specific room types, time of year)?</vt:lpstr>
      <vt:lpstr>PowerPoint Presentation</vt:lpstr>
      <vt:lpstr>Key insights </vt:lpstr>
      <vt:lpstr>Conclusions</vt:lpstr>
      <vt:lpstr>Suggestion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Shivani Awasthi</dc:creator>
  <cp:lastModifiedBy>Shivani Awasthi</cp:lastModifiedBy>
  <cp:revision>45</cp:revision>
  <dcterms:created xsi:type="dcterms:W3CDTF">2025-09-24T15:42:56Z</dcterms:created>
  <dcterms:modified xsi:type="dcterms:W3CDTF">2025-10-19T05:42:16Z</dcterms:modified>
</cp:coreProperties>
</file>